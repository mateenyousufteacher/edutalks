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02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0D47A1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26C6D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SIMULATIONS SERIES  ·  POLITICAL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223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Political 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6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Laboratory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Democracy Through Interactive Virtual Simulations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943600" cy="1051560"/>
          </a:xfrm>
          <a:prstGeom prst="roundRect">
            <a:avLst>
              <a:gd name="adj" fmla="val 52174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pic>
        <p:nvPicPr>
          <p:cNvPr id="9" name="Image 0" descr="/home/claude/shots_opt/developer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39312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783080" y="3877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8308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School Education Department, Kashmir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PWA   ·   No Login   ·   10 Interactive Simulations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822960"/>
            <a:ext cx="3794760" cy="2723900"/>
          </a:xfrm>
          <a:prstGeom prst="roundRect">
            <a:avLst>
              <a:gd name="adj" fmla="val 302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64424" y="92354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8165592" y="923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8366760" y="92354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00_splas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54696" y="1115568"/>
            <a:ext cx="3721608" cy="23947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LABORATORY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App?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civic education platform where students don't just read about democracy — they run it, from elections to lawmaking.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903720" cy="868680"/>
          </a:xfrm>
          <a:prstGeom prst="roundRect">
            <a:avLst>
              <a:gd name="adj" fmla="val 10526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13432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134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44752" y="2240280"/>
            <a:ext cx="5824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Full Simulations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542032"/>
            <a:ext cx="5824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Democracy, elections, parliament, judiciary, federalism and more — each a genuine working model, not a slideshow.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903720" cy="868680"/>
          </a:xfrm>
          <a:prstGeom prst="roundRect">
            <a:avLst>
              <a:gd name="adj" fmla="val 10526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64992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649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44752" y="3291840"/>
            <a:ext cx="5824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Offline PWA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4752" y="3593592"/>
            <a:ext cx="5824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 native app and runs with zero internet connection, backend, or login.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6903720" cy="868680"/>
          </a:xfrm>
          <a:prstGeom prst="roundRect">
            <a:avLst>
              <a:gd name="adj" fmla="val 10526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16552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16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4343400"/>
            <a:ext cx="5824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4645152"/>
            <a:ext cx="5824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civic levels, badges and streaks turn constitutional literacy into an engaging habit.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6903720" cy="868680"/>
          </a:xfrm>
          <a:prstGeom prst="roundRect">
            <a:avLst>
              <a:gd name="adj" fmla="val 10526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468112"/>
            <a:ext cx="530352" cy="530352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68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44752" y="5394960"/>
            <a:ext cx="5824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References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5696712"/>
            <a:ext cx="5824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Constitution Handbook and illustrated Glossary support every simulation.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8120" y="2377440"/>
            <a:ext cx="3794760" cy="2723900"/>
          </a:xfrm>
          <a:prstGeom prst="roundRect">
            <a:avLst>
              <a:gd name="adj" fmla="val 302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64424" y="24780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8165592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366760" y="24780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9" name="Image 0" descr="/home/claude/shots_opt/01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54696" y="2670048"/>
            <a:ext cx="3721608" cy="239471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CLASSROOM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 — and the Design Language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consistent, premium civic-interface design system across every screen and simulation.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505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Classes VI–XII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291840" y="2450592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4505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Teachers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626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DIET Faculty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91840" y="2962656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9626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B.Ed. Colleges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747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Civics Clubs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291840" y="347472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34747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Smart Classrooms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9867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Competitive Exam Aspirants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0D47A1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343814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88352" y="2468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343814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Blue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67344" y="2468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26C6DA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343814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546336" y="2468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343814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Green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625328" y="24688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B300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43032" y="3438144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Amber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MOTIF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480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 on a deep-navy government-inspired backdrop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Rounded, icon-led components with soft gradients and shadows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Light &amp; Dark theme support, switchable anytime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5-tab structure across all 10 simulations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Laboratory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simple steps take a student from opening the app to a completed, quizzed, badge-earning simulation.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75488" cy="475488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1214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Install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2404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offline PWA — install it to a home screen or desktop for one-tap, no-internet access.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475488" cy="475488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35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077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Lab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8872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“Enter the Laboratory” from the animated title screen to reach the Home Dashboard.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475488" cy="475488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21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Simulation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or filter 10 simulation cards by progress — new, in-progress, or completed.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4507992"/>
            <a:ext cx="475488" cy="47548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07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480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the 5 Tabs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88720" y="4764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Overview → Simulate → Data &amp; Notes → Quiz → Summary at your own pace.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48640" y="5294376"/>
            <a:ext cx="475488" cy="47548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94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26694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Your Growth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88720" y="55504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XP, badges and civic levels — revisit Quiz Centre, Handbook or Glossary anytime.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903720" y="868680"/>
            <a:ext cx="4709160" cy="3309753"/>
          </a:xfrm>
          <a:prstGeom prst="roundRect">
            <a:avLst>
              <a:gd name="adj" fmla="val 2486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50024" y="96926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51192" y="96926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96926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9" name="Image 0" descr="/home/claude/shots_opt/01b_home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0296" y="1161288"/>
            <a:ext cx="4636008" cy="298056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SIMULATION, EXPLAINED ONCE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simulations share the same five-tab structure — learn it once, and you can navigate every module.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2423160"/>
          </a:xfrm>
          <a:prstGeom prst="roundRect">
            <a:avLst>
              <a:gd name="adj" fmla="val 3396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50000"/>
              </a:srgbClr>
            </a:outerShdw>
          </a:effectLst>
        </p:spPr>
      </p:sp>
      <p:pic>
        <p:nvPicPr>
          <p:cNvPr id="6" name="Image 0" descr="/home/claude/shots_opt/banner_tab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1911096"/>
            <a:ext cx="10991088" cy="24058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720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4736592"/>
            <a:ext cx="457200" cy="457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285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554126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background concepts, constitutional principles, real-life relevance, misconceptions &amp; facts.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79776" y="45720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44368" y="4736592"/>
            <a:ext cx="457200" cy="457200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4" name="Text 11"/>
          <p:cNvSpPr/>
          <p:nvPr/>
        </p:nvSpPr>
        <p:spPr>
          <a:xfrm>
            <a:off x="2944368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16936" y="5285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916936" y="554126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core — sliders, decision panels, steppers, live charts and outcome analysis.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10912" y="45720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75504" y="4736592"/>
            <a:ext cx="457200" cy="45720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9" name="Text 16"/>
          <p:cNvSpPr/>
          <p:nvPr/>
        </p:nvSpPr>
        <p:spPr>
          <a:xfrm>
            <a:off x="5175504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48072" y="5285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Notes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148072" y="554126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export your own observations as you experiment with the simulation.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42048" y="45720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4736592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4" name="Text 21"/>
          <p:cNvSpPr/>
          <p:nvPr/>
        </p:nvSpPr>
        <p:spPr>
          <a:xfrm>
            <a:off x="740664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79208" y="5285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79208" y="554126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shuffled, instantly-graded mini quiz with explanations — scores are saved automatically.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473184" y="45720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37776" y="4736592"/>
            <a:ext cx="457200" cy="45720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9" name="Text 26"/>
          <p:cNvSpPr/>
          <p:nvPr/>
        </p:nvSpPr>
        <p:spPr>
          <a:xfrm>
            <a:off x="9637776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610344" y="52852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610344" y="5541264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wrap-up plus a one-tap “Mark Complete” to bank XP and progress toward badges.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01  ·  GOVERNANCE &amp; DEMOCRACY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Democracy Simulator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govern a virtual society — then watch democratic values shape its fate.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5 live sliders: participation, transparency, media freedom, awareness &amp; rule of law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stability, trust, development &amp; satisfaction update in real time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turn-by-turn and watch outcomes plotted on a live trend chart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“Authoritarian Preset” to compare governance styles directly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1_democracy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1_democracy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02  ·  ELECTIONS &amp; REPRESENTATION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Election Process Laboratory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complete election — voter registration all the way to result declaration.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registration rate and delimit constituencies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campaign strength across 3 competing parties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polling day and watch votes counted live, step by step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results on a seat chart and an interactive constituency map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2_election_d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2_election_b_simul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03  ·  LEGISLATURE &amp; LAW-MAKING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Parliament Simulator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a bill through committee, floor debate, amendment — and a final vote.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bill and state its objective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through committee review — consult experts or rush it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amendments that trade off quality vs. political support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live division decide whether the bill passes into law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3_parliament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3_parliament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04  ·  PUBLIC ADMINISTRATION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Decision Studio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ministries — health, education, infrastructure and disaster response.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fixed budget across four competing public sectors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quarters and watch welfare, delivery &amp; finances evolve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random crisis events — floods, outbreaks, transport failure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indicator on a live multi-line trend chart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4_executive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4_executive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05  ·  JUDICIARY &amp; RULE OF LAW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Judiciary Explorer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fictional case from filing to final judgment through the courts.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fictional dispute — property, workplace, or public nuisance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evidence to present and a hearing strategy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reasoned judgment based on case strength &amp; due process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 appeal and see whether a higher court upholds it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5_judiciary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5_judiciary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06  ·  CONSTITUTIONAL STUDIES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Constitution Interactive Studio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Preamble, Rights, Duties and federal design hands-on.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everyday situations to the Fundamental Right they involve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short constitutional decision-making dilemmas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Preamble, Rights, Duties &amp; Federal Structure by theme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 interactive timeline of constitutional milestones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6_constitution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6_constitution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07  ·  FEDERALISM &amp; MULTI-LEVEL GOVERNANCE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Federalism Laboratory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power and money between Union, State and Local governments.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6 public functions to Union, State, Local, or Shared tiers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Cooperative and Competitive federalism styles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efficiency, responsiveness, equity &amp; coordination scores shift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which tier is genuinely best suited to which function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7_federalism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7_federalism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08  ·  LOCAL SELF-GOVERNMENT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Government Simulator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Gram Panchayat, Municipal Council or Corporation on a real budget.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local body type and its budget scale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roads, water, waste, schools &amp; health centres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public-participation lever that lifts revenue &amp; satisfaction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terms and track local indicators over time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8_local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8_local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09  ·  PUBLIC POLICY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Policy &amp; Citizen Participation Lab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community problem into a funded, monitored public policy.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real community issue — water, traffic, schools, parks, energy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 from 4 simulated stakeholder groups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policy options on a cost-vs-impact table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your choice and monitor outcomes month by month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09_policy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09_policy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10  ·  LEGISLATURE &amp; LAW-MAKING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Law-Making Process Simulator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law from a real problem all the way to a floor vote.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806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problem and define clear legislative objectives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provisions and receive committee feedback on weaknesses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bill in light of that feedback before it's finalised</a:t>
            </a:r>
            <a:endParaRPr lang="en-US" sz="123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2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it for debate and a final vote — pass or redraft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720840" y="777240"/>
            <a:ext cx="4892040" cy="3426924"/>
          </a:xfrm>
          <a:prstGeom prst="roundRect">
            <a:avLst>
              <a:gd name="adj" fmla="val 2401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6714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706831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sim_10_lawmaking_b_simul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7416" y="1069848"/>
            <a:ext cx="4818888" cy="30977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17920" y="3035205"/>
            <a:ext cx="2514600" cy="1885417"/>
          </a:xfrm>
          <a:prstGeom prst="roundRect">
            <a:avLst>
              <a:gd name="adj" fmla="val 436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135789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3135789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3135789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sim_10_lawmaking_c_qui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54496" y="3327813"/>
            <a:ext cx="2441448" cy="15562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REFERENCE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Constitution Handbook &amp; Glossary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always-available references support every simulation — no need to leave the app to look something up.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 CONSTITUTION HANDBOOK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expandable sections: Preamble, Rights, Duties, Directive Principles, Federal Structure, Local Self-Government, Election Commission, Parliamentary System, Judiciary, Amendments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Simplified, school-appropriate explanations for every concept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section to expand — no scrolling through a wall of 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GLOSSARY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illustrated civic terms with pronunciation guides and topic tags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and browsable alphabetically from A–Z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links conceptually back to the simulations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777240"/>
            <a:ext cx="3246120" cy="2372388"/>
          </a:xfrm>
          <a:prstGeom prst="roundRect">
            <a:avLst>
              <a:gd name="adj" fmla="val 3469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3562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633679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02_constit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25896" y="1069848"/>
            <a:ext cx="3172968" cy="20432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549640" y="1234440"/>
            <a:ext cx="3246120" cy="2372388"/>
          </a:xfrm>
          <a:prstGeom prst="roundRect">
            <a:avLst>
              <a:gd name="adj" fmla="val 3469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95944" y="13350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8897112" y="1335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9098280" y="13350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03_glossa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86216" y="1527048"/>
            <a:ext cx="3172968" cy="20432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MASTERY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Centre &amp; Gamification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 feeds a shared system of XP, civic levels and badges that keeps students coming back.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QUIZ CENTRE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listing all 10 simulations and your best score on each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card to jump straight into that simulation's quiz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shuffle on every retake — MCQ, True/False &amp; Assertion–Reason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with a plain-language explanation for every answer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🏅  XP, LEVELS &amp; BADGES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91032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civic levels, from “Citizen-in-Training” to “Constitution Champion”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collectible badges — Civic Explorer, Sharp Shooter, Word Wise &amp; more</a:t>
            </a:r>
            <a:endParaRPr lang="en-US" sz="113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3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Daily-use streak counter to build a civic-learning habit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989320" y="777240"/>
            <a:ext cx="3246120" cy="2372388"/>
          </a:xfrm>
          <a:prstGeom prst="roundRect">
            <a:avLst>
              <a:gd name="adj" fmla="val 3469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35624" y="8778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6336792" y="877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8778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shots_opt/04_quizcent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25896" y="1069848"/>
            <a:ext cx="3172968" cy="20432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549640" y="1234440"/>
            <a:ext cx="3246120" cy="2372388"/>
          </a:xfrm>
          <a:prstGeom prst="roundRect">
            <a:avLst>
              <a:gd name="adj" fmla="val 3469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95944" y="13350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8897112" y="1335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9098280" y="13350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/home/claude/shots_opt/05_achieveme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86216" y="1527048"/>
            <a:ext cx="3172968" cy="20432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Settings, Offline Mode &amp; Privacy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and saves entirely on the student's own device — nothing is sent anywhere.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31720"/>
            <a:ext cx="502920" cy="50292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Offline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282696"/>
            <a:ext cx="3118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Progressive Web App with a service worker — installs once, works forever without internet.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331720"/>
            <a:ext cx="502920" cy="50292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Login, No Cloud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3282696"/>
            <a:ext cx="3118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XP, notes, quiz scores and settings are saved with local browser storage only.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01584" y="21488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331720"/>
            <a:ext cx="502920" cy="50292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97180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&amp; Dark Themes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2752" y="3282696"/>
            <a:ext cx="3118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instantly to match classroom lighting or personal preference.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97680"/>
            <a:ext cx="502920" cy="50292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9377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Mode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5248656"/>
            <a:ext cx="3118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facilitator notes and answer-key context for classroom use.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325112" y="4114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297680"/>
            <a:ext cx="502920" cy="50292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Notes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26280" y="5248656"/>
            <a:ext cx="3118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 saved observation notes as a plain text file anytime.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8101584" y="4114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752" y="4297680"/>
            <a:ext cx="502920" cy="50292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32" name="Text 30"/>
          <p:cNvSpPr/>
          <p:nvPr/>
        </p:nvSpPr>
        <p:spPr>
          <a:xfrm>
            <a:off x="8302752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02752" y="4937760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by Design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02752" y="5248656"/>
            <a:ext cx="3118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Reduce-motion setting, high-contrast palette, and responsive layouts for all screen sizes.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Pedagogical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traces back to a specific learning principle — not novelty for its own sake.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50008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7685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Inquiry-Based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276856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form a hypothesis, adjust variables, and observe real consequences — instead of memorising a fact.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47288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47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7413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Competency-Based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3374136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targets a specific civic competency: evidence-based reasoning, negotiation, or ethical decision-making.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44568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44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7141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 2020 Alignment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4471416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Experiential, activity-based learning replaces rote instruction, matching the National Education Policy's core direction.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568696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Citizenship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5568696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simulating consequences, students build the judgement to participate constructively in real civic life.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D47A1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DEVELOPER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School Education Department, Kashmir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experience democracy and governance rather than just read about them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constitutional literacy, critical thinking and responsible citizenship through hands-on simulation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genuinely production-ready, offline-first tool usable in any classroom, connected or not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DESIGN PRINCIPLES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Inquiry-based, competency-based learning aligned with NEP 2020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a genuine simulation — never a static slideshow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offline, installable, and accessible on low-end devices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1005840"/>
            <a:ext cx="3840480" cy="4480560"/>
          </a:xfrm>
          <a:prstGeom prst="roundRect">
            <a:avLst>
              <a:gd name="adj" fmla="val 4286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pic>
        <p:nvPicPr>
          <p:cNvPr id="11" name="Image 0" descr="/home/claude/shots_opt/developer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37160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1812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18120" y="3566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School Education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Kashmir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12480" y="4251960"/>
            <a:ext cx="2651760" cy="0"/>
          </a:xfrm>
          <a:prstGeom prst="line">
            <a:avLst/>
          </a:prstGeom>
          <a:noFill/>
          <a:ln w="12700">
            <a:solidFill>
              <a:srgbClr val="2C3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434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“Building constitutional literacy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simulation at a time.”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Simulations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civic curriculum in one offline laboratory.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3020" y="2350008"/>
            <a:ext cx="548640" cy="54864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276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3017520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Democracy Simulator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816352" y="21488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6452" y="2350008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6452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16352" y="2276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017520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Election Process Laboratory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129784" y="21488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9884" y="2350008"/>
            <a:ext cx="548640" cy="548640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7" name="Text 15"/>
          <p:cNvSpPr/>
          <p:nvPr/>
        </p:nvSpPr>
        <p:spPr>
          <a:xfrm>
            <a:off x="5929884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9784" y="2276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9512" y="3017520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Parliament Simulator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443216" y="21488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3316" y="235000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8243316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43216" y="2276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52944" y="3017520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Decision Studio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9756648" y="2148840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56748" y="2350008"/>
            <a:ext cx="548640" cy="54864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27" name="Text 25"/>
          <p:cNvSpPr/>
          <p:nvPr/>
        </p:nvSpPr>
        <p:spPr>
          <a:xfrm>
            <a:off x="10556748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56648" y="2276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66376" y="3017520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Judiciary Explorer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02920" y="4279392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4480560"/>
            <a:ext cx="548640" cy="54864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2" name="Text 30"/>
          <p:cNvSpPr/>
          <p:nvPr/>
        </p:nvSpPr>
        <p:spPr>
          <a:xfrm>
            <a:off x="130302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" y="5148072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Constitution Interactive Studio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2816352" y="4279392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6452" y="4480560"/>
            <a:ext cx="548640" cy="5486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7" name="Text 35"/>
          <p:cNvSpPr/>
          <p:nvPr/>
        </p:nvSpPr>
        <p:spPr>
          <a:xfrm>
            <a:off x="3616452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816352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5148072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Federalism Laboratory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129784" y="4279392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29884" y="4480560"/>
            <a:ext cx="548640" cy="548640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42" name="Text 40"/>
          <p:cNvSpPr/>
          <p:nvPr/>
        </p:nvSpPr>
        <p:spPr>
          <a:xfrm>
            <a:off x="5929884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29784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39512" y="5148072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Government Simulator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7443216" y="4279392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43316" y="4480560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8243316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43216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52944" y="5148072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Policy &amp; Citizen Participation Lab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9756648" y="4279392"/>
            <a:ext cx="2148840" cy="1965960"/>
          </a:xfrm>
          <a:prstGeom prst="roundRect">
            <a:avLst>
              <a:gd name="adj" fmla="val 4651"/>
            </a:avLst>
          </a:prstGeom>
          <a:solidFill>
            <a:srgbClr val="0F1B38"/>
          </a:solidFill>
          <a:ln w="12700">
            <a:solidFill>
              <a:srgbClr val="22356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56748" y="4480560"/>
            <a:ext cx="548640" cy="54864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52" name="Text 50"/>
          <p:cNvSpPr/>
          <p:nvPr/>
        </p:nvSpPr>
        <p:spPr>
          <a:xfrm>
            <a:off x="10556748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756648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866376" y="5148072"/>
            <a:ext cx="19293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Law-Making Process Simulator</a:t>
            </a:r>
            <a:endParaRPr lang="en-US" sz="1030" dirty="0"/>
          </a:p>
        </p:txBody>
      </p:sp>
      <p:sp>
        <p:nvSpPr>
          <p:cNvPr id="55" name="Text 53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26C6D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0D47A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Democracy is better understood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doing than by reading.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simulations. Zero internet required. Explore the full laboratory today.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434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Enter the Laboratory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Dr. Mateen Yousuf  ·  Teacher, School Education Department, Kashmir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75320" y="1051560"/>
            <a:ext cx="3337560" cy="2430973"/>
          </a:xfrm>
          <a:prstGeom prst="roundRect">
            <a:avLst>
              <a:gd name="adj" fmla="val 3385"/>
            </a:avLst>
          </a:prstGeom>
          <a:solidFill>
            <a:srgbClr val="0F1B38"/>
          </a:solidFill>
          <a:ln w="12700">
            <a:solidFill>
              <a:srgbClr val="2C3F6B"/>
            </a:solidFill>
            <a:prstDash val="solid"/>
          </a:ln>
          <a:effectLst>
            <a:outerShdw sx="100000" sy="100000" kx="0" ky="0" algn="bl" rotWithShape="0" blurRad="254000" dist="114300" dir="54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21624" y="115214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22792" y="11521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823960" y="115214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4" name="Image 0" descr="/home/claude/shots_opt/00_spl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11896" y="1344168"/>
            <a:ext cx="3264408" cy="210178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POLITICAL SCIENCE LABORATORY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817352" y="65471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2026-08-08T01:03:42Z</dcterms:created>
  <dcterms:modified xsi:type="dcterms:W3CDTF">2026-08-08T01:03:42Z</dcterms:modified>
</cp:coreProperties>
</file>