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3840480" cy="3840480"/>
          </a:xfrm>
          <a:prstGeom prst="ellipse">
            <a:avLst/>
          </a:prstGeom>
          <a:ln w="19050">
            <a:solidFill>
              <a:srgbClr val="1D4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737360"/>
            <a:ext cx="2560320" cy="2560320"/>
          </a:xfrm>
          <a:prstGeom prst="ellipse">
            <a:avLst/>
          </a:prstGeom>
          <a:ln w="19050">
            <a:solidFill>
              <a:srgbClr val="1D4A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ln w="15240">
            <a:solidFill>
              <a:srgbClr val="1D4A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85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  OFFLINE PWA  ·  10 INTERACTIVE SIMULATIONS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Chemistry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Chemistry Through Interactive Experiments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1305E"/>
          </a:solidFill>
          <a:ln w="12700">
            <a:solidFill>
              <a:srgbClr val="1D4A8F"/>
            </a:solidFill>
            <a:prstDash val="solid"/>
          </a:ln>
        </p:spPr>
      </p:sp>
      <p:pic>
        <p:nvPicPr>
          <p:cNvPr id="9" name="Image 0" descr="/home/claude/vcl/assets/developer-phot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03320"/>
            <a:ext cx="685800" cy="68580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3675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737360" y="38770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Mateen Yousuf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37360" y="41879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Teacher, School Education Department, Kashmir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Overview &amp; User Guide</a:t>
            </a:r>
            <a:endParaRPr lang="en-US" sz="1200" dirty="0"/>
          </a:p>
        </p:txBody>
      </p:sp>
      <p:pic>
        <p:nvPicPr>
          <p:cNvPr id="14" name="Image 1" descr="/home/claude/shots_framed/01-splas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9166"/>
            <a:ext cx="5074920" cy="327966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Virtual Chemistry Laboratory?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offline, installable Progressive Web App that turns any classroom, smart board or home device into a working chemistry laboratory. Students don't watch chemistry happen — they run it themselves: build atoms, mix reagents, balance equations and grow understanding through repeated, safe experimentation.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36499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3504" y="39136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simulations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324612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336499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66544" y="39136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after first load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324612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336499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9584" y="39136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table elements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7760" y="324612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36499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92624" y="39136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anywhere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HTML5, CSS3 and vanilla JavaScript — no frameworks, no backend, no internet connection required. Every experiment, quiz and reference tool runs entirely in the browser and is installable to a home screen or desktop like a native app.</a:t>
            </a:r>
            <a:endParaRPr lang="en-US" sz="1250" dirty="0"/>
          </a:p>
        </p:txBody>
      </p:sp>
      <p:pic>
        <p:nvPicPr>
          <p:cNvPr id="18" name="Image 0" descr="/home/claude/shots_framed/02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00527"/>
            <a:ext cx="5349240" cy="345694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 Chemistry Classroom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4650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VI – XII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Curriculum-aligned experiments across school levels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0328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174650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&amp; DIET Faculty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32120" y="21031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demonstrations, no lab setup required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218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16382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B.Ed. Institutions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for inquiry-based teaching practice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0328" y="3218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316382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Clubs &amp; Exhibitions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532120" y="3520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repeatable, hands-on showcase experiments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7452360" cy="1417320"/>
          </a:xfrm>
          <a:prstGeom prst="roundRect">
            <a:avLst>
              <a:gd name="adj" fmla="val 7742"/>
            </a:avLst>
          </a:prstGeom>
          <a:solidFill>
            <a:srgbClr val="0D47A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46320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not a video or animation viewer. Every experiment is fully interactive and responds instantly to student input — designed to be discovered, not memorised.”</a:t>
            </a:r>
            <a:endParaRPr lang="en-US" sz="1350" dirty="0"/>
          </a:p>
        </p:txBody>
      </p:sp>
      <p:pic>
        <p:nvPicPr>
          <p:cNvPr id="26" name="Image 0" descr="/home/claude/pptx_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645920"/>
            <a:ext cx="2651760" cy="2651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12480" y="44348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NEP 2020, competency-based and inquiry-based learning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Real Lab Offers — Without the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pic>
        <p:nvPicPr>
          <p:cNvPr id="5" name="Image 0" descr="/home/claude/pptx_icons/off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830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96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PWA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to any device; works with zero internet after first load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6120" y="1600200"/>
            <a:ext cx="2468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pic>
        <p:nvPicPr>
          <p:cNvPr id="9" name="Image 1" descr="/home/claude/pptx_icons/gamep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78308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496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Interactivity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429000" y="2880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Sliders, drag targets and live SVG animation in every experiment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2468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pic>
        <p:nvPicPr>
          <p:cNvPr id="13" name="Image 2" descr="/home/claude/pptx_icons/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78308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496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Learning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126480" y="2880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streaks, badges and achievements reward genuine exploration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8641080" y="1600200"/>
            <a:ext cx="2468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pic>
        <p:nvPicPr>
          <p:cNvPr id="17" name="Image 3" descr="/home/claude/pptx_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48" y="178308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23960" y="2496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823960" y="2880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observation tables, graphs and quiz explanations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2468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pic>
        <p:nvPicPr>
          <p:cNvPr id="21" name="Image 4" descr="/home/claude/pptx_icons/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069080"/>
            <a:ext cx="566928" cy="5669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" y="4782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Reference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31520" y="5166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periodic table, formula handbook and glossary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246120" y="3886200"/>
            <a:ext cx="2468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pic>
        <p:nvPicPr>
          <p:cNvPr id="25" name="Image 5" descr="/home/claude/pptx_icons/wor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4069080"/>
            <a:ext cx="566928" cy="56692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429000" y="4782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Teacher Modes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3429000" y="5166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data and hints unlock for classroom demonstrations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5943600" y="3886200"/>
            <a:ext cx="2468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pic>
        <p:nvPicPr>
          <p:cNvPr id="29" name="Image 6" descr="/home/claude/pptx_icons/glossa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069080"/>
            <a:ext cx="566928" cy="56692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126480" y="4782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Quizzes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6126480" y="5166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explained questions per simulation with instant scoring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8641080" y="3886200"/>
            <a:ext cx="2468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pic>
        <p:nvPicPr>
          <p:cNvPr id="33" name="Image 7" descr="/home/claude/pptx_icons/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2248" y="4069080"/>
            <a:ext cx="566928" cy="56692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823960" y="47823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8823960" y="5166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Per-simulation completion %, CSV export of observations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Premium, Consistent Visual Language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shares the same glassmorphism cards, rounded corners, soft shadows and scientific colour palette — deep navy, electric blue, cyan, emerald and amber — with full dark-theme support for low-light classrooms and smart boards.</a:t>
            </a:r>
            <a:endParaRPr lang="en-US" sz="1250" dirty="0"/>
          </a:p>
        </p:txBody>
      </p:sp>
      <p:pic>
        <p:nvPicPr>
          <p:cNvPr id="5" name="Image 0" descr="/home/claude/shots_framed/03-home-too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5486400" cy="354558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576757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— tools, reference &amp; achievements</a:t>
            </a:r>
            <a:endParaRPr lang="en-US" sz="1000" dirty="0"/>
          </a:p>
        </p:txBody>
      </p:sp>
      <p:pic>
        <p:nvPicPr>
          <p:cNvPr id="7" name="Image 1" descr="/home/claude/shots_framed/home-d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48840"/>
            <a:ext cx="5486400" cy="354558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263640" y="576757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— same layout, smart-board friendly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— 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Splash Screen to First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D47A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4440" y="19019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from a browser or an installed home-screen icon — no login, no internet needed.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976D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Laboratory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34440" y="2834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animated splash screen introduces the app and developer, then hands off to the dashboard.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D47A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4472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or Search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34440" y="37673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the 10 simulation cards, use the search bar, or jump back in via Continue Learning.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976D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37997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Simulation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470001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card to open its dedicated workspace with seven guided tabs.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D47A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53126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Freely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4440" y="56327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sliders, mix reagents and reactants — the stage responds instantly, every time.</a:t>
            </a:r>
            <a:endParaRPr lang="en-US" sz="1050" dirty="0"/>
          </a:p>
        </p:txBody>
      </p:sp>
      <p:pic>
        <p:nvPicPr>
          <p:cNvPr id="24" name="Image 0" descr="/home/claude/shots_framed/01-spl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865833"/>
            <a:ext cx="5120640" cy="330921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sp>
        <p:nvSpPr>
          <p:cNvPr id="25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— INSIDE EVERY SIMULATION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Tabs, One Consistent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10 simulations follows the exact same structure, so once a student learns one, they can navigate all ten confidently: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2356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301752" cy="301752"/>
          </a:xfrm>
          <a:prstGeom prst="roundRect">
            <a:avLst>
              <a:gd name="adj" fmla="val 48485"/>
            </a:avLst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993392"/>
            <a:ext cx="1417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993392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learning goals and a plain-language introduction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562356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33472"/>
            <a:ext cx="301752" cy="301752"/>
          </a:xfrm>
          <a:prstGeom prst="roundRect">
            <a:avLst>
              <a:gd name="adj" fmla="val 48485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3347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569464"/>
            <a:ext cx="1417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569464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behind the experiment, explained simply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562356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09544"/>
            <a:ext cx="301752" cy="301752"/>
          </a:xfrm>
          <a:prstGeom prst="roundRect">
            <a:avLst>
              <a:gd name="adj" fmla="val 48485"/>
            </a:avLst>
          </a:prstGeom>
          <a:solidFill>
            <a:srgbClr val="E3F2F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954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3145536"/>
            <a:ext cx="1417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145536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live, interactive stage — the heart of each simulation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562356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85616"/>
            <a:ext cx="301752" cy="301752"/>
          </a:xfrm>
          <a:prstGeom prst="roundRect">
            <a:avLst>
              <a:gd name="adj" fmla="val 48485"/>
            </a:avLst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856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721608"/>
            <a:ext cx="1417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3721608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relevance, from industry to everyday life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270248"/>
            <a:ext cx="562356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361688"/>
            <a:ext cx="301752" cy="301752"/>
          </a:xfrm>
          <a:prstGeom prst="roundRect">
            <a:avLst>
              <a:gd name="adj" fmla="val 48485"/>
            </a:avLst>
          </a:prstGeom>
          <a:solidFill>
            <a:srgbClr val="E3F2F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616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297680"/>
            <a:ext cx="1417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Facts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4297680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guidelines, common mistakes, fun facts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562356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937760"/>
            <a:ext cx="301752" cy="301752"/>
          </a:xfrm>
          <a:prstGeom prst="roundRect">
            <a:avLst>
              <a:gd name="adj" fmla="val 48485"/>
            </a:avLst>
          </a:prstGeom>
          <a:solidFill>
            <a:srgbClr val="E3F2F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9377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8992" y="4873752"/>
            <a:ext cx="1417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14600" y="4873752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explained questions with instant, honest feedback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422392"/>
            <a:ext cx="5623560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513832"/>
            <a:ext cx="301752" cy="301752"/>
          </a:xfrm>
          <a:prstGeom prst="roundRect">
            <a:avLst>
              <a:gd name="adj" fmla="val 48485"/>
            </a:avLst>
          </a:prstGeom>
          <a:solidFill>
            <a:srgbClr val="E3F2FD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51383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8992" y="5449824"/>
            <a:ext cx="1417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14600" y="5449824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wrap-up plus one-tap 'mark complete' for progress tracking</a:t>
            </a:r>
            <a:endParaRPr lang="en-US" sz="950" dirty="0"/>
          </a:p>
        </p:txBody>
      </p:sp>
      <p:pic>
        <p:nvPicPr>
          <p:cNvPr id="40" name="Image 0" descr="/home/claude/shots_framed/theory-phl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417320"/>
            <a:ext cx="5349240" cy="214330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41" name="Image 1" descr="/home/claude/shots_framed/quiz-phla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3725219"/>
            <a:ext cx="5349240" cy="214330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sp>
        <p:nvSpPr>
          <p:cNvPr id="42" name="Text 3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— FINDING YOUR 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Navigation, Always Within Reach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46304" cy="146304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733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842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box, dark/light toggle and one-tap install button on every screen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146304" cy="146304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420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Continue Learning, all 10 simulations, tools and achievements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146304" cy="146304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107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(bottom nav)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7216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straight to the full 118-element reference 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46304" cy="14630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793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Favourites (bottom nav)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590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any simulation to pin it here for quick access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146304" cy="146304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480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(bottom nav)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4589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page with vision, credentials and pedagogy notes</a:t>
            </a:r>
            <a:endParaRPr lang="en-US" sz="1000" dirty="0"/>
          </a:p>
        </p:txBody>
      </p:sp>
      <p:pic>
        <p:nvPicPr>
          <p:cNvPr id="19" name="Image 0" descr="/home/claude/shots_framed/02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793367"/>
            <a:ext cx="5486400" cy="354558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ln w="19050">
            <a:solidFill>
              <a:srgbClr val="1D4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ln w="19050">
            <a:solidFill>
              <a:srgbClr val="1D4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331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 Premium Simulations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every experiment — what students do, and what they learn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atom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ato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618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01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Structure Explorer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5486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any atom from scratch, one particle at a time, and watch stability, isotopes and ions appear instantly.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48640" y="3017520"/>
            <a:ext cx="100584" cy="100584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8" name="Text 4"/>
          <p:cNvSpPr/>
          <p:nvPr/>
        </p:nvSpPr>
        <p:spPr>
          <a:xfrm>
            <a:off x="8046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protons, neutrons &amp; electrons with live sliders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730752"/>
            <a:ext cx="100584" cy="100584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0" name="Text 6"/>
          <p:cNvSpPr/>
          <p:nvPr/>
        </p:nvSpPr>
        <p:spPr>
          <a:xfrm>
            <a:off x="8046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Bohr shell diagram with animated electrons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443984"/>
            <a:ext cx="100584" cy="100584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element identification, isotope &amp; ion detection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157216"/>
            <a:ext cx="100584" cy="100584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4" name="Text 10"/>
          <p:cNvSpPr/>
          <p:nvPr/>
        </p:nvSpPr>
        <p:spPr>
          <a:xfrm>
            <a:off x="8046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presets: Carbon-12 / Carbon-14, Na⁺, Cl⁻, Helium, Oxygen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period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period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340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02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67208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Periodic Table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7208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118 elements, live and clickable, with search, category filters and a side-by-side comparison mode.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720840" y="3017520"/>
            <a:ext cx="100584" cy="100584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8" name="Text 4"/>
          <p:cNvSpPr/>
          <p:nvPr/>
        </p:nvSpPr>
        <p:spPr>
          <a:xfrm>
            <a:off x="69768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periodic grid, colour-coded by element category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20840" y="3730752"/>
            <a:ext cx="100584" cy="100584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0" name="Text 6"/>
          <p:cNvSpPr/>
          <p:nvPr/>
        </p:nvSpPr>
        <p:spPr>
          <a:xfrm>
            <a:off x="69768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symbol, or filter by family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20840" y="4443984"/>
            <a:ext cx="100584" cy="100584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2" name="Text 8"/>
          <p:cNvSpPr/>
          <p:nvPr/>
        </p:nvSpPr>
        <p:spPr>
          <a:xfrm>
            <a:off x="69768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tile for mass, period, group &amp; shell data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720840" y="5157216"/>
            <a:ext cx="100584" cy="100584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14" name="Text 10"/>
          <p:cNvSpPr/>
          <p:nvPr/>
        </p:nvSpPr>
        <p:spPr>
          <a:xfrm>
            <a:off x="69768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mode: select two elements to contrast directly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bon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bo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618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03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Bonding Laboratory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5486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two atoms and watch electrons transfer or share in real time to reveal the bond that forms.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48640" y="3017520"/>
            <a:ext cx="100584" cy="100584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8" name="Text 4"/>
          <p:cNvSpPr/>
          <p:nvPr/>
        </p:nvSpPr>
        <p:spPr>
          <a:xfrm>
            <a:off x="8046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13 common metal &amp; non-metal atoms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730752"/>
            <a:ext cx="100584" cy="100584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0" name="Text 6"/>
          <p:cNvSpPr/>
          <p:nvPr/>
        </p:nvSpPr>
        <p:spPr>
          <a:xfrm>
            <a:off x="8046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electron-transfer animation for ionic bonds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443984"/>
            <a:ext cx="100584" cy="100584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electron-pair animation for covalent bonds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157216"/>
            <a:ext cx="100584" cy="100584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4" name="Text 10"/>
          <p:cNvSpPr/>
          <p:nvPr/>
        </p:nvSpPr>
        <p:spPr>
          <a:xfrm>
            <a:off x="8046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Delocalised "electron sea" view for metallic bonds &amp; alloys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phl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ph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340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04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67208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Acids, Bases &amp; pH Laboratory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7208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14 real solutions with three indicator types, then titrate acid into base and watch pH shift live.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720840" y="3017520"/>
            <a:ext cx="100584" cy="1005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8" name="Text 4"/>
          <p:cNvSpPr/>
          <p:nvPr/>
        </p:nvSpPr>
        <p:spPr>
          <a:xfrm>
            <a:off x="69768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indicator, litmus paper &amp; digital pH meter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20840" y="3730752"/>
            <a:ext cx="100584" cy="1005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Text 6"/>
          <p:cNvSpPr/>
          <p:nvPr/>
        </p:nvSpPr>
        <p:spPr>
          <a:xfrm>
            <a:off x="69768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preloaded household and laboratory solutions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20840" y="4443984"/>
            <a:ext cx="100584" cy="1005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2" name="Text 8"/>
          <p:cNvSpPr/>
          <p:nvPr/>
        </p:nvSpPr>
        <p:spPr>
          <a:xfrm>
            <a:off x="69768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titration sliders with a live pH-vs-volume graph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720840" y="5157216"/>
            <a:ext cx="100584" cy="100584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4" name="Text 10"/>
          <p:cNvSpPr/>
          <p:nvPr/>
        </p:nvSpPr>
        <p:spPr>
          <a:xfrm>
            <a:off x="69768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strongly/weakly acidic, neutral or basic classification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reac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rea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618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05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Reactions Laboratory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5486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reaction type and reactant pair, then watch the visual evidence unfold in the beaker.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48640" y="3017520"/>
            <a:ext cx="100584" cy="100584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8" name="Text 4"/>
          <p:cNvSpPr/>
          <p:nvPr/>
        </p:nvSpPr>
        <p:spPr>
          <a:xfrm>
            <a:off x="8046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reaction types: combination through to combustion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730752"/>
            <a:ext cx="100584" cy="100584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10" name="Text 6"/>
          <p:cNvSpPr/>
          <p:nvPr/>
        </p:nvSpPr>
        <p:spPr>
          <a:xfrm>
            <a:off x="8046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reactant pairs modelled per type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443984"/>
            <a:ext cx="100584" cy="100584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evidence: gas bubbles, flame, precipitate, colour fade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157216"/>
            <a:ext cx="100584" cy="100584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14" name="Text 10"/>
          <p:cNvSpPr/>
          <p:nvPr/>
        </p:nvSpPr>
        <p:spPr>
          <a:xfrm>
            <a:off x="8046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chemical equations displayed live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balanc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balanc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340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06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67208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Equations Studio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7208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coefficients until every atom count matches — with instant validation and three difficulty tiers.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720840" y="3017520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8" name="Text 4"/>
          <p:cNvSpPr/>
          <p:nvPr/>
        </p:nvSpPr>
        <p:spPr>
          <a:xfrm>
            <a:off x="69768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Medium &amp; Hard auto-generated problem sets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20840" y="3730752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6"/>
          <p:cNvSpPr/>
          <p:nvPr/>
        </p:nvSpPr>
        <p:spPr>
          <a:xfrm>
            <a:off x="69768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per-element atom-count comparison table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20840" y="4443984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2" name="Text 8"/>
          <p:cNvSpPr/>
          <p:nvPr/>
        </p:nvSpPr>
        <p:spPr>
          <a:xfrm>
            <a:off x="69768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"balanced ✓ / not yet ✗" validation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720840" y="5157216"/>
            <a:ext cx="100584" cy="100584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0"/>
          <p:cNvSpPr/>
          <p:nvPr/>
        </p:nvSpPr>
        <p:spPr>
          <a:xfrm>
            <a:off x="69768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equation-balancing strategy hints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met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met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618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07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Metals &amp; Non-Metals Laboratory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5486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seven virtual tests on nine real samples to build a property profile and rank reactivity.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48640" y="3017520"/>
            <a:ext cx="100584" cy="100584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8" name="Text 4"/>
          <p:cNvSpPr/>
          <p:nvPr/>
        </p:nvSpPr>
        <p:spPr>
          <a:xfrm>
            <a:off x="8046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Hammer, wire-draw, conductivity &amp; heat tests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730752"/>
            <a:ext cx="100584" cy="100584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0" name="Text 6"/>
          <p:cNvSpPr/>
          <p:nvPr/>
        </p:nvSpPr>
        <p:spPr>
          <a:xfrm>
            <a:off x="8046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with water, dilute acid, and flame test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443984"/>
            <a:ext cx="100584" cy="100584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property bars: reactivity, conductivity, lustre, malleability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157216"/>
            <a:ext cx="100584" cy="100584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4" name="Text 10"/>
          <p:cNvSpPr/>
          <p:nvPr/>
        </p:nvSpPr>
        <p:spPr>
          <a:xfrm>
            <a:off x="8046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true metals against non-metals like sulfur &amp; graphite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separ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sepa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340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08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67208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Mixtures Laboratory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7208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mixture, choose your technique, and see whether it actually works — with a clear explanation either way.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720840" y="3017520"/>
            <a:ext cx="100584" cy="10058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8" name="Text 4"/>
          <p:cNvSpPr/>
          <p:nvPr/>
        </p:nvSpPr>
        <p:spPr>
          <a:xfrm>
            <a:off x="69768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mixtures: sand-water, ink, muddy water, iodine and more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20840" y="3730752"/>
            <a:ext cx="100584" cy="10058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0" name="Text 6"/>
          <p:cNvSpPr/>
          <p:nvPr/>
        </p:nvSpPr>
        <p:spPr>
          <a:xfrm>
            <a:off x="69768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techniques: filtration, evaporation, distillation, chromatography…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20840" y="4443984"/>
            <a:ext cx="100584" cy="10058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2" name="Text 8"/>
          <p:cNvSpPr/>
          <p:nvPr/>
        </p:nvSpPr>
        <p:spPr>
          <a:xfrm>
            <a:off x="69768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apparatus matched to the chosen technique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720840" y="5157216"/>
            <a:ext cx="100584" cy="10058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4" name="Text 10"/>
          <p:cNvSpPr/>
          <p:nvPr/>
        </p:nvSpPr>
        <p:spPr>
          <a:xfrm>
            <a:off x="69768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correct / incorrect feedback with the reasoning behind it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electrolys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electro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618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09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Electrolysis Laboratory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5486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voltage and concentration and watch ions race to their electrodes in water, copper sulfate or molten salt.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48640" y="3017520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8" name="Text 4"/>
          <p:cNvSpPr/>
          <p:nvPr/>
        </p:nvSpPr>
        <p:spPr>
          <a:xfrm>
            <a:off x="8046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electrolytes: water, copper sulfate solution, molten NaCl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730752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0" name="Text 6"/>
          <p:cNvSpPr/>
          <p:nvPr/>
        </p:nvSpPr>
        <p:spPr>
          <a:xfrm>
            <a:off x="8046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voltage and electrolyte concentration sliders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443984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ion migration toward cathode &amp; anode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15721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4" name="Text 10"/>
          <p:cNvSpPr/>
          <p:nvPr/>
        </p:nvSpPr>
        <p:spPr>
          <a:xfrm>
            <a:off x="8046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cathode / anode product readout for each electrolyte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hots_framed/sim-carb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074"/>
            <a:ext cx="5943600" cy="38410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pic>
        <p:nvPicPr>
          <p:cNvPr id="3" name="Image 1" descr="/home/claude/pptx_icons/carb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64008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34072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10 / 10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6720840" y="1234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Compounds Explorer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720840" y="20574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hydrocarbons from methane to ethyne, then attach a functional group and watch the molecule transform.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720840" y="3017520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4"/>
          <p:cNvSpPr/>
          <p:nvPr/>
        </p:nvSpPr>
        <p:spPr>
          <a:xfrm>
            <a:off x="6976872" y="28986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carbon skeletons spanning single, double &amp; triple bonds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720840" y="3730752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6"/>
          <p:cNvSpPr/>
          <p:nvPr/>
        </p:nvSpPr>
        <p:spPr>
          <a:xfrm>
            <a:off x="6976872" y="361188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−OH (alcohol) or −COOH (carboxylic acid) groups live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20840" y="4443984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6976872" y="432511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structural formula and 2D diagram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720840" y="5157216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0"/>
          <p:cNvSpPr/>
          <p:nvPr/>
        </p:nvSpPr>
        <p:spPr>
          <a:xfrm>
            <a:off x="6976872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boiling-point trend feedback as chains grow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SIMULATIONS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Reference Library, Built 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standalone tools support every simulation — all offline, all searchable, and all just one tap from the home screen.</a:t>
            </a:r>
            <a:endParaRPr lang="en-US" sz="1250" dirty="0"/>
          </a:p>
        </p:txBody>
      </p:sp>
      <p:pic>
        <p:nvPicPr>
          <p:cNvPr id="5" name="Image 0" descr="/home/claude/shots_framed/tool-period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120640" cy="330921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530260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Table Reference — full 118-element grid with detail panel</a:t>
            </a:r>
            <a:endParaRPr lang="en-US" sz="1000" dirty="0"/>
          </a:p>
        </p:txBody>
      </p:sp>
      <p:pic>
        <p:nvPicPr>
          <p:cNvPr id="7" name="Image 1" descr="/home/claude/shots_framed/tool-handboo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20240"/>
            <a:ext cx="5120640" cy="330921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245">
                <a:alpha val="3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263640" y="530260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Handbook — equations, SI units, gas tests, safety symbols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5806440"/>
            <a:ext cx="10744200" cy="54864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included: a searchable illustrated Glossary of chemistry terms, and an About Developer page.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That Motivates, Data That Stays Private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B30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&amp; Levels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7706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for completing tabs, logging observations and scoring quizzes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8928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976D2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1688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61688" y="27706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unlockable badges — from First Reaction to Lab Master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0" y="16916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73568" y="18928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3A047"/>
          </a:solidFill>
          <a:ln/>
        </p:spPr>
      </p:sp>
      <p:sp>
        <p:nvSpPr>
          <p:cNvPr id="16" name="Text 14"/>
          <p:cNvSpPr/>
          <p:nvPr/>
        </p:nvSpPr>
        <p:spPr>
          <a:xfrm>
            <a:off x="7973568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73568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73568" y="27706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Visit-based streak counter encourages consistent practice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587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58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7365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any simulation to pin it to a personal shortlist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60520" y="36576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61688" y="38587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976D2"/>
          </a:solidFill>
          <a:ln/>
        </p:spPr>
      </p:sp>
      <p:sp>
        <p:nvSpPr>
          <p:cNvPr id="26" name="Text 24"/>
          <p:cNvSpPr/>
          <p:nvPr/>
        </p:nvSpPr>
        <p:spPr>
          <a:xfrm>
            <a:off x="4361688" y="3858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61688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Export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1688" y="47365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logged reading can be exported as a CSV file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0" y="365760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0D47A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73568" y="38587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3A047"/>
          </a:solidFill>
          <a:ln/>
        </p:spPr>
      </p:sp>
      <p:sp>
        <p:nvSpPr>
          <p:cNvPr id="31" name="Text 29"/>
          <p:cNvSpPr/>
          <p:nvPr/>
        </p:nvSpPr>
        <p:spPr>
          <a:xfrm>
            <a:off x="7973568" y="3858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973568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Storage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73568" y="47365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favourites and progress live only on the student's device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4572000" cy="4572000"/>
          </a:xfrm>
          <a:prstGeom prst="ellipse">
            <a:avLst/>
          </a:prstGeom>
          <a:ln w="19050">
            <a:solidFill>
              <a:srgbClr val="1D4A8F"/>
            </a:solidFill>
            <a:prstDash val="solid"/>
          </a:ln>
        </p:spPr>
      </p:sp>
      <p:pic>
        <p:nvPicPr>
          <p:cNvPr id="3" name="Image 0" descr="/home/claude/vcl/assets/developer-phot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331720" cy="2331720"/>
          </a:xfrm>
          <a:prstGeom prst="ellipse">
            <a:avLst/>
          </a:prstGeom>
          <a:effectLst>
            <a:outerShdw sx="100000" sy="100000" kx="0" ky="0" algn="bl" rotWithShape="0" blurRad="177800" dist="50800" dir="16200000">
              <a:srgbClr val="26C6DA">
                <a:alpha val="4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77240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41696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Mateen Yousuf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77240" y="46817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Teacher, School Education Department, Kashmir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31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for This Project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931920" y="2048256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4224528" y="196596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quality, hands-on science education accessible even without a fully equipped physical lab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931920" y="2916936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1" name="Text 8"/>
          <p:cNvSpPr/>
          <p:nvPr/>
        </p:nvSpPr>
        <p:spPr>
          <a:xfrm>
            <a:off x="4224528" y="28346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NEP 2020 through experiential, competency- and inquiry-based learning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31920" y="3785616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3" name="Text 10"/>
          <p:cNvSpPr/>
          <p:nvPr/>
        </p:nvSpPr>
        <p:spPr>
          <a:xfrm>
            <a:off x="4224528" y="37033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explore reactions too hazardous for a real classroom — safely, endlessly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931920" y="4654296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5" name="Text 12"/>
          <p:cNvSpPr/>
          <p:nvPr/>
        </p:nvSpPr>
        <p:spPr>
          <a:xfrm>
            <a:off x="4224528" y="45720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scientific temper through curiosity, observation and evidence-based reasoning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ln w="19050">
            <a:solidFill>
              <a:srgbClr val="1D4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ln w="19050">
            <a:solidFill>
              <a:srgbClr val="1D4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Enter the Laboratory?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simulations · full periodic table · zero internet required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41368" y="388620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4541368" y="38862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Laboratory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Chemistry Laboratory  ·  Dr. Mateen Yousuf  ·  School Education Department, Kashmir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2026-08-06T01:32:17Z</dcterms:created>
  <dcterms:modified xsi:type="dcterms:W3CDTF">2026-08-06T01:32:17Z</dcterms:modified>
</cp:coreProperties>
</file>