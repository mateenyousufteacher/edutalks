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image" Target="../media/image-29-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868680"/>
            <a:ext cx="7772400" cy="365760"/>
          </a:xfrm>
          <a:prstGeom prst="rect">
            <a:avLst/>
          </a:prstGeom>
          <a:noFill/>
          <a:ln/>
        </p:spPr>
        <p:txBody>
          <a:bodyPr wrap="square"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OFFLINE PROGRESSIVE WEB APP  ·  10 INTERACTIVE SIMULATIONS</a:t>
            </a:r>
            <a:endParaRPr lang="en-US" sz="1300" dirty="0"/>
          </a:p>
        </p:txBody>
      </p:sp>
      <p:sp>
        <p:nvSpPr>
          <p:cNvPr id="3" name="Text 1"/>
          <p:cNvSpPr/>
          <p:nvPr/>
        </p:nvSpPr>
        <p:spPr>
          <a:xfrm>
            <a:off x="594360" y="1234440"/>
            <a:ext cx="7589520" cy="2103120"/>
          </a:xfrm>
          <a:prstGeom prst="rect">
            <a:avLst/>
          </a:prstGeom>
          <a:noFill/>
          <a:ln/>
        </p:spPr>
        <p:txBody>
          <a:bodyPr wrap="square" lIns="0" tIns="0" rIns="0" bIns="0" rtlCol="0" anchor="ctr"/>
          <a:lstStyle/>
          <a:p>
            <a:pPr indent="0" marL="0">
              <a:lnSpc>
                <a:spcPct val="103000"/>
              </a:lnSpc>
              <a:buNone/>
            </a:pPr>
            <a:r>
              <a:rPr lang="en-US" sz="5000" b="1" dirty="0">
                <a:solidFill>
                  <a:srgbClr val="F7FAF9"/>
                </a:solidFill>
                <a:latin typeface="Calibri" pitchFamily="34" charset="0"/>
                <a:ea typeface="Calibri" pitchFamily="34" charset="-122"/>
                <a:cs typeface="Calibri" pitchFamily="34" charset="-120"/>
              </a:rPr>
              <a:t>Virtual Earth Science
</a:t>
            </a:r>
            <a:pPr indent="0" marL="0">
              <a:lnSpc>
                <a:spcPct val="103000"/>
              </a:lnSpc>
              <a:buNone/>
            </a:pPr>
            <a:r>
              <a:rPr lang="en-US" sz="5000" b="1" dirty="0">
                <a:solidFill>
                  <a:srgbClr val="43A047"/>
                </a:solidFill>
                <a:latin typeface="Calibri" pitchFamily="34" charset="0"/>
                <a:ea typeface="Calibri" pitchFamily="34" charset="-122"/>
                <a:cs typeface="Calibri" pitchFamily="34" charset="-120"/>
              </a:rPr>
              <a:t>Laboratory</a:t>
            </a:r>
            <a:endParaRPr lang="en-US" sz="5000" dirty="0"/>
          </a:p>
        </p:txBody>
      </p:sp>
      <p:sp>
        <p:nvSpPr>
          <p:cNvPr id="4" name="Text 2"/>
          <p:cNvSpPr/>
          <p:nvPr/>
        </p:nvSpPr>
        <p:spPr>
          <a:xfrm>
            <a:off x="621792" y="3246120"/>
            <a:ext cx="6949440" cy="822960"/>
          </a:xfrm>
          <a:prstGeom prst="rect">
            <a:avLst/>
          </a:prstGeom>
          <a:noFill/>
          <a:ln/>
        </p:spPr>
        <p:txBody>
          <a:bodyPr wrap="square" rtlCol="0" anchor="ctr"/>
          <a:lstStyle/>
          <a:p>
            <a:pPr indent="0" marL="0">
              <a:lnSpc>
                <a:spcPct val="125000"/>
              </a:lnSpc>
              <a:buNone/>
            </a:pPr>
            <a:r>
              <a:rPr lang="en-US" sz="1500" dirty="0">
                <a:solidFill>
                  <a:srgbClr val="A9BCB2"/>
                </a:solidFill>
                <a:latin typeface="Calibri" pitchFamily="34" charset="0"/>
                <a:ea typeface="Calibri" pitchFamily="34" charset="-122"/>
                <a:cs typeface="Calibri" pitchFamily="34" charset="-120"/>
              </a:rPr>
              <a:t>A presentation deck for teachers, students and curriculum reviewers — what the app is, how to use it, and a full walkthrough of all ten simulations.</a:t>
            </a:r>
            <a:endParaRPr lang="en-US" sz="1500" dirty="0"/>
          </a:p>
        </p:txBody>
      </p:sp>
      <p:sp>
        <p:nvSpPr>
          <p:cNvPr id="5" name="Shape 3"/>
          <p:cNvSpPr/>
          <p:nvPr/>
        </p:nvSpPr>
        <p:spPr>
          <a:xfrm>
            <a:off x="594360" y="4251960"/>
            <a:ext cx="5943600" cy="960120"/>
          </a:xfrm>
          <a:prstGeom prst="roundRect">
            <a:avLst>
              <a:gd name="adj" fmla="val 9524"/>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earth-lab/images/developer.jpg">    </p:cNvPr>
          <p:cNvPicPr>
            <a:picLocks noChangeAspect="1"/>
          </p:cNvPicPr>
          <p:nvPr/>
        </p:nvPicPr>
        <p:blipFill>
          <a:blip r:embed="rId2"/>
          <a:stretch>
            <a:fillRect/>
          </a:stretch>
        </p:blipFill>
        <p:spPr>
          <a:xfrm>
            <a:off x="777240" y="4416552"/>
            <a:ext cx="640080" cy="640080"/>
          </a:xfrm>
          <a:prstGeom prst="ellipse">
            <a:avLst/>
          </a:prstGeom>
        </p:spPr>
      </p:pic>
      <p:sp>
        <p:nvSpPr>
          <p:cNvPr id="7" name="Text 4"/>
          <p:cNvSpPr/>
          <p:nvPr/>
        </p:nvSpPr>
        <p:spPr>
          <a:xfrm>
            <a:off x="1600200" y="4389120"/>
            <a:ext cx="4754880" cy="685800"/>
          </a:xfrm>
          <a:prstGeom prst="rect">
            <a:avLst/>
          </a:prstGeom>
          <a:noFill/>
          <a:ln/>
        </p:spPr>
        <p:txBody>
          <a:bodyPr wrap="square" lIns="0" tIns="0" rIns="0" bIns="0" rtlCol="0" anchor="ctr"/>
          <a:lstStyle/>
          <a:p>
            <a:pPr indent="0" marL="0">
              <a:lnSpc>
                <a:spcPct val="115000"/>
              </a:lnSpc>
              <a:buNone/>
            </a:pPr>
            <a:r>
              <a:rPr lang="en-US" sz="1400" b="1" dirty="0">
                <a:solidFill>
                  <a:srgbClr val="F7FAF9"/>
                </a:solidFill>
                <a:latin typeface="Calibri" pitchFamily="34" charset="0"/>
                <a:ea typeface="Calibri" pitchFamily="34" charset="-122"/>
                <a:cs typeface="Calibri" pitchFamily="34" charset="-120"/>
              </a:rPr>
              <a:t>Developed by Dr. Mateen Yousuf
</a:t>
            </a:r>
            <a:pPr indent="0" marL="0">
              <a:lnSpc>
                <a:spcPct val="115000"/>
              </a:lnSpc>
              <a:buNone/>
            </a:pPr>
            <a:r>
              <a:rPr lang="en-US" sz="1150" dirty="0">
                <a:solidFill>
                  <a:srgbClr val="A9BCB2"/>
                </a:solidFill>
                <a:latin typeface="Calibri" pitchFamily="34" charset="0"/>
                <a:ea typeface="Calibri" pitchFamily="34" charset="-122"/>
                <a:cs typeface="Calibri" pitchFamily="34" charset="-120"/>
              </a:rPr>
              <a:t>Teacher, School Education Department, Kashmir</a:t>
            </a:r>
            <a:endParaRPr lang="en-US" sz="1400" dirty="0"/>
          </a:p>
        </p:txBody>
      </p:sp>
      <p:sp>
        <p:nvSpPr>
          <p:cNvPr id="8" name="Shape 5"/>
          <p:cNvSpPr/>
          <p:nvPr/>
        </p:nvSpPr>
        <p:spPr>
          <a:xfrm>
            <a:off x="7959852" y="873252"/>
            <a:ext cx="3739896" cy="2368296"/>
          </a:xfrm>
          <a:prstGeom prst="roundRect">
            <a:avLst>
              <a:gd name="adj" fmla="val 3475"/>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00-splash.png">    </p:cNvPr>
          <p:cNvPicPr>
            <a:picLocks noChangeAspect="1"/>
          </p:cNvPicPr>
          <p:nvPr/>
        </p:nvPicPr>
        <p:blipFill>
          <a:blip r:embed="rId3"/>
          <a:srcRect l="0" r="0" t="0" b="0"/>
          <a:stretch/>
        </p:blipFill>
        <p:spPr>
          <a:xfrm>
            <a:off x="8001000" y="914400"/>
            <a:ext cx="3657600" cy="2286000"/>
          </a:xfrm>
          <a:prstGeom prst="rect">
            <a:avLst/>
          </a:prstGeom>
        </p:spPr>
      </p:pic>
      <p:sp>
        <p:nvSpPr>
          <p:cNvPr id="10" name="Text 6"/>
          <p:cNvSpPr/>
          <p:nvPr/>
        </p:nvSpPr>
        <p:spPr>
          <a:xfrm>
            <a:off x="8001000" y="3273552"/>
            <a:ext cx="3657600" cy="274320"/>
          </a:xfrm>
          <a:prstGeom prst="rect">
            <a:avLst/>
          </a:prstGeom>
          <a:noFill/>
          <a:ln/>
        </p:spPr>
        <p:txBody>
          <a:bodyPr wrap="square" rtlCol="0" anchor="ctr"/>
          <a:lstStyle/>
          <a:p>
            <a:pPr algn="ctr" indent="0" marL="0">
              <a:buNone/>
            </a:pPr>
            <a:r>
              <a:rPr lang="en-US" sz="950" i="1" dirty="0">
                <a:solidFill>
                  <a:srgbClr val="75897F"/>
                </a:solidFill>
                <a:latin typeface="Calibri" pitchFamily="34" charset="0"/>
                <a:ea typeface="Calibri" pitchFamily="34" charset="-122"/>
                <a:cs typeface="Calibri" pitchFamily="34" charset="-120"/>
              </a:rPr>
              <a:t>The title / splash screen students see first</a:t>
            </a:r>
            <a:endParaRPr lang="en-US" sz="950" dirty="0"/>
          </a:p>
        </p:txBody>
      </p:sp>
      <p:sp>
        <p:nvSpPr>
          <p:cNvPr id="11" name="Shape 7"/>
          <p:cNvSpPr/>
          <p:nvPr/>
        </p:nvSpPr>
        <p:spPr>
          <a:xfrm>
            <a:off x="7959852" y="3753612"/>
            <a:ext cx="3739896" cy="2368296"/>
          </a:xfrm>
          <a:prstGeom prst="roundRect">
            <a:avLst>
              <a:gd name="adj" fmla="val 3475"/>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12" name="Image 2" descr="/home/claude/deck-assets/section-about.png">    </p:cNvPr>
          <p:cNvPicPr>
            <a:picLocks noChangeAspect="1"/>
          </p:cNvPicPr>
          <p:nvPr/>
        </p:nvPicPr>
        <p:blipFill>
          <a:blip r:embed="rId4"/>
          <a:srcRect l="0" r="0" t="0" b="0"/>
          <a:stretch/>
        </p:blipFill>
        <p:spPr>
          <a:xfrm>
            <a:off x="8001000" y="3794760"/>
            <a:ext cx="3657600" cy="2286000"/>
          </a:xfrm>
          <a:prstGeom prst="rect">
            <a:avLst/>
          </a:prstGeom>
        </p:spPr>
      </p:pic>
      <p:sp>
        <p:nvSpPr>
          <p:cNvPr id="13" name="Text 8"/>
          <p:cNvSpPr/>
          <p:nvPr/>
        </p:nvSpPr>
        <p:spPr>
          <a:xfrm>
            <a:off x="8001000" y="6153912"/>
            <a:ext cx="3657600" cy="274320"/>
          </a:xfrm>
          <a:prstGeom prst="rect">
            <a:avLst/>
          </a:prstGeom>
          <a:noFill/>
          <a:ln/>
        </p:spPr>
        <p:txBody>
          <a:bodyPr wrap="square" rtlCol="0" anchor="ctr"/>
          <a:lstStyle/>
          <a:p>
            <a:pPr algn="ctr" indent="0" marL="0">
              <a:buNone/>
            </a:pPr>
            <a:r>
              <a:rPr lang="en-US" sz="950" i="1" dirty="0">
                <a:solidFill>
                  <a:srgbClr val="75897F"/>
                </a:solidFill>
                <a:latin typeface="Calibri" pitchFamily="34" charset="0"/>
                <a:ea typeface="Calibri" pitchFamily="34" charset="-122"/>
                <a:cs typeface="Calibri" pitchFamily="34" charset="-120"/>
              </a:rPr>
              <a:t>The in-app About Developer page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48640" y="777240"/>
            <a:ext cx="8229600" cy="640080"/>
          </a:xfrm>
          <a:prstGeom prst="rect">
            <a:avLst/>
          </a:prstGeom>
          <a:noFill/>
          <a:ln/>
        </p:spPr>
        <p:txBody>
          <a:bodyPr wrap="square" rtlCol="0" anchor="ctr"/>
          <a:lstStyle/>
          <a:p>
            <a:pPr indent="0" marL="0">
              <a:buNone/>
            </a:pPr>
            <a:r>
              <a:rPr lang="en-US" sz="3200" b="1" dirty="0">
                <a:solidFill>
                  <a:srgbClr val="F7FAF9"/>
                </a:solidFill>
                <a:latin typeface="Calibri" pitchFamily="34" charset="0"/>
                <a:ea typeface="Calibri" pitchFamily="34" charset="-122"/>
                <a:cs typeface="Calibri" pitchFamily="34" charset="-120"/>
              </a:rPr>
              <a:t>What we’ll cover</a:t>
            </a:r>
            <a:endParaRPr lang="en-US" sz="3200" dirty="0"/>
          </a:p>
        </p:txBody>
      </p:sp>
      <p:sp>
        <p:nvSpPr>
          <p:cNvPr id="4" name="Shape 2"/>
          <p:cNvSpPr/>
          <p:nvPr/>
        </p:nvSpPr>
        <p:spPr>
          <a:xfrm>
            <a:off x="548640" y="1691640"/>
            <a:ext cx="5440680" cy="1481328"/>
          </a:xfrm>
          <a:prstGeom prst="roundRect">
            <a:avLst>
              <a:gd name="adj" fmla="val 5556"/>
            </a:avLst>
          </a:prstGeom>
          <a:solidFill>
            <a:srgbClr val="17281F"/>
          </a:solidFill>
          <a:ln w="12700">
            <a:solidFill>
              <a:srgbClr val="2C4436"/>
            </a:solidFill>
            <a:prstDash val="solid"/>
          </a:ln>
        </p:spPr>
      </p:sp>
      <p:sp>
        <p:nvSpPr>
          <p:cNvPr id="5" name="Shape 3"/>
          <p:cNvSpPr/>
          <p:nvPr/>
        </p:nvSpPr>
        <p:spPr>
          <a:xfrm>
            <a:off x="804672" y="1975104"/>
            <a:ext cx="566928" cy="566928"/>
          </a:xfrm>
          <a:prstGeom prst="ellipse">
            <a:avLst/>
          </a:prstGeom>
          <a:solidFill>
            <a:srgbClr val="1B3A2B"/>
          </a:solidFill>
          <a:ln w="19050">
            <a:solidFill>
              <a:srgbClr val="43A047"/>
            </a:solidFill>
            <a:prstDash val="solid"/>
          </a:ln>
        </p:spPr>
      </p:sp>
      <p:sp>
        <p:nvSpPr>
          <p:cNvPr id="6" name="Text 4"/>
          <p:cNvSpPr/>
          <p:nvPr/>
        </p:nvSpPr>
        <p:spPr>
          <a:xfrm>
            <a:off x="804672" y="1975104"/>
            <a:ext cx="566928" cy="566928"/>
          </a:xfrm>
          <a:prstGeom prst="rect">
            <a:avLst/>
          </a:prstGeom>
          <a:noFill/>
          <a:ln/>
        </p:spPr>
        <p:txBody>
          <a:bodyPr wrap="square" lIns="0" tIns="0" rIns="0" bIns="0" rtlCol="0" anchor="ctr"/>
          <a:lstStyle/>
          <a:p>
            <a:pPr algn="ctr" indent="0" marL="0">
              <a:buNone/>
            </a:pPr>
            <a:r>
              <a:rPr lang="en-US" sz="1500" b="1" dirty="0">
                <a:solidFill>
                  <a:srgbClr val="FFB300"/>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1554480" y="1892808"/>
            <a:ext cx="4251960" cy="365760"/>
          </a:xfrm>
          <a:prstGeom prst="rect">
            <a:avLst/>
          </a:prstGeom>
          <a:noFill/>
          <a:ln/>
        </p:spPr>
        <p:txBody>
          <a:bodyPr wrap="square" lIns="0" tIns="0" rIns="0" bIns="0" rtlCol="0" anchor="ctr"/>
          <a:lstStyle/>
          <a:p>
            <a:pPr indent="0" marL="0">
              <a:buNone/>
            </a:pPr>
            <a:r>
              <a:rPr lang="en-US" sz="1550" b="1" dirty="0">
                <a:solidFill>
                  <a:srgbClr val="F7FAF9"/>
                </a:solidFill>
                <a:latin typeface="Calibri" pitchFamily="34" charset="0"/>
                <a:ea typeface="Calibri" pitchFamily="34" charset="-122"/>
                <a:cs typeface="Calibri" pitchFamily="34" charset="-120"/>
              </a:rPr>
              <a:t>What is the app</a:t>
            </a:r>
            <a:endParaRPr lang="en-US" sz="1550" dirty="0"/>
          </a:p>
        </p:txBody>
      </p:sp>
      <p:sp>
        <p:nvSpPr>
          <p:cNvPr id="8" name="Text 6"/>
          <p:cNvSpPr/>
          <p:nvPr/>
        </p:nvSpPr>
        <p:spPr>
          <a:xfrm>
            <a:off x="1554480" y="2295144"/>
            <a:ext cx="4251960" cy="731520"/>
          </a:xfrm>
          <a:prstGeom prst="rect">
            <a:avLst/>
          </a:prstGeom>
          <a:noFill/>
          <a:ln/>
        </p:spPr>
        <p:txBody>
          <a:bodyPr wrap="square" lIns="0" tIns="0" rIns="0" bIns="0" rtlCol="0" anchor="ctr"/>
          <a:lstStyle/>
          <a:p>
            <a:pPr indent="0" marL="0">
              <a:lnSpc>
                <a:spcPct val="120000"/>
              </a:lnSpc>
              <a:buNone/>
            </a:pPr>
            <a:r>
              <a:rPr lang="en-US" sz="1150" dirty="0">
                <a:solidFill>
                  <a:srgbClr val="A9BCB2"/>
                </a:solidFill>
                <a:latin typeface="Calibri" pitchFamily="34" charset="0"/>
                <a:ea typeface="Calibri" pitchFamily="34" charset="-122"/>
                <a:cs typeface="Calibri" pitchFamily="34" charset="-120"/>
              </a:rPr>
              <a:t>Mission, audience and how it fits classroom teaching</a:t>
            </a:r>
            <a:endParaRPr lang="en-US" sz="1150" dirty="0"/>
          </a:p>
        </p:txBody>
      </p:sp>
      <p:sp>
        <p:nvSpPr>
          <p:cNvPr id="9" name="Shape 7"/>
          <p:cNvSpPr/>
          <p:nvPr/>
        </p:nvSpPr>
        <p:spPr>
          <a:xfrm>
            <a:off x="6355080" y="1691640"/>
            <a:ext cx="5440680" cy="1481328"/>
          </a:xfrm>
          <a:prstGeom prst="roundRect">
            <a:avLst>
              <a:gd name="adj" fmla="val 5556"/>
            </a:avLst>
          </a:prstGeom>
          <a:solidFill>
            <a:srgbClr val="17281F"/>
          </a:solidFill>
          <a:ln w="12700">
            <a:solidFill>
              <a:srgbClr val="2C4436"/>
            </a:solidFill>
            <a:prstDash val="solid"/>
          </a:ln>
        </p:spPr>
      </p:sp>
      <p:sp>
        <p:nvSpPr>
          <p:cNvPr id="10" name="Shape 8"/>
          <p:cNvSpPr/>
          <p:nvPr/>
        </p:nvSpPr>
        <p:spPr>
          <a:xfrm>
            <a:off x="6611112" y="1975104"/>
            <a:ext cx="566928" cy="566928"/>
          </a:xfrm>
          <a:prstGeom prst="ellipse">
            <a:avLst/>
          </a:prstGeom>
          <a:solidFill>
            <a:srgbClr val="1B3A2B"/>
          </a:solidFill>
          <a:ln w="19050">
            <a:solidFill>
              <a:srgbClr val="43A047"/>
            </a:solidFill>
            <a:prstDash val="solid"/>
          </a:ln>
        </p:spPr>
      </p:sp>
      <p:sp>
        <p:nvSpPr>
          <p:cNvPr id="11" name="Text 9"/>
          <p:cNvSpPr/>
          <p:nvPr/>
        </p:nvSpPr>
        <p:spPr>
          <a:xfrm>
            <a:off x="6611112" y="1975104"/>
            <a:ext cx="566928" cy="566928"/>
          </a:xfrm>
          <a:prstGeom prst="rect">
            <a:avLst/>
          </a:prstGeom>
          <a:noFill/>
          <a:ln/>
        </p:spPr>
        <p:txBody>
          <a:bodyPr wrap="square" lIns="0" tIns="0" rIns="0" bIns="0" rtlCol="0" anchor="ctr"/>
          <a:lstStyle/>
          <a:p>
            <a:pPr algn="ctr" indent="0" marL="0">
              <a:buNone/>
            </a:pPr>
            <a:r>
              <a:rPr lang="en-US" sz="1500" b="1" dirty="0">
                <a:solidFill>
                  <a:srgbClr val="FFB300"/>
                </a:solidFill>
                <a:latin typeface="Calibri" pitchFamily="34" charset="0"/>
                <a:ea typeface="Calibri" pitchFamily="34" charset="-122"/>
                <a:cs typeface="Calibri" pitchFamily="34" charset="-120"/>
              </a:rPr>
              <a:t>02</a:t>
            </a:r>
            <a:endParaRPr lang="en-US" sz="1500" dirty="0"/>
          </a:p>
        </p:txBody>
      </p:sp>
      <p:sp>
        <p:nvSpPr>
          <p:cNvPr id="12" name="Text 10"/>
          <p:cNvSpPr/>
          <p:nvPr/>
        </p:nvSpPr>
        <p:spPr>
          <a:xfrm>
            <a:off x="7360920" y="1892808"/>
            <a:ext cx="4251960" cy="365760"/>
          </a:xfrm>
          <a:prstGeom prst="rect">
            <a:avLst/>
          </a:prstGeom>
          <a:noFill/>
          <a:ln/>
        </p:spPr>
        <p:txBody>
          <a:bodyPr wrap="square" lIns="0" tIns="0" rIns="0" bIns="0" rtlCol="0" anchor="ctr"/>
          <a:lstStyle/>
          <a:p>
            <a:pPr indent="0" marL="0">
              <a:buNone/>
            </a:pPr>
            <a:r>
              <a:rPr lang="en-US" sz="1550" b="1" dirty="0">
                <a:solidFill>
                  <a:srgbClr val="F7FAF9"/>
                </a:solidFill>
                <a:latin typeface="Calibri" pitchFamily="34" charset="0"/>
                <a:ea typeface="Calibri" pitchFamily="34" charset="-122"/>
                <a:cs typeface="Calibri" pitchFamily="34" charset="-120"/>
              </a:rPr>
              <a:t>Key features</a:t>
            </a:r>
            <a:endParaRPr lang="en-US" sz="1550" dirty="0"/>
          </a:p>
        </p:txBody>
      </p:sp>
      <p:sp>
        <p:nvSpPr>
          <p:cNvPr id="13" name="Text 11"/>
          <p:cNvSpPr/>
          <p:nvPr/>
        </p:nvSpPr>
        <p:spPr>
          <a:xfrm>
            <a:off x="7360920" y="2295144"/>
            <a:ext cx="4251960" cy="731520"/>
          </a:xfrm>
          <a:prstGeom prst="rect">
            <a:avLst/>
          </a:prstGeom>
          <a:noFill/>
          <a:ln/>
        </p:spPr>
        <p:txBody>
          <a:bodyPr wrap="square" lIns="0" tIns="0" rIns="0" bIns="0" rtlCol="0" anchor="ctr"/>
          <a:lstStyle/>
          <a:p>
            <a:pPr indent="0" marL="0">
              <a:lnSpc>
                <a:spcPct val="120000"/>
              </a:lnSpc>
              <a:buNone/>
            </a:pPr>
            <a:r>
              <a:rPr lang="en-US" sz="1150" dirty="0">
                <a:solidFill>
                  <a:srgbClr val="A9BCB2"/>
                </a:solidFill>
                <a:latin typeface="Calibri" pitchFamily="34" charset="0"/>
                <a:ea typeface="Calibri" pitchFamily="34" charset="-122"/>
                <a:cs typeface="Calibri" pitchFamily="34" charset="-120"/>
              </a:rPr>
              <a:t>Everything packed into the offline experience</a:t>
            </a:r>
            <a:endParaRPr lang="en-US" sz="1150" dirty="0"/>
          </a:p>
        </p:txBody>
      </p:sp>
      <p:sp>
        <p:nvSpPr>
          <p:cNvPr id="14" name="Shape 12"/>
          <p:cNvSpPr/>
          <p:nvPr/>
        </p:nvSpPr>
        <p:spPr>
          <a:xfrm>
            <a:off x="548640" y="3401568"/>
            <a:ext cx="5440680" cy="1481328"/>
          </a:xfrm>
          <a:prstGeom prst="roundRect">
            <a:avLst>
              <a:gd name="adj" fmla="val 5556"/>
            </a:avLst>
          </a:prstGeom>
          <a:solidFill>
            <a:srgbClr val="17281F"/>
          </a:solidFill>
          <a:ln w="12700">
            <a:solidFill>
              <a:srgbClr val="2C4436"/>
            </a:solidFill>
            <a:prstDash val="solid"/>
          </a:ln>
        </p:spPr>
      </p:sp>
      <p:sp>
        <p:nvSpPr>
          <p:cNvPr id="15" name="Shape 13"/>
          <p:cNvSpPr/>
          <p:nvPr/>
        </p:nvSpPr>
        <p:spPr>
          <a:xfrm>
            <a:off x="804672" y="3685032"/>
            <a:ext cx="566928" cy="566928"/>
          </a:xfrm>
          <a:prstGeom prst="ellipse">
            <a:avLst/>
          </a:prstGeom>
          <a:solidFill>
            <a:srgbClr val="1B3A2B"/>
          </a:solidFill>
          <a:ln w="19050">
            <a:solidFill>
              <a:srgbClr val="43A047"/>
            </a:solidFill>
            <a:prstDash val="solid"/>
          </a:ln>
        </p:spPr>
      </p:sp>
      <p:sp>
        <p:nvSpPr>
          <p:cNvPr id="16" name="Text 14"/>
          <p:cNvSpPr/>
          <p:nvPr/>
        </p:nvSpPr>
        <p:spPr>
          <a:xfrm>
            <a:off x="804672" y="3685032"/>
            <a:ext cx="566928" cy="566928"/>
          </a:xfrm>
          <a:prstGeom prst="rect">
            <a:avLst/>
          </a:prstGeom>
          <a:noFill/>
          <a:ln/>
        </p:spPr>
        <p:txBody>
          <a:bodyPr wrap="square" lIns="0" tIns="0" rIns="0" bIns="0" rtlCol="0" anchor="ctr"/>
          <a:lstStyle/>
          <a:p>
            <a:pPr algn="ctr" indent="0" marL="0">
              <a:buNone/>
            </a:pPr>
            <a:r>
              <a:rPr lang="en-US" sz="1500" b="1" dirty="0">
                <a:solidFill>
                  <a:srgbClr val="FFB300"/>
                </a:solidFill>
                <a:latin typeface="Calibri" pitchFamily="34" charset="0"/>
                <a:ea typeface="Calibri" pitchFamily="34" charset="-122"/>
                <a:cs typeface="Calibri" pitchFamily="34" charset="-120"/>
              </a:rPr>
              <a:t>03</a:t>
            </a:r>
            <a:endParaRPr lang="en-US" sz="1500" dirty="0"/>
          </a:p>
        </p:txBody>
      </p:sp>
      <p:sp>
        <p:nvSpPr>
          <p:cNvPr id="17" name="Text 15"/>
          <p:cNvSpPr/>
          <p:nvPr/>
        </p:nvSpPr>
        <p:spPr>
          <a:xfrm>
            <a:off x="1554480" y="3602736"/>
            <a:ext cx="4251960" cy="365760"/>
          </a:xfrm>
          <a:prstGeom prst="rect">
            <a:avLst/>
          </a:prstGeom>
          <a:noFill/>
          <a:ln/>
        </p:spPr>
        <p:txBody>
          <a:bodyPr wrap="square" lIns="0" tIns="0" rIns="0" bIns="0" rtlCol="0" anchor="ctr"/>
          <a:lstStyle/>
          <a:p>
            <a:pPr indent="0" marL="0">
              <a:buNone/>
            </a:pPr>
            <a:r>
              <a:rPr lang="en-US" sz="1550" b="1" dirty="0">
                <a:solidFill>
                  <a:srgbClr val="F7FAF9"/>
                </a:solidFill>
                <a:latin typeface="Calibri" pitchFamily="34" charset="0"/>
                <a:ea typeface="Calibri" pitchFamily="34" charset="-122"/>
                <a:cs typeface="Calibri" pitchFamily="34" charset="-120"/>
              </a:rPr>
              <a:t>How to use it</a:t>
            </a:r>
            <a:endParaRPr lang="en-US" sz="1550" dirty="0"/>
          </a:p>
        </p:txBody>
      </p:sp>
      <p:sp>
        <p:nvSpPr>
          <p:cNvPr id="18" name="Text 16"/>
          <p:cNvSpPr/>
          <p:nvPr/>
        </p:nvSpPr>
        <p:spPr>
          <a:xfrm>
            <a:off x="1554480" y="4005072"/>
            <a:ext cx="4251960" cy="731520"/>
          </a:xfrm>
          <a:prstGeom prst="rect">
            <a:avLst/>
          </a:prstGeom>
          <a:noFill/>
          <a:ln/>
        </p:spPr>
        <p:txBody>
          <a:bodyPr wrap="square" lIns="0" tIns="0" rIns="0" bIns="0" rtlCol="0" anchor="ctr"/>
          <a:lstStyle/>
          <a:p>
            <a:pPr indent="0" marL="0">
              <a:lnSpc>
                <a:spcPct val="120000"/>
              </a:lnSpc>
              <a:buNone/>
            </a:pPr>
            <a:r>
              <a:rPr lang="en-US" sz="1150" dirty="0">
                <a:solidFill>
                  <a:srgbClr val="A9BCB2"/>
                </a:solidFill>
                <a:latin typeface="Calibri" pitchFamily="34" charset="0"/>
                <a:ea typeface="Calibri" pitchFamily="34" charset="-122"/>
                <a:cs typeface="Calibri" pitchFamily="34" charset="-120"/>
              </a:rPr>
              <a:t>Navigating the app and every simulation’s common layout</a:t>
            </a:r>
            <a:endParaRPr lang="en-US" sz="1150" dirty="0"/>
          </a:p>
        </p:txBody>
      </p:sp>
      <p:sp>
        <p:nvSpPr>
          <p:cNvPr id="19" name="Shape 17"/>
          <p:cNvSpPr/>
          <p:nvPr/>
        </p:nvSpPr>
        <p:spPr>
          <a:xfrm>
            <a:off x="6355080" y="3401568"/>
            <a:ext cx="5440680" cy="1481328"/>
          </a:xfrm>
          <a:prstGeom prst="roundRect">
            <a:avLst>
              <a:gd name="adj" fmla="val 5556"/>
            </a:avLst>
          </a:prstGeom>
          <a:solidFill>
            <a:srgbClr val="17281F"/>
          </a:solidFill>
          <a:ln w="12700">
            <a:solidFill>
              <a:srgbClr val="2C4436"/>
            </a:solidFill>
            <a:prstDash val="solid"/>
          </a:ln>
        </p:spPr>
      </p:sp>
      <p:sp>
        <p:nvSpPr>
          <p:cNvPr id="20" name="Shape 18"/>
          <p:cNvSpPr/>
          <p:nvPr/>
        </p:nvSpPr>
        <p:spPr>
          <a:xfrm>
            <a:off x="6611112" y="3685032"/>
            <a:ext cx="566928" cy="566928"/>
          </a:xfrm>
          <a:prstGeom prst="ellipse">
            <a:avLst/>
          </a:prstGeom>
          <a:solidFill>
            <a:srgbClr val="1B3A2B"/>
          </a:solidFill>
          <a:ln w="19050">
            <a:solidFill>
              <a:srgbClr val="43A047"/>
            </a:solidFill>
            <a:prstDash val="solid"/>
          </a:ln>
        </p:spPr>
      </p:sp>
      <p:sp>
        <p:nvSpPr>
          <p:cNvPr id="21" name="Text 19"/>
          <p:cNvSpPr/>
          <p:nvPr/>
        </p:nvSpPr>
        <p:spPr>
          <a:xfrm>
            <a:off x="6611112" y="3685032"/>
            <a:ext cx="566928" cy="566928"/>
          </a:xfrm>
          <a:prstGeom prst="rect">
            <a:avLst/>
          </a:prstGeom>
          <a:noFill/>
          <a:ln/>
        </p:spPr>
        <p:txBody>
          <a:bodyPr wrap="square" lIns="0" tIns="0" rIns="0" bIns="0" rtlCol="0" anchor="ctr"/>
          <a:lstStyle/>
          <a:p>
            <a:pPr algn="ctr" indent="0" marL="0">
              <a:buNone/>
            </a:pPr>
            <a:r>
              <a:rPr lang="en-US" sz="1500" b="1" dirty="0">
                <a:solidFill>
                  <a:srgbClr val="FFB300"/>
                </a:solidFill>
                <a:latin typeface="Calibri" pitchFamily="34" charset="0"/>
                <a:ea typeface="Calibri" pitchFamily="34" charset="-122"/>
                <a:cs typeface="Calibri" pitchFamily="34" charset="-120"/>
              </a:rPr>
              <a:t>04</a:t>
            </a:r>
            <a:endParaRPr lang="en-US" sz="1500" dirty="0"/>
          </a:p>
        </p:txBody>
      </p:sp>
      <p:sp>
        <p:nvSpPr>
          <p:cNvPr id="22" name="Text 20"/>
          <p:cNvSpPr/>
          <p:nvPr/>
        </p:nvSpPr>
        <p:spPr>
          <a:xfrm>
            <a:off x="7360920" y="3602736"/>
            <a:ext cx="4251960" cy="365760"/>
          </a:xfrm>
          <a:prstGeom prst="rect">
            <a:avLst/>
          </a:prstGeom>
          <a:noFill/>
          <a:ln/>
        </p:spPr>
        <p:txBody>
          <a:bodyPr wrap="square" lIns="0" tIns="0" rIns="0" bIns="0" rtlCol="0" anchor="ctr"/>
          <a:lstStyle/>
          <a:p>
            <a:pPr indent="0" marL="0">
              <a:buNone/>
            </a:pPr>
            <a:r>
              <a:rPr lang="en-US" sz="1550" b="1" dirty="0">
                <a:solidFill>
                  <a:srgbClr val="F7FAF9"/>
                </a:solidFill>
                <a:latin typeface="Calibri" pitchFamily="34" charset="0"/>
                <a:ea typeface="Calibri" pitchFamily="34" charset="-122"/>
                <a:cs typeface="Calibri" pitchFamily="34" charset="-120"/>
              </a:rPr>
              <a:t>The 10 simulations</a:t>
            </a:r>
            <a:endParaRPr lang="en-US" sz="1550" dirty="0"/>
          </a:p>
        </p:txBody>
      </p:sp>
      <p:sp>
        <p:nvSpPr>
          <p:cNvPr id="23" name="Text 21"/>
          <p:cNvSpPr/>
          <p:nvPr/>
        </p:nvSpPr>
        <p:spPr>
          <a:xfrm>
            <a:off x="7360920" y="4005072"/>
            <a:ext cx="4251960" cy="731520"/>
          </a:xfrm>
          <a:prstGeom prst="rect">
            <a:avLst/>
          </a:prstGeom>
          <a:noFill/>
          <a:ln/>
        </p:spPr>
        <p:txBody>
          <a:bodyPr wrap="square" lIns="0" tIns="0" rIns="0" bIns="0" rtlCol="0" anchor="ctr"/>
          <a:lstStyle/>
          <a:p>
            <a:pPr indent="0" marL="0">
              <a:lnSpc>
                <a:spcPct val="120000"/>
              </a:lnSpc>
              <a:buNone/>
            </a:pPr>
            <a:r>
              <a:rPr lang="en-US" sz="1150" dirty="0">
                <a:solidFill>
                  <a:srgbClr val="A9BCB2"/>
                </a:solidFill>
                <a:latin typeface="Calibri" pitchFamily="34" charset="0"/>
                <a:ea typeface="Calibri" pitchFamily="34" charset="-122"/>
                <a:cs typeface="Calibri" pitchFamily="34" charset="-120"/>
              </a:rPr>
              <a:t>A full walkthrough of every interactive lab, with screenshots</a:t>
            </a:r>
            <a:endParaRPr lang="en-US" sz="1150" dirty="0"/>
          </a:p>
        </p:txBody>
      </p:sp>
      <p:sp>
        <p:nvSpPr>
          <p:cNvPr id="24" name="Shape 22"/>
          <p:cNvSpPr/>
          <p:nvPr/>
        </p:nvSpPr>
        <p:spPr>
          <a:xfrm>
            <a:off x="548640" y="5111496"/>
            <a:ext cx="5440680" cy="1481328"/>
          </a:xfrm>
          <a:prstGeom prst="roundRect">
            <a:avLst>
              <a:gd name="adj" fmla="val 5556"/>
            </a:avLst>
          </a:prstGeom>
          <a:solidFill>
            <a:srgbClr val="17281F"/>
          </a:solidFill>
          <a:ln w="12700">
            <a:solidFill>
              <a:srgbClr val="2C4436"/>
            </a:solidFill>
            <a:prstDash val="solid"/>
          </a:ln>
        </p:spPr>
      </p:sp>
      <p:sp>
        <p:nvSpPr>
          <p:cNvPr id="25" name="Shape 23"/>
          <p:cNvSpPr/>
          <p:nvPr/>
        </p:nvSpPr>
        <p:spPr>
          <a:xfrm>
            <a:off x="804672" y="5394960"/>
            <a:ext cx="566928" cy="566928"/>
          </a:xfrm>
          <a:prstGeom prst="ellipse">
            <a:avLst/>
          </a:prstGeom>
          <a:solidFill>
            <a:srgbClr val="1B3A2B"/>
          </a:solidFill>
          <a:ln w="19050">
            <a:solidFill>
              <a:srgbClr val="43A047"/>
            </a:solidFill>
            <a:prstDash val="solid"/>
          </a:ln>
        </p:spPr>
      </p:sp>
      <p:sp>
        <p:nvSpPr>
          <p:cNvPr id="26" name="Text 24"/>
          <p:cNvSpPr/>
          <p:nvPr/>
        </p:nvSpPr>
        <p:spPr>
          <a:xfrm>
            <a:off x="804672" y="5394960"/>
            <a:ext cx="566928" cy="566928"/>
          </a:xfrm>
          <a:prstGeom prst="rect">
            <a:avLst/>
          </a:prstGeom>
          <a:noFill/>
          <a:ln/>
        </p:spPr>
        <p:txBody>
          <a:bodyPr wrap="square" lIns="0" tIns="0" rIns="0" bIns="0" rtlCol="0" anchor="ctr"/>
          <a:lstStyle/>
          <a:p>
            <a:pPr algn="ctr" indent="0" marL="0">
              <a:buNone/>
            </a:pPr>
            <a:r>
              <a:rPr lang="en-US" sz="1500" b="1" dirty="0">
                <a:solidFill>
                  <a:srgbClr val="FFB300"/>
                </a:solidFill>
                <a:latin typeface="Calibri" pitchFamily="34" charset="0"/>
                <a:ea typeface="Calibri" pitchFamily="34" charset="-122"/>
                <a:cs typeface="Calibri" pitchFamily="34" charset="-120"/>
              </a:rPr>
              <a:t>05</a:t>
            </a:r>
            <a:endParaRPr lang="en-US" sz="1500" dirty="0"/>
          </a:p>
        </p:txBody>
      </p:sp>
      <p:sp>
        <p:nvSpPr>
          <p:cNvPr id="27" name="Text 25"/>
          <p:cNvSpPr/>
          <p:nvPr/>
        </p:nvSpPr>
        <p:spPr>
          <a:xfrm>
            <a:off x="1554480" y="5312664"/>
            <a:ext cx="4251960" cy="365760"/>
          </a:xfrm>
          <a:prstGeom prst="rect">
            <a:avLst/>
          </a:prstGeom>
          <a:noFill/>
          <a:ln/>
        </p:spPr>
        <p:txBody>
          <a:bodyPr wrap="square" lIns="0" tIns="0" rIns="0" bIns="0" rtlCol="0" anchor="ctr"/>
          <a:lstStyle/>
          <a:p>
            <a:pPr indent="0" marL="0">
              <a:buNone/>
            </a:pPr>
            <a:r>
              <a:rPr lang="en-US" sz="1550" b="1" dirty="0">
                <a:solidFill>
                  <a:srgbClr val="F7FAF9"/>
                </a:solidFill>
                <a:latin typeface="Calibri" pitchFamily="34" charset="0"/>
                <a:ea typeface="Calibri" pitchFamily="34" charset="-122"/>
                <a:cs typeface="Calibri" pitchFamily="34" charset="-120"/>
              </a:rPr>
              <a:t>Reference tools</a:t>
            </a:r>
            <a:endParaRPr lang="en-US" sz="1550" dirty="0"/>
          </a:p>
        </p:txBody>
      </p:sp>
      <p:sp>
        <p:nvSpPr>
          <p:cNvPr id="28" name="Text 26"/>
          <p:cNvSpPr/>
          <p:nvPr/>
        </p:nvSpPr>
        <p:spPr>
          <a:xfrm>
            <a:off x="1554480" y="5715000"/>
            <a:ext cx="4251960" cy="731520"/>
          </a:xfrm>
          <a:prstGeom prst="rect">
            <a:avLst/>
          </a:prstGeom>
          <a:noFill/>
          <a:ln/>
        </p:spPr>
        <p:txBody>
          <a:bodyPr wrap="square" lIns="0" tIns="0" rIns="0" bIns="0" rtlCol="0" anchor="ctr"/>
          <a:lstStyle/>
          <a:p>
            <a:pPr indent="0" marL="0">
              <a:lnSpc>
                <a:spcPct val="120000"/>
              </a:lnSpc>
              <a:buNone/>
            </a:pPr>
            <a:r>
              <a:rPr lang="en-US" sz="1150" dirty="0">
                <a:solidFill>
                  <a:srgbClr val="A9BCB2"/>
                </a:solidFill>
                <a:latin typeface="Calibri" pitchFamily="34" charset="0"/>
                <a:ea typeface="Calibri" pitchFamily="34" charset="-122"/>
                <a:cs typeface="Calibri" pitchFamily="34" charset="-120"/>
              </a:rPr>
              <a:t>Handbook, gallery, glossary, quiz centre and gamification</a:t>
            </a:r>
            <a:endParaRPr lang="en-US" sz="1150" dirty="0"/>
          </a:p>
        </p:txBody>
      </p:sp>
      <p:sp>
        <p:nvSpPr>
          <p:cNvPr id="29" name="Shape 27"/>
          <p:cNvSpPr/>
          <p:nvPr/>
        </p:nvSpPr>
        <p:spPr>
          <a:xfrm>
            <a:off x="6355080" y="5111496"/>
            <a:ext cx="5440680" cy="1481328"/>
          </a:xfrm>
          <a:prstGeom prst="roundRect">
            <a:avLst>
              <a:gd name="adj" fmla="val 5556"/>
            </a:avLst>
          </a:prstGeom>
          <a:solidFill>
            <a:srgbClr val="17281F"/>
          </a:solidFill>
          <a:ln w="12700">
            <a:solidFill>
              <a:srgbClr val="2C4436"/>
            </a:solidFill>
            <a:prstDash val="solid"/>
          </a:ln>
        </p:spPr>
      </p:sp>
      <p:sp>
        <p:nvSpPr>
          <p:cNvPr id="30" name="Shape 28"/>
          <p:cNvSpPr/>
          <p:nvPr/>
        </p:nvSpPr>
        <p:spPr>
          <a:xfrm>
            <a:off x="6611112" y="5394960"/>
            <a:ext cx="566928" cy="566928"/>
          </a:xfrm>
          <a:prstGeom prst="ellipse">
            <a:avLst/>
          </a:prstGeom>
          <a:solidFill>
            <a:srgbClr val="1B3A2B"/>
          </a:solidFill>
          <a:ln w="19050">
            <a:solidFill>
              <a:srgbClr val="43A047"/>
            </a:solidFill>
            <a:prstDash val="solid"/>
          </a:ln>
        </p:spPr>
      </p:sp>
      <p:sp>
        <p:nvSpPr>
          <p:cNvPr id="31" name="Text 29"/>
          <p:cNvSpPr/>
          <p:nvPr/>
        </p:nvSpPr>
        <p:spPr>
          <a:xfrm>
            <a:off x="6611112" y="5394960"/>
            <a:ext cx="566928" cy="566928"/>
          </a:xfrm>
          <a:prstGeom prst="rect">
            <a:avLst/>
          </a:prstGeom>
          <a:noFill/>
          <a:ln/>
        </p:spPr>
        <p:txBody>
          <a:bodyPr wrap="square" lIns="0" tIns="0" rIns="0" bIns="0" rtlCol="0" anchor="ctr"/>
          <a:lstStyle/>
          <a:p>
            <a:pPr algn="ctr" indent="0" marL="0">
              <a:buNone/>
            </a:pPr>
            <a:r>
              <a:rPr lang="en-US" sz="1500" b="1" dirty="0">
                <a:solidFill>
                  <a:srgbClr val="FFB300"/>
                </a:solidFill>
                <a:latin typeface="Calibri" pitchFamily="34" charset="0"/>
                <a:ea typeface="Calibri" pitchFamily="34" charset="-122"/>
                <a:cs typeface="Calibri" pitchFamily="34" charset="-120"/>
              </a:rPr>
              <a:t>06</a:t>
            </a:r>
            <a:endParaRPr lang="en-US" sz="1500" dirty="0"/>
          </a:p>
        </p:txBody>
      </p:sp>
      <p:sp>
        <p:nvSpPr>
          <p:cNvPr id="32" name="Text 30"/>
          <p:cNvSpPr/>
          <p:nvPr/>
        </p:nvSpPr>
        <p:spPr>
          <a:xfrm>
            <a:off x="7360920" y="5312664"/>
            <a:ext cx="4251960" cy="365760"/>
          </a:xfrm>
          <a:prstGeom prst="rect">
            <a:avLst/>
          </a:prstGeom>
          <a:noFill/>
          <a:ln/>
        </p:spPr>
        <p:txBody>
          <a:bodyPr wrap="square" lIns="0" tIns="0" rIns="0" bIns="0" rtlCol="0" anchor="ctr"/>
          <a:lstStyle/>
          <a:p>
            <a:pPr indent="0" marL="0">
              <a:buNone/>
            </a:pPr>
            <a:r>
              <a:rPr lang="en-US" sz="1550" b="1" dirty="0">
                <a:solidFill>
                  <a:srgbClr val="F7FAF9"/>
                </a:solidFill>
                <a:latin typeface="Calibri" pitchFamily="34" charset="0"/>
                <a:ea typeface="Calibri" pitchFamily="34" charset="-122"/>
                <a:cs typeface="Calibri" pitchFamily="34" charset="-120"/>
              </a:rPr>
              <a:t>Getting started</a:t>
            </a:r>
            <a:endParaRPr lang="en-US" sz="1550" dirty="0"/>
          </a:p>
        </p:txBody>
      </p:sp>
      <p:sp>
        <p:nvSpPr>
          <p:cNvPr id="33" name="Text 31"/>
          <p:cNvSpPr/>
          <p:nvPr/>
        </p:nvSpPr>
        <p:spPr>
          <a:xfrm>
            <a:off x="7360920" y="5715000"/>
            <a:ext cx="4251960" cy="731520"/>
          </a:xfrm>
          <a:prstGeom prst="rect">
            <a:avLst/>
          </a:prstGeom>
          <a:noFill/>
          <a:ln/>
        </p:spPr>
        <p:txBody>
          <a:bodyPr wrap="square" lIns="0" tIns="0" rIns="0" bIns="0" rtlCol="0" anchor="ctr"/>
          <a:lstStyle/>
          <a:p>
            <a:pPr indent="0" marL="0">
              <a:lnSpc>
                <a:spcPct val="120000"/>
              </a:lnSpc>
              <a:buNone/>
            </a:pPr>
            <a:r>
              <a:rPr lang="en-US" sz="1150" dirty="0">
                <a:solidFill>
                  <a:srgbClr val="A9BCB2"/>
                </a:solidFill>
                <a:latin typeface="Calibri" pitchFamily="34" charset="0"/>
                <a:ea typeface="Calibri" pitchFamily="34" charset="-122"/>
                <a:cs typeface="Calibri" pitchFamily="34" charset="-120"/>
              </a:rPr>
              <a:t>Curriculum alignment and installing the app offline</a:t>
            </a:r>
            <a:endParaRPr lang="en-US" sz="1150" dirty="0"/>
          </a:p>
        </p:txBody>
      </p:sp>
      <p:sp>
        <p:nvSpPr>
          <p:cNvPr id="34" name="Text 3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02</a:t>
            </a:r>
            <a:endParaRPr lang="en-US" sz="1000" dirty="0"/>
          </a:p>
        </p:txBody>
      </p:sp>
      <p:sp>
        <p:nvSpPr>
          <p:cNvPr id="35" name="Text 33"/>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OVERVIEW</a:t>
            </a:r>
            <a:endParaRPr lang="en-US" sz="1250" dirty="0"/>
          </a:p>
        </p:txBody>
      </p:sp>
      <p:sp>
        <p:nvSpPr>
          <p:cNvPr id="3" name="Text 1"/>
          <p:cNvSpPr/>
          <p:nvPr/>
        </p:nvSpPr>
        <p:spPr>
          <a:xfrm>
            <a:off x="548640" y="777240"/>
            <a:ext cx="6309360" cy="1188720"/>
          </a:xfrm>
          <a:prstGeom prst="rect">
            <a:avLst/>
          </a:prstGeom>
          <a:noFill/>
          <a:ln/>
        </p:spPr>
        <p:txBody>
          <a:bodyPr wrap="square" rtlCol="0" anchor="ctr"/>
          <a:lstStyle/>
          <a:p>
            <a:pPr indent="0" marL="0">
              <a:lnSpc>
                <a:spcPct val="108000"/>
              </a:lnSpc>
              <a:buNone/>
            </a:pPr>
            <a:r>
              <a:rPr lang="en-US" sz="2600" b="1" dirty="0">
                <a:solidFill>
                  <a:srgbClr val="F7FAF9"/>
                </a:solidFill>
                <a:latin typeface="Calibri" pitchFamily="34" charset="0"/>
                <a:ea typeface="Calibri" pitchFamily="34" charset="-122"/>
                <a:cs typeface="Calibri" pitchFamily="34" charset="-120"/>
              </a:rPr>
              <a:t>Investigate Earth’s dynamic systems — one variable at a time</a:t>
            </a:r>
            <a:endParaRPr lang="en-US" sz="2600" dirty="0"/>
          </a:p>
        </p:txBody>
      </p:sp>
      <p:sp>
        <p:nvSpPr>
          <p:cNvPr id="4" name="Text 2"/>
          <p:cNvSpPr/>
          <p:nvPr/>
        </p:nvSpPr>
        <p:spPr>
          <a:xfrm>
            <a:off x="548640" y="1965960"/>
            <a:ext cx="6309360" cy="2011680"/>
          </a:xfrm>
          <a:prstGeom prst="rect">
            <a:avLst/>
          </a:prstGeom>
          <a:noFill/>
          <a:ln/>
        </p:spPr>
        <p:txBody>
          <a:bodyPr wrap="square" rtlCol="0" anchor="ctr"/>
          <a:lstStyle/>
          <a:p>
            <a:pPr indent="0" marL="0">
              <a:lnSpc>
                <a:spcPct val="132000"/>
              </a:lnSpc>
              <a:buNone/>
            </a:pPr>
            <a:r>
              <a:rPr lang="en-US" sz="1350" dirty="0">
                <a:solidFill>
                  <a:srgbClr val="DCE7E1"/>
                </a:solidFill>
                <a:latin typeface="Calibri" pitchFamily="34" charset="0"/>
                <a:ea typeface="Calibri" pitchFamily="34" charset="-122"/>
                <a:cs typeface="Calibri" pitchFamily="34" charset="-120"/>
              </a:rPr>
              <a:t>Virtual Earth Science Laboratory is a fully offline Progressive Web App containing ten scientifically accurate, hands-on simulations covering rocks, soil, weathering, erosion, fossils, earthquakes, volcanoes, plate tectonics, minerals and 4.6 billion years of geological time. Instead of reading about geology, students adjust real variables — heat, pressure, magnitude, rainfall — and watch cause and effect unfold on screen, exactly as a field geologist would investigate it.</a:t>
            </a:r>
            <a:endParaRPr lang="en-US" sz="1350" dirty="0"/>
          </a:p>
        </p:txBody>
      </p:sp>
      <p:sp>
        <p:nvSpPr>
          <p:cNvPr id="5" name="Text 3"/>
          <p:cNvSpPr/>
          <p:nvPr/>
        </p:nvSpPr>
        <p:spPr>
          <a:xfrm>
            <a:off x="548640" y="4160520"/>
            <a:ext cx="1508760" cy="502920"/>
          </a:xfrm>
          <a:prstGeom prst="rect">
            <a:avLst/>
          </a:prstGeom>
          <a:noFill/>
          <a:ln/>
        </p:spPr>
        <p:txBody>
          <a:bodyPr wrap="square" lIns="0" tIns="0" rIns="0" bIns="0" rtlCol="0" anchor="ctr"/>
          <a:lstStyle/>
          <a:p>
            <a:pPr indent="0" marL="0">
              <a:buNone/>
            </a:pPr>
            <a:r>
              <a:rPr lang="en-US" sz="2600" b="1" dirty="0">
                <a:solidFill>
                  <a:srgbClr val="FFB300"/>
                </a:solidFill>
                <a:latin typeface="Calibri" pitchFamily="34" charset="0"/>
                <a:ea typeface="Calibri" pitchFamily="34" charset="-122"/>
                <a:cs typeface="Calibri" pitchFamily="34" charset="-120"/>
              </a:rPr>
              <a:t>10</a:t>
            </a:r>
            <a:endParaRPr lang="en-US" sz="2600" dirty="0"/>
          </a:p>
        </p:txBody>
      </p:sp>
      <p:sp>
        <p:nvSpPr>
          <p:cNvPr id="6" name="Text 4"/>
          <p:cNvSpPr/>
          <p:nvPr/>
        </p:nvSpPr>
        <p:spPr>
          <a:xfrm>
            <a:off x="548640" y="4681728"/>
            <a:ext cx="1508760" cy="548640"/>
          </a:xfrm>
          <a:prstGeom prst="rect">
            <a:avLst/>
          </a:prstGeom>
          <a:noFill/>
          <a:ln/>
        </p:spPr>
        <p:txBody>
          <a:bodyPr wrap="square" lIns="0" tIns="0" rIns="0" bIns="0" rtlCol="0" anchor="ctr"/>
          <a:lstStyle/>
          <a:p>
            <a:pPr indent="0" marL="0">
              <a:lnSpc>
                <a:spcPct val="115000"/>
              </a:lnSpc>
              <a:buNone/>
            </a:pPr>
            <a:r>
              <a:rPr lang="en-US" sz="950" dirty="0">
                <a:solidFill>
                  <a:srgbClr val="A9BCB2"/>
                </a:solidFill>
                <a:latin typeface="Calibri" pitchFamily="34" charset="0"/>
                <a:ea typeface="Calibri" pitchFamily="34" charset="-122"/>
                <a:cs typeface="Calibri" pitchFamily="34" charset="-120"/>
              </a:rPr>
              <a:t>Interactive Simulations</a:t>
            </a:r>
            <a:endParaRPr lang="en-US" sz="950" dirty="0"/>
          </a:p>
        </p:txBody>
      </p:sp>
      <p:sp>
        <p:nvSpPr>
          <p:cNvPr id="7" name="Text 5"/>
          <p:cNvSpPr/>
          <p:nvPr/>
        </p:nvSpPr>
        <p:spPr>
          <a:xfrm>
            <a:off x="2148840" y="4160520"/>
            <a:ext cx="1508760" cy="502920"/>
          </a:xfrm>
          <a:prstGeom prst="rect">
            <a:avLst/>
          </a:prstGeom>
          <a:noFill/>
          <a:ln/>
        </p:spPr>
        <p:txBody>
          <a:bodyPr wrap="square" lIns="0" tIns="0" rIns="0" bIns="0" rtlCol="0" anchor="ctr"/>
          <a:lstStyle/>
          <a:p>
            <a:pPr indent="0" marL="0">
              <a:buNone/>
            </a:pPr>
            <a:r>
              <a:rPr lang="en-US" sz="2600" b="1" dirty="0">
                <a:solidFill>
                  <a:srgbClr val="FFB300"/>
                </a:solidFill>
                <a:latin typeface="Calibri" pitchFamily="34" charset="0"/>
                <a:ea typeface="Calibri" pitchFamily="34" charset="-122"/>
                <a:cs typeface="Calibri" pitchFamily="34" charset="-120"/>
              </a:rPr>
              <a:t>100+</a:t>
            </a:r>
            <a:endParaRPr lang="en-US" sz="2600" dirty="0"/>
          </a:p>
        </p:txBody>
      </p:sp>
      <p:sp>
        <p:nvSpPr>
          <p:cNvPr id="8" name="Text 6"/>
          <p:cNvSpPr/>
          <p:nvPr/>
        </p:nvSpPr>
        <p:spPr>
          <a:xfrm>
            <a:off x="2148840" y="4681728"/>
            <a:ext cx="1508760" cy="548640"/>
          </a:xfrm>
          <a:prstGeom prst="rect">
            <a:avLst/>
          </a:prstGeom>
          <a:noFill/>
          <a:ln/>
        </p:spPr>
        <p:txBody>
          <a:bodyPr wrap="square" lIns="0" tIns="0" rIns="0" bIns="0" rtlCol="0" anchor="ctr"/>
          <a:lstStyle/>
          <a:p>
            <a:pPr indent="0" marL="0">
              <a:lnSpc>
                <a:spcPct val="115000"/>
              </a:lnSpc>
              <a:buNone/>
            </a:pPr>
            <a:r>
              <a:rPr lang="en-US" sz="950" dirty="0">
                <a:solidFill>
                  <a:srgbClr val="A9BCB2"/>
                </a:solidFill>
                <a:latin typeface="Calibri" pitchFamily="34" charset="0"/>
                <a:ea typeface="Calibri" pitchFamily="34" charset="-122"/>
                <a:cs typeface="Calibri" pitchFamily="34" charset="-120"/>
              </a:rPr>
              <a:t>Adaptive Quiz Questions</a:t>
            </a:r>
            <a:endParaRPr lang="en-US" sz="950" dirty="0"/>
          </a:p>
        </p:txBody>
      </p:sp>
      <p:sp>
        <p:nvSpPr>
          <p:cNvPr id="9" name="Text 7"/>
          <p:cNvSpPr/>
          <p:nvPr/>
        </p:nvSpPr>
        <p:spPr>
          <a:xfrm>
            <a:off x="3749040" y="4160520"/>
            <a:ext cx="1508760" cy="502920"/>
          </a:xfrm>
          <a:prstGeom prst="rect">
            <a:avLst/>
          </a:prstGeom>
          <a:noFill/>
          <a:ln/>
        </p:spPr>
        <p:txBody>
          <a:bodyPr wrap="square" lIns="0" tIns="0" rIns="0" bIns="0" rtlCol="0" anchor="ctr"/>
          <a:lstStyle/>
          <a:p>
            <a:pPr indent="0" marL="0">
              <a:buNone/>
            </a:pPr>
            <a:r>
              <a:rPr lang="en-US" sz="2600" b="1" dirty="0">
                <a:solidFill>
                  <a:srgbClr val="FFB300"/>
                </a:solidFill>
                <a:latin typeface="Calibri" pitchFamily="34" charset="0"/>
                <a:ea typeface="Calibri" pitchFamily="34" charset="-122"/>
                <a:cs typeface="Calibri" pitchFamily="34" charset="-120"/>
              </a:rPr>
              <a:t>100%</a:t>
            </a:r>
            <a:endParaRPr lang="en-US" sz="2600" dirty="0"/>
          </a:p>
        </p:txBody>
      </p:sp>
      <p:sp>
        <p:nvSpPr>
          <p:cNvPr id="10" name="Text 8"/>
          <p:cNvSpPr/>
          <p:nvPr/>
        </p:nvSpPr>
        <p:spPr>
          <a:xfrm>
            <a:off x="3749040" y="4681728"/>
            <a:ext cx="1508760" cy="548640"/>
          </a:xfrm>
          <a:prstGeom prst="rect">
            <a:avLst/>
          </a:prstGeom>
          <a:noFill/>
          <a:ln/>
        </p:spPr>
        <p:txBody>
          <a:bodyPr wrap="square" lIns="0" tIns="0" rIns="0" bIns="0" rtlCol="0" anchor="ctr"/>
          <a:lstStyle/>
          <a:p>
            <a:pPr indent="0" marL="0">
              <a:lnSpc>
                <a:spcPct val="115000"/>
              </a:lnSpc>
              <a:buNone/>
            </a:pPr>
            <a:r>
              <a:rPr lang="en-US" sz="950" dirty="0">
                <a:solidFill>
                  <a:srgbClr val="A9BCB2"/>
                </a:solidFill>
                <a:latin typeface="Calibri" pitchFamily="34" charset="0"/>
                <a:ea typeface="Calibri" pitchFamily="34" charset="-122"/>
                <a:cs typeface="Calibri" pitchFamily="34" charset="-120"/>
              </a:rPr>
              <a:t>Works Fully Offline</a:t>
            </a:r>
            <a:endParaRPr lang="en-US" sz="950" dirty="0"/>
          </a:p>
        </p:txBody>
      </p:sp>
      <p:sp>
        <p:nvSpPr>
          <p:cNvPr id="11" name="Text 9"/>
          <p:cNvSpPr/>
          <p:nvPr/>
        </p:nvSpPr>
        <p:spPr>
          <a:xfrm>
            <a:off x="5349240" y="4160520"/>
            <a:ext cx="1508760" cy="502920"/>
          </a:xfrm>
          <a:prstGeom prst="rect">
            <a:avLst/>
          </a:prstGeom>
          <a:noFill/>
          <a:ln/>
        </p:spPr>
        <p:txBody>
          <a:bodyPr wrap="square" lIns="0" tIns="0" rIns="0" bIns="0" rtlCol="0" anchor="ctr"/>
          <a:lstStyle/>
          <a:p>
            <a:pPr indent="0" marL="0">
              <a:buNone/>
            </a:pPr>
            <a:r>
              <a:rPr lang="en-US" sz="2600" b="1" dirty="0">
                <a:solidFill>
                  <a:srgbClr val="FFB300"/>
                </a:solidFill>
                <a:latin typeface="Calibri" pitchFamily="34" charset="0"/>
                <a:ea typeface="Calibri" pitchFamily="34" charset="-122"/>
                <a:cs typeface="Calibri" pitchFamily="34" charset="-120"/>
              </a:rPr>
              <a:t>VI–XII</a:t>
            </a:r>
            <a:endParaRPr lang="en-US" sz="2600" dirty="0"/>
          </a:p>
        </p:txBody>
      </p:sp>
      <p:sp>
        <p:nvSpPr>
          <p:cNvPr id="12" name="Text 10"/>
          <p:cNvSpPr/>
          <p:nvPr/>
        </p:nvSpPr>
        <p:spPr>
          <a:xfrm>
            <a:off x="5349240" y="4681728"/>
            <a:ext cx="1508760" cy="548640"/>
          </a:xfrm>
          <a:prstGeom prst="rect">
            <a:avLst/>
          </a:prstGeom>
          <a:noFill/>
          <a:ln/>
        </p:spPr>
        <p:txBody>
          <a:bodyPr wrap="square" lIns="0" tIns="0" rIns="0" bIns="0" rtlCol="0" anchor="ctr"/>
          <a:lstStyle/>
          <a:p>
            <a:pPr indent="0" marL="0">
              <a:lnSpc>
                <a:spcPct val="115000"/>
              </a:lnSpc>
              <a:buNone/>
            </a:pPr>
            <a:r>
              <a:rPr lang="en-US" sz="950" dirty="0">
                <a:solidFill>
                  <a:srgbClr val="A9BCB2"/>
                </a:solidFill>
                <a:latin typeface="Calibri" pitchFamily="34" charset="0"/>
                <a:ea typeface="Calibri" pitchFamily="34" charset="-122"/>
                <a:cs typeface="Calibri" pitchFamily="34" charset="-120"/>
              </a:rPr>
              <a:t>Curriculum Coverage</a:t>
            </a:r>
            <a:endParaRPr lang="en-US" sz="950" dirty="0"/>
          </a:p>
        </p:txBody>
      </p:sp>
      <p:sp>
        <p:nvSpPr>
          <p:cNvPr id="13" name="Text 11"/>
          <p:cNvSpPr/>
          <p:nvPr/>
        </p:nvSpPr>
        <p:spPr>
          <a:xfrm>
            <a:off x="548640" y="5623560"/>
            <a:ext cx="6309360" cy="457200"/>
          </a:xfrm>
          <a:prstGeom prst="rect">
            <a:avLst/>
          </a:prstGeom>
          <a:noFill/>
          <a:ln/>
        </p:spPr>
        <p:txBody>
          <a:bodyPr wrap="square" rtlCol="0" anchor="ctr"/>
          <a:lstStyle/>
          <a:p>
            <a:pPr indent="0" marL="0">
              <a:buNone/>
            </a:pPr>
            <a:r>
              <a:rPr lang="en-US" sz="1200" i="1" dirty="0">
                <a:solidFill>
                  <a:srgbClr val="26C6DA"/>
                </a:solidFill>
                <a:latin typeface="Calibri" pitchFamily="34" charset="0"/>
                <a:ea typeface="Calibri" pitchFamily="34" charset="-122"/>
                <a:cs typeface="Calibri" pitchFamily="34" charset="-120"/>
              </a:rPr>
              <a:t>Built by a classroom teacher, for classrooms without reliable internet.</a:t>
            </a:r>
            <a:endParaRPr lang="en-US" sz="1200" dirty="0"/>
          </a:p>
        </p:txBody>
      </p:sp>
      <p:sp>
        <p:nvSpPr>
          <p:cNvPr id="14" name="Shape 12"/>
          <p:cNvSpPr/>
          <p:nvPr/>
        </p:nvSpPr>
        <p:spPr>
          <a:xfrm>
            <a:off x="7319772" y="827532"/>
            <a:ext cx="4379976" cy="2880360"/>
          </a:xfrm>
          <a:prstGeom prst="roundRect">
            <a:avLst>
              <a:gd name="adj" fmla="val 2857"/>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15" name="Image 0" descr="/home/claude/deck-assets/crop/01-home.png">    </p:cNvPr>
          <p:cNvPicPr>
            <a:picLocks noChangeAspect="1"/>
          </p:cNvPicPr>
          <p:nvPr/>
        </p:nvPicPr>
        <p:blipFill>
          <a:blip r:embed="rId1"/>
          <a:srcRect l="0" r="0" t="0" b="0"/>
          <a:stretch/>
        </p:blipFill>
        <p:spPr>
          <a:xfrm>
            <a:off x="7360920" y="868680"/>
            <a:ext cx="4297680" cy="2798064"/>
          </a:xfrm>
          <a:prstGeom prst="rect">
            <a:avLst/>
          </a:prstGeom>
        </p:spPr>
      </p:pic>
      <p:sp>
        <p:nvSpPr>
          <p:cNvPr id="16" name="Text 13"/>
          <p:cNvSpPr/>
          <p:nvPr/>
        </p:nvSpPr>
        <p:spPr>
          <a:xfrm>
            <a:off x="7360920" y="3730752"/>
            <a:ext cx="4297680" cy="274320"/>
          </a:xfrm>
          <a:prstGeom prst="rect">
            <a:avLst/>
          </a:prstGeom>
          <a:noFill/>
          <a:ln/>
        </p:spPr>
        <p:txBody>
          <a:bodyPr wrap="square" rtlCol="0" anchor="ctr"/>
          <a:lstStyle/>
          <a:p>
            <a:pPr algn="ctr" indent="0" marL="0">
              <a:buNone/>
            </a:pPr>
            <a:r>
              <a:rPr lang="en-US" sz="950" i="1" dirty="0">
                <a:solidFill>
                  <a:srgbClr val="75897F"/>
                </a:solidFill>
                <a:latin typeface="Calibri" pitchFamily="34" charset="0"/>
                <a:ea typeface="Calibri" pitchFamily="34" charset="-122"/>
                <a:cs typeface="Calibri" pitchFamily="34" charset="-120"/>
              </a:rPr>
              <a:t>Home Dashboard — the app’s starting point</a:t>
            </a:r>
            <a:endParaRPr lang="en-US" sz="950" dirty="0"/>
          </a:p>
        </p:txBody>
      </p:sp>
      <p:sp>
        <p:nvSpPr>
          <p:cNvPr id="17" name="Shape 14"/>
          <p:cNvSpPr/>
          <p:nvPr/>
        </p:nvSpPr>
        <p:spPr>
          <a:xfrm>
            <a:off x="7319772" y="4119372"/>
            <a:ext cx="4379976" cy="2770632"/>
          </a:xfrm>
          <a:prstGeom prst="roundRect">
            <a:avLst>
              <a:gd name="adj" fmla="val 2970"/>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18" name="Image 1" descr="/home/claude/deck-assets/00-splash.png">    </p:cNvPr>
          <p:cNvPicPr>
            <a:picLocks noChangeAspect="1"/>
          </p:cNvPicPr>
          <p:nvPr/>
        </p:nvPicPr>
        <p:blipFill>
          <a:blip r:embed="rId2"/>
          <a:srcRect l="0" r="0" t="0" b="0"/>
          <a:stretch/>
        </p:blipFill>
        <p:spPr>
          <a:xfrm>
            <a:off x="7360920" y="4160520"/>
            <a:ext cx="4297680" cy="2688336"/>
          </a:xfrm>
          <a:prstGeom prst="rect">
            <a:avLst/>
          </a:prstGeom>
        </p:spPr>
      </p:pic>
      <p:sp>
        <p:nvSpPr>
          <p:cNvPr id="19" name="Text 15"/>
          <p:cNvSpPr/>
          <p:nvPr/>
        </p:nvSpPr>
        <p:spPr>
          <a:xfrm>
            <a:off x="7360920" y="6912864"/>
            <a:ext cx="4297680" cy="274320"/>
          </a:xfrm>
          <a:prstGeom prst="rect">
            <a:avLst/>
          </a:prstGeom>
          <a:noFill/>
          <a:ln/>
        </p:spPr>
        <p:txBody>
          <a:bodyPr wrap="square" rtlCol="0" anchor="ctr"/>
          <a:lstStyle/>
          <a:p>
            <a:pPr algn="ctr" indent="0" marL="0">
              <a:buNone/>
            </a:pPr>
            <a:r>
              <a:rPr lang="en-US" sz="950" i="1" dirty="0">
                <a:solidFill>
                  <a:srgbClr val="75897F"/>
                </a:solidFill>
                <a:latin typeface="Calibri" pitchFamily="34" charset="0"/>
                <a:ea typeface="Calibri" pitchFamily="34" charset="-122"/>
                <a:cs typeface="Calibri" pitchFamily="34" charset="-120"/>
              </a:rPr>
              <a:t>Title screen with developer introduction</a:t>
            </a:r>
            <a:endParaRPr lang="en-US" sz="950" dirty="0"/>
          </a:p>
        </p:txBody>
      </p:sp>
      <p:sp>
        <p:nvSpPr>
          <p:cNvPr id="20" name="Text 1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03</a:t>
            </a:r>
            <a:endParaRPr lang="en-US" sz="1000" dirty="0"/>
          </a:p>
        </p:txBody>
      </p:sp>
      <p:sp>
        <p:nvSpPr>
          <p:cNvPr id="21" name="Text 17"/>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KEY FEATURES</a:t>
            </a:r>
            <a:endParaRPr lang="en-US" sz="1250" dirty="0"/>
          </a:p>
        </p:txBody>
      </p:sp>
      <p:sp>
        <p:nvSpPr>
          <p:cNvPr id="3" name="Text 1"/>
          <p:cNvSpPr/>
          <p:nvPr/>
        </p:nvSpPr>
        <p:spPr>
          <a:xfrm>
            <a:off x="548640" y="777240"/>
            <a:ext cx="9144000" cy="54864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Everything packed into one offline app</a:t>
            </a:r>
            <a:endParaRPr lang="en-US" sz="2800" dirty="0"/>
          </a:p>
        </p:txBody>
      </p:sp>
      <p:sp>
        <p:nvSpPr>
          <p:cNvPr id="4" name="Shape 2"/>
          <p:cNvSpPr/>
          <p:nvPr/>
        </p:nvSpPr>
        <p:spPr>
          <a:xfrm>
            <a:off x="548640" y="1508760"/>
            <a:ext cx="3593592" cy="2331720"/>
          </a:xfrm>
          <a:prstGeom prst="roundRect">
            <a:avLst>
              <a:gd name="adj" fmla="val 3922"/>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804672" y="1764792"/>
            <a:ext cx="512064" cy="512064"/>
          </a:xfrm>
          <a:prstGeom prst="ellipse">
            <a:avLst/>
          </a:prstGeom>
          <a:solidFill>
            <a:srgbClr val="1B3A2B"/>
          </a:solidFill>
          <a:ln w="19050">
            <a:solidFill>
              <a:srgbClr val="43A047"/>
            </a:solidFill>
            <a:prstDash val="solid"/>
          </a:ln>
        </p:spPr>
      </p:sp>
      <p:sp>
        <p:nvSpPr>
          <p:cNvPr id="6" name="Text 4"/>
          <p:cNvSpPr/>
          <p:nvPr/>
        </p:nvSpPr>
        <p:spPr>
          <a:xfrm>
            <a:off x="804672" y="1764792"/>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04672" y="2423160"/>
            <a:ext cx="3081528" cy="457200"/>
          </a:xfrm>
          <a:prstGeom prst="rect">
            <a:avLst/>
          </a:prstGeom>
          <a:noFill/>
          <a:ln/>
        </p:spPr>
        <p:txBody>
          <a:bodyPr wrap="square" lIns="0" tIns="0" rIns="0" bIns="0" rtlCol="0" anchor="ctr"/>
          <a:lstStyle/>
          <a:p>
            <a:pPr indent="0" marL="0">
              <a:buNone/>
            </a:pPr>
            <a:r>
              <a:rPr lang="en-US" sz="1450" b="1" dirty="0">
                <a:solidFill>
                  <a:srgbClr val="F7FAF9"/>
                </a:solidFill>
                <a:latin typeface="Calibri" pitchFamily="34" charset="0"/>
                <a:ea typeface="Calibri" pitchFamily="34" charset="-122"/>
                <a:cs typeface="Calibri" pitchFamily="34" charset="-120"/>
              </a:rPr>
              <a:t>10 Interactive Labs</a:t>
            </a:r>
            <a:endParaRPr lang="en-US" sz="1450" dirty="0"/>
          </a:p>
        </p:txBody>
      </p:sp>
      <p:sp>
        <p:nvSpPr>
          <p:cNvPr id="8" name="Text 6"/>
          <p:cNvSpPr/>
          <p:nvPr/>
        </p:nvSpPr>
        <p:spPr>
          <a:xfrm>
            <a:off x="804672" y="2862072"/>
            <a:ext cx="3081528" cy="868680"/>
          </a:xfrm>
          <a:prstGeom prst="rect">
            <a:avLst/>
          </a:prstGeom>
          <a:noFill/>
          <a:ln/>
        </p:spPr>
        <p:txBody>
          <a:bodyPr wrap="square" lIns="0" tIns="0" rIns="0" bIns="0" rtlCol="0" anchor="ctr"/>
          <a:lstStyle/>
          <a:p>
            <a:pPr indent="0" marL="0">
              <a:lnSpc>
                <a:spcPct val="125000"/>
              </a:lnSpc>
              <a:buNone/>
            </a:pPr>
            <a:r>
              <a:rPr lang="en-US" sz="1100" dirty="0">
                <a:solidFill>
                  <a:srgbClr val="A9BCB2"/>
                </a:solidFill>
                <a:latin typeface="Calibri" pitchFamily="34" charset="0"/>
                <a:ea typeface="Calibri" pitchFamily="34" charset="-122"/>
                <a:cs typeface="Calibri" pitchFamily="34" charset="-120"/>
              </a:rPr>
              <a:t>Real adjustable variables driving live canvas visualisations — not animations or slideshows.</a:t>
            </a:r>
            <a:endParaRPr lang="en-US" sz="1100" dirty="0"/>
          </a:p>
        </p:txBody>
      </p:sp>
      <p:sp>
        <p:nvSpPr>
          <p:cNvPr id="9" name="Shape 7"/>
          <p:cNvSpPr/>
          <p:nvPr/>
        </p:nvSpPr>
        <p:spPr>
          <a:xfrm>
            <a:off x="4398264" y="1508760"/>
            <a:ext cx="3593592" cy="2331720"/>
          </a:xfrm>
          <a:prstGeom prst="roundRect">
            <a:avLst>
              <a:gd name="adj" fmla="val 3922"/>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sp>
        <p:nvSpPr>
          <p:cNvPr id="10" name="Shape 8"/>
          <p:cNvSpPr/>
          <p:nvPr/>
        </p:nvSpPr>
        <p:spPr>
          <a:xfrm>
            <a:off x="4654296" y="1764792"/>
            <a:ext cx="512064" cy="512064"/>
          </a:xfrm>
          <a:prstGeom prst="ellipse">
            <a:avLst/>
          </a:prstGeom>
          <a:solidFill>
            <a:srgbClr val="1B3A2B"/>
          </a:solidFill>
          <a:ln w="19050">
            <a:solidFill>
              <a:srgbClr val="43A047"/>
            </a:solidFill>
            <a:prstDash val="solid"/>
          </a:ln>
        </p:spPr>
      </p:sp>
      <p:sp>
        <p:nvSpPr>
          <p:cNvPr id="11" name="Text 9"/>
          <p:cNvSpPr/>
          <p:nvPr/>
        </p:nvSpPr>
        <p:spPr>
          <a:xfrm>
            <a:off x="4654296" y="1764792"/>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4654296" y="2423160"/>
            <a:ext cx="3081528" cy="457200"/>
          </a:xfrm>
          <a:prstGeom prst="rect">
            <a:avLst/>
          </a:prstGeom>
          <a:noFill/>
          <a:ln/>
        </p:spPr>
        <p:txBody>
          <a:bodyPr wrap="square" lIns="0" tIns="0" rIns="0" bIns="0" rtlCol="0" anchor="ctr"/>
          <a:lstStyle/>
          <a:p>
            <a:pPr indent="0" marL="0">
              <a:buNone/>
            </a:pPr>
            <a:r>
              <a:rPr lang="en-US" sz="1450" b="1" dirty="0">
                <a:solidFill>
                  <a:srgbClr val="F7FAF9"/>
                </a:solidFill>
                <a:latin typeface="Calibri" pitchFamily="34" charset="0"/>
                <a:ea typeface="Calibri" pitchFamily="34" charset="-122"/>
                <a:cs typeface="Calibri" pitchFamily="34" charset="-120"/>
              </a:rPr>
              <a:t>Fully Offline PWA</a:t>
            </a:r>
            <a:endParaRPr lang="en-US" sz="1450" dirty="0"/>
          </a:p>
        </p:txBody>
      </p:sp>
      <p:sp>
        <p:nvSpPr>
          <p:cNvPr id="13" name="Text 11"/>
          <p:cNvSpPr/>
          <p:nvPr/>
        </p:nvSpPr>
        <p:spPr>
          <a:xfrm>
            <a:off x="4654296" y="2862072"/>
            <a:ext cx="3081528" cy="868680"/>
          </a:xfrm>
          <a:prstGeom prst="rect">
            <a:avLst/>
          </a:prstGeom>
          <a:noFill/>
          <a:ln/>
        </p:spPr>
        <p:txBody>
          <a:bodyPr wrap="square" lIns="0" tIns="0" rIns="0" bIns="0" rtlCol="0" anchor="ctr"/>
          <a:lstStyle/>
          <a:p>
            <a:pPr indent="0" marL="0">
              <a:lnSpc>
                <a:spcPct val="125000"/>
              </a:lnSpc>
              <a:buNone/>
            </a:pPr>
            <a:r>
              <a:rPr lang="en-US" sz="1100" dirty="0">
                <a:solidFill>
                  <a:srgbClr val="A9BCB2"/>
                </a:solidFill>
                <a:latin typeface="Calibri" pitchFamily="34" charset="0"/>
                <a:ea typeface="Calibri" pitchFamily="34" charset="-122"/>
                <a:cs typeface="Calibri" pitchFamily="34" charset="-120"/>
              </a:rPr>
              <a:t>No backend, no APIs, no login. A service worker caches every asset for one-tap offline use.</a:t>
            </a:r>
            <a:endParaRPr lang="en-US" sz="1100" dirty="0"/>
          </a:p>
        </p:txBody>
      </p:sp>
      <p:sp>
        <p:nvSpPr>
          <p:cNvPr id="14" name="Shape 12"/>
          <p:cNvSpPr/>
          <p:nvPr/>
        </p:nvSpPr>
        <p:spPr>
          <a:xfrm>
            <a:off x="8247888" y="1508760"/>
            <a:ext cx="3593592" cy="2331720"/>
          </a:xfrm>
          <a:prstGeom prst="roundRect">
            <a:avLst>
              <a:gd name="adj" fmla="val 3922"/>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sp>
        <p:nvSpPr>
          <p:cNvPr id="15" name="Shape 13"/>
          <p:cNvSpPr/>
          <p:nvPr/>
        </p:nvSpPr>
        <p:spPr>
          <a:xfrm>
            <a:off x="8503920" y="1764792"/>
            <a:ext cx="512064" cy="512064"/>
          </a:xfrm>
          <a:prstGeom prst="ellipse">
            <a:avLst/>
          </a:prstGeom>
          <a:solidFill>
            <a:srgbClr val="1B3A2B"/>
          </a:solidFill>
          <a:ln w="19050">
            <a:solidFill>
              <a:srgbClr val="43A047"/>
            </a:solidFill>
            <a:prstDash val="solid"/>
          </a:ln>
        </p:spPr>
      </p:sp>
      <p:sp>
        <p:nvSpPr>
          <p:cNvPr id="16" name="Text 14"/>
          <p:cNvSpPr/>
          <p:nvPr/>
        </p:nvSpPr>
        <p:spPr>
          <a:xfrm>
            <a:off x="8503920" y="1764792"/>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503920" y="2423160"/>
            <a:ext cx="3081528" cy="457200"/>
          </a:xfrm>
          <a:prstGeom prst="rect">
            <a:avLst/>
          </a:prstGeom>
          <a:noFill/>
          <a:ln/>
        </p:spPr>
        <p:txBody>
          <a:bodyPr wrap="square" lIns="0" tIns="0" rIns="0" bIns="0" rtlCol="0" anchor="ctr"/>
          <a:lstStyle/>
          <a:p>
            <a:pPr indent="0" marL="0">
              <a:buNone/>
            </a:pPr>
            <a:r>
              <a:rPr lang="en-US" sz="1450" b="1" dirty="0">
                <a:solidFill>
                  <a:srgbClr val="F7FAF9"/>
                </a:solidFill>
                <a:latin typeface="Calibri" pitchFamily="34" charset="0"/>
                <a:ea typeface="Calibri" pitchFamily="34" charset="-122"/>
                <a:cs typeface="Calibri" pitchFamily="34" charset="-120"/>
              </a:rPr>
              <a:t>XP &amp; Gamification</a:t>
            </a:r>
            <a:endParaRPr lang="en-US" sz="1450" dirty="0"/>
          </a:p>
        </p:txBody>
      </p:sp>
      <p:sp>
        <p:nvSpPr>
          <p:cNvPr id="18" name="Text 16"/>
          <p:cNvSpPr/>
          <p:nvPr/>
        </p:nvSpPr>
        <p:spPr>
          <a:xfrm>
            <a:off x="8503920" y="2862072"/>
            <a:ext cx="3081528" cy="868680"/>
          </a:xfrm>
          <a:prstGeom prst="rect">
            <a:avLst/>
          </a:prstGeom>
          <a:noFill/>
          <a:ln/>
        </p:spPr>
        <p:txBody>
          <a:bodyPr wrap="square" lIns="0" tIns="0" rIns="0" bIns="0" rtlCol="0" anchor="ctr"/>
          <a:lstStyle/>
          <a:p>
            <a:pPr indent="0" marL="0">
              <a:lnSpc>
                <a:spcPct val="125000"/>
              </a:lnSpc>
              <a:buNone/>
            </a:pPr>
            <a:r>
              <a:rPr lang="en-US" sz="1100" dirty="0">
                <a:solidFill>
                  <a:srgbClr val="A9BCB2"/>
                </a:solidFill>
                <a:latin typeface="Calibri" pitchFamily="34" charset="0"/>
                <a:ea typeface="Calibri" pitchFamily="34" charset="-122"/>
                <a:cs typeface="Calibri" pitchFamily="34" charset="-120"/>
              </a:rPr>
              <a:t>Levels, geologist ranks, completion badges and streaks reward consistent investigation.</a:t>
            </a:r>
            <a:endParaRPr lang="en-US" sz="1100" dirty="0"/>
          </a:p>
        </p:txBody>
      </p:sp>
      <p:sp>
        <p:nvSpPr>
          <p:cNvPr id="19" name="Shape 17"/>
          <p:cNvSpPr/>
          <p:nvPr/>
        </p:nvSpPr>
        <p:spPr>
          <a:xfrm>
            <a:off x="548640" y="4096512"/>
            <a:ext cx="3593592" cy="2331720"/>
          </a:xfrm>
          <a:prstGeom prst="roundRect">
            <a:avLst>
              <a:gd name="adj" fmla="val 3922"/>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sp>
        <p:nvSpPr>
          <p:cNvPr id="20" name="Shape 18"/>
          <p:cNvSpPr/>
          <p:nvPr/>
        </p:nvSpPr>
        <p:spPr>
          <a:xfrm>
            <a:off x="804672" y="4352544"/>
            <a:ext cx="512064" cy="512064"/>
          </a:xfrm>
          <a:prstGeom prst="ellipse">
            <a:avLst/>
          </a:prstGeom>
          <a:solidFill>
            <a:srgbClr val="1B3A2B"/>
          </a:solidFill>
          <a:ln w="19050">
            <a:solidFill>
              <a:srgbClr val="43A047"/>
            </a:solidFill>
            <a:prstDash val="solid"/>
          </a:ln>
        </p:spPr>
      </p:sp>
      <p:sp>
        <p:nvSpPr>
          <p:cNvPr id="21" name="Text 19"/>
          <p:cNvSpPr/>
          <p:nvPr/>
        </p:nvSpPr>
        <p:spPr>
          <a:xfrm>
            <a:off x="804672" y="4352544"/>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04672" y="5010912"/>
            <a:ext cx="3081528" cy="457200"/>
          </a:xfrm>
          <a:prstGeom prst="rect">
            <a:avLst/>
          </a:prstGeom>
          <a:noFill/>
          <a:ln/>
        </p:spPr>
        <p:txBody>
          <a:bodyPr wrap="square" lIns="0" tIns="0" rIns="0" bIns="0" rtlCol="0" anchor="ctr"/>
          <a:lstStyle/>
          <a:p>
            <a:pPr indent="0" marL="0">
              <a:buNone/>
            </a:pPr>
            <a:r>
              <a:rPr lang="en-US" sz="1450" b="1" dirty="0">
                <a:solidFill>
                  <a:srgbClr val="F7FAF9"/>
                </a:solidFill>
                <a:latin typeface="Calibri" pitchFamily="34" charset="0"/>
                <a:ea typeface="Calibri" pitchFamily="34" charset="-122"/>
                <a:cs typeface="Calibri" pitchFamily="34" charset="-120"/>
              </a:rPr>
              <a:t>Adaptive Mini-Quizzes</a:t>
            </a:r>
            <a:endParaRPr lang="en-US" sz="1450" dirty="0"/>
          </a:p>
        </p:txBody>
      </p:sp>
      <p:sp>
        <p:nvSpPr>
          <p:cNvPr id="23" name="Text 21"/>
          <p:cNvSpPr/>
          <p:nvPr/>
        </p:nvSpPr>
        <p:spPr>
          <a:xfrm>
            <a:off x="804672" y="5449824"/>
            <a:ext cx="3081528" cy="868680"/>
          </a:xfrm>
          <a:prstGeom prst="rect">
            <a:avLst/>
          </a:prstGeom>
          <a:noFill/>
          <a:ln/>
        </p:spPr>
        <p:txBody>
          <a:bodyPr wrap="square" lIns="0" tIns="0" rIns="0" bIns="0" rtlCol="0" anchor="ctr"/>
          <a:lstStyle/>
          <a:p>
            <a:pPr indent="0" marL="0">
              <a:lnSpc>
                <a:spcPct val="125000"/>
              </a:lnSpc>
              <a:buNone/>
            </a:pPr>
            <a:r>
              <a:rPr lang="en-US" sz="1100" dirty="0">
                <a:solidFill>
                  <a:srgbClr val="A9BCB2"/>
                </a:solidFill>
                <a:latin typeface="Calibri" pitchFamily="34" charset="0"/>
                <a:ea typeface="Calibri" pitchFamily="34" charset="-122"/>
                <a:cs typeface="Calibri" pitchFamily="34" charset="-120"/>
              </a:rPr>
              <a:t>Every simulation ends with 5 scored questions and instant, explained feedback.</a:t>
            </a:r>
            <a:endParaRPr lang="en-US" sz="1100" dirty="0"/>
          </a:p>
        </p:txBody>
      </p:sp>
      <p:sp>
        <p:nvSpPr>
          <p:cNvPr id="24" name="Shape 22"/>
          <p:cNvSpPr/>
          <p:nvPr/>
        </p:nvSpPr>
        <p:spPr>
          <a:xfrm>
            <a:off x="4398264" y="4096512"/>
            <a:ext cx="3593592" cy="2331720"/>
          </a:xfrm>
          <a:prstGeom prst="roundRect">
            <a:avLst>
              <a:gd name="adj" fmla="val 3922"/>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sp>
        <p:nvSpPr>
          <p:cNvPr id="25" name="Shape 23"/>
          <p:cNvSpPr/>
          <p:nvPr/>
        </p:nvSpPr>
        <p:spPr>
          <a:xfrm>
            <a:off x="4654296" y="4352544"/>
            <a:ext cx="512064" cy="512064"/>
          </a:xfrm>
          <a:prstGeom prst="ellipse">
            <a:avLst/>
          </a:prstGeom>
          <a:solidFill>
            <a:srgbClr val="1B3A2B"/>
          </a:solidFill>
          <a:ln w="19050">
            <a:solidFill>
              <a:srgbClr val="43A047"/>
            </a:solidFill>
            <a:prstDash val="solid"/>
          </a:ln>
        </p:spPr>
      </p:sp>
      <p:sp>
        <p:nvSpPr>
          <p:cNvPr id="26" name="Text 24"/>
          <p:cNvSpPr/>
          <p:nvPr/>
        </p:nvSpPr>
        <p:spPr>
          <a:xfrm>
            <a:off x="4654296" y="4352544"/>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4654296" y="5010912"/>
            <a:ext cx="3081528" cy="457200"/>
          </a:xfrm>
          <a:prstGeom prst="rect">
            <a:avLst/>
          </a:prstGeom>
          <a:noFill/>
          <a:ln/>
        </p:spPr>
        <p:txBody>
          <a:bodyPr wrap="square" lIns="0" tIns="0" rIns="0" bIns="0" rtlCol="0" anchor="ctr"/>
          <a:lstStyle/>
          <a:p>
            <a:pPr indent="0" marL="0">
              <a:buNone/>
            </a:pPr>
            <a:r>
              <a:rPr lang="en-US" sz="1450" b="1" dirty="0">
                <a:solidFill>
                  <a:srgbClr val="F7FAF9"/>
                </a:solidFill>
                <a:latin typeface="Calibri" pitchFamily="34" charset="0"/>
                <a:ea typeface="Calibri" pitchFamily="34" charset="-122"/>
                <a:cs typeface="Calibri" pitchFamily="34" charset="-120"/>
              </a:rPr>
              <a:t>Data Tables &amp; Graphs</a:t>
            </a:r>
            <a:endParaRPr lang="en-US" sz="1450" dirty="0"/>
          </a:p>
        </p:txBody>
      </p:sp>
      <p:sp>
        <p:nvSpPr>
          <p:cNvPr id="28" name="Text 26"/>
          <p:cNvSpPr/>
          <p:nvPr/>
        </p:nvSpPr>
        <p:spPr>
          <a:xfrm>
            <a:off x="4654296" y="5449824"/>
            <a:ext cx="3081528" cy="868680"/>
          </a:xfrm>
          <a:prstGeom prst="rect">
            <a:avLst/>
          </a:prstGeom>
          <a:noFill/>
          <a:ln/>
        </p:spPr>
        <p:txBody>
          <a:bodyPr wrap="square" lIns="0" tIns="0" rIns="0" bIns="0" rtlCol="0" anchor="ctr"/>
          <a:lstStyle/>
          <a:p>
            <a:pPr indent="0" marL="0">
              <a:lnSpc>
                <a:spcPct val="125000"/>
              </a:lnSpc>
              <a:buNone/>
            </a:pPr>
            <a:r>
              <a:rPr lang="en-US" sz="1100" dirty="0">
                <a:solidFill>
                  <a:srgbClr val="A9BCB2"/>
                </a:solidFill>
                <a:latin typeface="Calibri" pitchFamily="34" charset="0"/>
                <a:ea typeface="Calibri" pitchFamily="34" charset="-122"/>
                <a:cs typeface="Calibri" pitchFamily="34" charset="-120"/>
              </a:rPr>
              <a:t>Each lab logs observations automatically into exportable tables and live charts.</a:t>
            </a:r>
            <a:endParaRPr lang="en-US" sz="1100" dirty="0"/>
          </a:p>
        </p:txBody>
      </p:sp>
      <p:sp>
        <p:nvSpPr>
          <p:cNvPr id="29" name="Shape 27"/>
          <p:cNvSpPr/>
          <p:nvPr/>
        </p:nvSpPr>
        <p:spPr>
          <a:xfrm>
            <a:off x="8247888" y="4096512"/>
            <a:ext cx="3593592" cy="2331720"/>
          </a:xfrm>
          <a:prstGeom prst="roundRect">
            <a:avLst>
              <a:gd name="adj" fmla="val 3922"/>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sp>
        <p:nvSpPr>
          <p:cNvPr id="30" name="Shape 28"/>
          <p:cNvSpPr/>
          <p:nvPr/>
        </p:nvSpPr>
        <p:spPr>
          <a:xfrm>
            <a:off x="8503920" y="4352544"/>
            <a:ext cx="512064" cy="512064"/>
          </a:xfrm>
          <a:prstGeom prst="ellipse">
            <a:avLst/>
          </a:prstGeom>
          <a:solidFill>
            <a:srgbClr val="1B3A2B"/>
          </a:solidFill>
          <a:ln w="19050">
            <a:solidFill>
              <a:srgbClr val="43A047"/>
            </a:solidFill>
            <a:prstDash val="solid"/>
          </a:ln>
        </p:spPr>
      </p:sp>
      <p:sp>
        <p:nvSpPr>
          <p:cNvPr id="31" name="Text 29"/>
          <p:cNvSpPr/>
          <p:nvPr/>
        </p:nvSpPr>
        <p:spPr>
          <a:xfrm>
            <a:off x="8503920" y="4352544"/>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8503920" y="5010912"/>
            <a:ext cx="3081528" cy="457200"/>
          </a:xfrm>
          <a:prstGeom prst="rect">
            <a:avLst/>
          </a:prstGeom>
          <a:noFill/>
          <a:ln/>
        </p:spPr>
        <p:txBody>
          <a:bodyPr wrap="square" lIns="0" tIns="0" rIns="0" bIns="0" rtlCol="0" anchor="ctr"/>
          <a:lstStyle/>
          <a:p>
            <a:pPr indent="0" marL="0">
              <a:buNone/>
            </a:pPr>
            <a:r>
              <a:rPr lang="en-US" sz="1450" b="1" dirty="0">
                <a:solidFill>
                  <a:srgbClr val="F7FAF9"/>
                </a:solidFill>
                <a:latin typeface="Calibri" pitchFamily="34" charset="0"/>
                <a:ea typeface="Calibri" pitchFamily="34" charset="-122"/>
                <a:cs typeface="Calibri" pitchFamily="34" charset="-120"/>
              </a:rPr>
              <a:t>Handbook, Gallery &amp; Glossary</a:t>
            </a:r>
            <a:endParaRPr lang="en-US" sz="1450" dirty="0"/>
          </a:p>
        </p:txBody>
      </p:sp>
      <p:sp>
        <p:nvSpPr>
          <p:cNvPr id="33" name="Text 31"/>
          <p:cNvSpPr/>
          <p:nvPr/>
        </p:nvSpPr>
        <p:spPr>
          <a:xfrm>
            <a:off x="8503920" y="5449824"/>
            <a:ext cx="3081528" cy="868680"/>
          </a:xfrm>
          <a:prstGeom prst="rect">
            <a:avLst/>
          </a:prstGeom>
          <a:noFill/>
          <a:ln/>
        </p:spPr>
        <p:txBody>
          <a:bodyPr wrap="square" lIns="0" tIns="0" rIns="0" bIns="0" rtlCol="0" anchor="ctr"/>
          <a:lstStyle/>
          <a:p>
            <a:pPr indent="0" marL="0">
              <a:lnSpc>
                <a:spcPct val="125000"/>
              </a:lnSpc>
              <a:buNone/>
            </a:pPr>
            <a:r>
              <a:rPr lang="en-US" sz="1100" dirty="0">
                <a:solidFill>
                  <a:srgbClr val="A9BCB2"/>
                </a:solidFill>
                <a:latin typeface="Calibri" pitchFamily="34" charset="0"/>
                <a:ea typeface="Calibri" pitchFamily="34" charset="-122"/>
                <a:cs typeface="Calibri" pitchFamily="34" charset="-120"/>
              </a:rPr>
              <a:t>Ten reference chapters, a rock/mineral gallery and a searchable glossary back every lab.</a:t>
            </a:r>
            <a:endParaRPr lang="en-US" sz="1100" dirty="0"/>
          </a:p>
        </p:txBody>
      </p:sp>
      <p:sp>
        <p:nvSpPr>
          <p:cNvPr id="34" name="Text 3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04</a:t>
            </a:r>
            <a:endParaRPr lang="en-US" sz="1000" dirty="0"/>
          </a:p>
        </p:txBody>
      </p:sp>
      <p:sp>
        <p:nvSpPr>
          <p:cNvPr id="35" name="Text 33"/>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AUDIENCE</a:t>
            </a:r>
            <a:endParaRPr lang="en-US" sz="1250" dirty="0"/>
          </a:p>
        </p:txBody>
      </p:sp>
      <p:sp>
        <p:nvSpPr>
          <p:cNvPr id="3" name="Text 1"/>
          <p:cNvSpPr/>
          <p:nvPr/>
        </p:nvSpPr>
        <p:spPr>
          <a:xfrm>
            <a:off x="548640" y="777240"/>
            <a:ext cx="6400800" cy="822960"/>
          </a:xfrm>
          <a:prstGeom prst="rect">
            <a:avLst/>
          </a:prstGeom>
          <a:noFill/>
          <a:ln/>
        </p:spPr>
        <p:txBody>
          <a:bodyPr wrap="square" rtlCol="0" anchor="ctr"/>
          <a:lstStyle/>
          <a:p>
            <a:pPr indent="0" marL="0">
              <a:lnSpc>
                <a:spcPct val="110000"/>
              </a:lnSpc>
              <a:buNone/>
            </a:pPr>
            <a:r>
              <a:rPr lang="en-US" sz="2700" b="1" dirty="0">
                <a:solidFill>
                  <a:srgbClr val="F7FAF9"/>
                </a:solidFill>
                <a:latin typeface="Calibri" pitchFamily="34" charset="0"/>
                <a:ea typeface="Calibri" pitchFamily="34" charset="-122"/>
                <a:cs typeface="Calibri" pitchFamily="34" charset="-120"/>
              </a:rPr>
              <a:t>Built for classrooms across Classes VI–XII</a:t>
            </a:r>
            <a:endParaRPr lang="en-US" sz="2700" dirty="0"/>
          </a:p>
        </p:txBody>
      </p:sp>
      <p:sp>
        <p:nvSpPr>
          <p:cNvPr id="4" name="Text 2"/>
          <p:cNvSpPr/>
          <p:nvPr/>
        </p:nvSpPr>
        <p:spPr>
          <a:xfrm>
            <a:off x="548640" y="1691640"/>
            <a:ext cx="6035040" cy="914400"/>
          </a:xfrm>
          <a:prstGeom prst="rect">
            <a:avLst/>
          </a:prstGeom>
          <a:noFill/>
          <a:ln/>
        </p:spPr>
        <p:txBody>
          <a:bodyPr wrap="square" rtlCol="0" anchor="ctr"/>
          <a:lstStyle/>
          <a:p>
            <a:pPr indent="0" marL="0">
              <a:lnSpc>
                <a:spcPct val="130000"/>
              </a:lnSpc>
              <a:buNone/>
            </a:pPr>
            <a:r>
              <a:rPr lang="en-US" sz="1300" dirty="0">
                <a:solidFill>
                  <a:srgbClr val="DCE7E1"/>
                </a:solidFill>
                <a:latin typeface="Calibri" pitchFamily="34" charset="0"/>
                <a:ea typeface="Calibri" pitchFamily="34" charset="-122"/>
                <a:cs typeface="Calibri" pitchFamily="34" charset="-120"/>
              </a:rPr>
              <a:t>Designed as a single shared tool that scales from a middle-school introduction to rocks, all the way to exam-focused revision of plate tectonics and seismology.</a:t>
            </a:r>
            <a:endParaRPr lang="en-US" sz="1300" dirty="0"/>
          </a:p>
        </p:txBody>
      </p:sp>
      <p:sp>
        <p:nvSpPr>
          <p:cNvPr id="5" name="Text 3"/>
          <p:cNvSpPr/>
          <p:nvPr/>
        </p:nvSpPr>
        <p:spPr>
          <a:xfrm>
            <a:off x="548640" y="2697480"/>
            <a:ext cx="5852160" cy="3200400"/>
          </a:xfrm>
          <a:prstGeom prst="rect">
            <a:avLst/>
          </a:prstGeom>
          <a:noFill/>
          <a:ln/>
        </p:spPr>
        <p:txBody>
          <a:bodyPr wrap="square" lIns="0" tIns="0" rIns="0" bIns="0" rtlCol="0" anchor="t"/>
          <a:lstStyle/>
          <a:p>
            <a:pPr marL="177800" indent="-177800">
              <a:lnSpc>
                <a:spcPct val="108000"/>
              </a:lnSpc>
              <a:spcAft>
                <a:spcPts val="1400"/>
              </a:spcAft>
              <a:buSzPct val="100000"/>
              <a:buChar char="▪"/>
            </a:pPr>
            <a:r>
              <a:rPr lang="en-US" sz="1400" dirty="0">
                <a:solidFill>
                  <a:srgbClr val="DCE7E1"/>
                </a:solidFill>
                <a:latin typeface="Calibri" pitchFamily="34" charset="0"/>
                <a:ea typeface="Calibri" pitchFamily="34" charset="-122"/>
                <a:cs typeface="Calibri" pitchFamily="34" charset="-120"/>
              </a:rPr>
              <a:t>Students, Classes VI–XII</a:t>
            </a:r>
            <a:endParaRPr lang="en-US" sz="1400" dirty="0"/>
          </a:p>
          <a:p>
            <a:pPr marL="177800" indent="-177800">
              <a:lnSpc>
                <a:spcPct val="108000"/>
              </a:lnSpc>
              <a:spcAft>
                <a:spcPts val="1400"/>
              </a:spcAft>
              <a:buSzPct val="100000"/>
              <a:buChar char="▪"/>
            </a:pPr>
            <a:r>
              <a:rPr lang="en-US" sz="1400" dirty="0">
                <a:solidFill>
                  <a:srgbClr val="DCE7E1"/>
                </a:solidFill>
                <a:latin typeface="Calibri" pitchFamily="34" charset="0"/>
                <a:ea typeface="Calibri" pitchFamily="34" charset="-122"/>
                <a:cs typeface="Calibri" pitchFamily="34" charset="-120"/>
              </a:rPr>
              <a:t>Classroom teachers &amp; DIET faculty</a:t>
            </a:r>
            <a:endParaRPr lang="en-US" sz="1400" dirty="0"/>
          </a:p>
          <a:p>
            <a:pPr marL="177800" indent="-177800">
              <a:lnSpc>
                <a:spcPct val="108000"/>
              </a:lnSpc>
              <a:spcAft>
                <a:spcPts val="1400"/>
              </a:spcAft>
              <a:buSzPct val="100000"/>
              <a:buChar char="▪"/>
            </a:pPr>
            <a:r>
              <a:rPr lang="en-US" sz="1400" dirty="0">
                <a:solidFill>
                  <a:srgbClr val="DCE7E1"/>
                </a:solidFill>
                <a:latin typeface="Calibri" pitchFamily="34" charset="0"/>
                <a:ea typeface="Calibri" pitchFamily="34" charset="-122"/>
                <a:cs typeface="Calibri" pitchFamily="34" charset="-120"/>
              </a:rPr>
              <a:t>Science and Geography clubs</a:t>
            </a:r>
            <a:endParaRPr lang="en-US" sz="1400" dirty="0"/>
          </a:p>
          <a:p>
            <a:pPr marL="177800" indent="-177800">
              <a:lnSpc>
                <a:spcPct val="108000"/>
              </a:lnSpc>
              <a:spcAft>
                <a:spcPts val="1400"/>
              </a:spcAft>
              <a:buSzPct val="100000"/>
              <a:buChar char="▪"/>
            </a:pPr>
            <a:r>
              <a:rPr lang="en-US" sz="1400" dirty="0">
                <a:solidFill>
                  <a:srgbClr val="DCE7E1"/>
                </a:solidFill>
                <a:latin typeface="Calibri" pitchFamily="34" charset="0"/>
                <a:ea typeface="Calibri" pitchFamily="34" charset="-122"/>
                <a:cs typeface="Calibri" pitchFamily="34" charset="-120"/>
              </a:rPr>
              <a:t>Smart-classroom / smart-board sessions</a:t>
            </a:r>
            <a:endParaRPr lang="en-US" sz="1400" dirty="0"/>
          </a:p>
          <a:p>
            <a:pPr marL="177800" indent="-177800">
              <a:lnSpc>
                <a:spcPct val="108000"/>
              </a:lnSpc>
              <a:spcAft>
                <a:spcPts val="1400"/>
              </a:spcAft>
              <a:buSzPct val="100000"/>
              <a:buChar char="▪"/>
            </a:pPr>
            <a:r>
              <a:rPr lang="en-US" sz="1400" dirty="0">
                <a:solidFill>
                  <a:srgbClr val="DCE7E1"/>
                </a:solidFill>
                <a:latin typeface="Calibri" pitchFamily="34" charset="0"/>
                <a:ea typeface="Calibri" pitchFamily="34" charset="-122"/>
                <a:cs typeface="Calibri" pitchFamily="34" charset="-120"/>
              </a:rPr>
              <a:t>Science exhibitions and fairs</a:t>
            </a:r>
            <a:endParaRPr lang="en-US" sz="1400" dirty="0"/>
          </a:p>
          <a:p>
            <a:pPr marL="177800" indent="-177800">
              <a:lnSpc>
                <a:spcPct val="108000"/>
              </a:lnSpc>
              <a:spcAft>
                <a:spcPts val="1400"/>
              </a:spcAft>
              <a:buSzPct val="100000"/>
              <a:buChar char="▪"/>
            </a:pPr>
            <a:r>
              <a:rPr lang="en-US" sz="1400" dirty="0">
                <a:solidFill>
                  <a:srgbClr val="DCE7E1"/>
                </a:solidFill>
                <a:latin typeface="Calibri" pitchFamily="34" charset="0"/>
                <a:ea typeface="Calibri" pitchFamily="34" charset="-122"/>
                <a:cs typeface="Calibri" pitchFamily="34" charset="-120"/>
              </a:rPr>
              <a:t>Competitive exam aspirants</a:t>
            </a:r>
            <a:endParaRPr lang="en-US" sz="1400" dirty="0"/>
          </a:p>
        </p:txBody>
      </p:sp>
      <p:sp>
        <p:nvSpPr>
          <p:cNvPr id="6" name="Shape 4"/>
          <p:cNvSpPr/>
          <p:nvPr/>
        </p:nvSpPr>
        <p:spPr>
          <a:xfrm>
            <a:off x="6862572" y="827532"/>
            <a:ext cx="4837176" cy="3191256"/>
          </a:xfrm>
          <a:prstGeom prst="roundRect">
            <a:avLst>
              <a:gd name="adj" fmla="val 257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7" name="Image 0" descr="/home/claude/deck-assets/crop/section-handbook.png">    </p:cNvPr>
          <p:cNvPicPr>
            <a:picLocks noChangeAspect="1"/>
          </p:cNvPicPr>
          <p:nvPr/>
        </p:nvPicPr>
        <p:blipFill>
          <a:blip r:embed="rId1"/>
          <a:srcRect l="0" r="0" t="0" b="0"/>
          <a:stretch/>
        </p:blipFill>
        <p:spPr>
          <a:xfrm>
            <a:off x="6903720" y="868680"/>
            <a:ext cx="4754880" cy="3108960"/>
          </a:xfrm>
          <a:prstGeom prst="rect">
            <a:avLst/>
          </a:prstGeom>
        </p:spPr>
      </p:pic>
      <p:sp>
        <p:nvSpPr>
          <p:cNvPr id="8" name="Text 5"/>
          <p:cNvSpPr/>
          <p:nvPr/>
        </p:nvSpPr>
        <p:spPr>
          <a:xfrm>
            <a:off x="6903720" y="4041648"/>
            <a:ext cx="4754880" cy="502920"/>
          </a:xfrm>
          <a:prstGeom prst="rect">
            <a:avLst/>
          </a:prstGeom>
          <a:noFill/>
          <a:ln/>
        </p:spPr>
        <p:txBody>
          <a:bodyPr wrap="square" rtlCol="0" anchor="ctr"/>
          <a:lstStyle/>
          <a:p>
            <a:pPr algn="ctr" indent="0" marL="0">
              <a:lnSpc>
                <a:spcPct val="120000"/>
              </a:lnSpc>
              <a:buNone/>
            </a:pPr>
            <a:r>
              <a:rPr lang="en-US" sz="1050" i="1" dirty="0">
                <a:solidFill>
                  <a:srgbClr val="75897F"/>
                </a:solidFill>
                <a:latin typeface="Calibri" pitchFamily="34" charset="0"/>
                <a:ea typeface="Calibri" pitchFamily="34" charset="-122"/>
                <a:cs typeface="Calibri" pitchFamily="34" charset="-120"/>
              </a:rPr>
              <a:t>Every lab is backed by the Earth Science Handbook — ten reference chapters mapped to the syllabus</a:t>
            </a:r>
            <a:endParaRPr lang="en-US" sz="1050" dirty="0"/>
          </a:p>
        </p:txBody>
      </p:sp>
      <p:sp>
        <p:nvSpPr>
          <p:cNvPr id="9" name="Text 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05</a:t>
            </a:r>
            <a:endParaRPr lang="en-US" sz="1000" dirty="0"/>
          </a:p>
        </p:txBody>
      </p:sp>
      <p:sp>
        <p:nvSpPr>
          <p:cNvPr id="10" name="Text 7"/>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UNDER THE HOOD</a:t>
            </a:r>
            <a:endParaRPr lang="en-US" sz="1250" dirty="0"/>
          </a:p>
        </p:txBody>
      </p:sp>
      <p:sp>
        <p:nvSpPr>
          <p:cNvPr id="3" name="Text 1"/>
          <p:cNvSpPr/>
          <p:nvPr/>
        </p:nvSpPr>
        <p:spPr>
          <a:xfrm>
            <a:off x="548640" y="777240"/>
            <a:ext cx="7315200" cy="64008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100% offline by design</a:t>
            </a:r>
            <a:endParaRPr lang="en-US" sz="2800" dirty="0"/>
          </a:p>
        </p:txBody>
      </p:sp>
      <p:sp>
        <p:nvSpPr>
          <p:cNvPr id="4" name="Text 2"/>
          <p:cNvSpPr/>
          <p:nvPr/>
        </p:nvSpPr>
        <p:spPr>
          <a:xfrm>
            <a:off x="548640" y="1481328"/>
            <a:ext cx="10698480" cy="685800"/>
          </a:xfrm>
          <a:prstGeom prst="rect">
            <a:avLst/>
          </a:prstGeom>
          <a:noFill/>
          <a:ln/>
        </p:spPr>
        <p:txBody>
          <a:bodyPr wrap="square" rtlCol="0" anchor="ctr"/>
          <a:lstStyle/>
          <a:p>
            <a:pPr indent="0" marL="0">
              <a:lnSpc>
                <a:spcPct val="130000"/>
              </a:lnSpc>
              <a:buNone/>
            </a:pPr>
            <a:r>
              <a:rPr lang="en-US" sz="1300" dirty="0">
                <a:solidFill>
                  <a:srgbClr val="A9BCB2"/>
                </a:solidFill>
                <a:latin typeface="Calibri" pitchFamily="34" charset="0"/>
                <a:ea typeface="Calibri" pitchFamily="34" charset="-122"/>
                <a:cs typeface="Calibri" pitchFamily="34" charset="-120"/>
              </a:rPr>
              <a:t>Built as a Progressive Web App with HTML5, CSS3 and vanilla JavaScript — deliberately with no React, backend, API or cloud dependency, so it runs reliably in schools without steady internet.</a:t>
            </a:r>
            <a:endParaRPr lang="en-US" sz="1300" dirty="0"/>
          </a:p>
        </p:txBody>
      </p:sp>
      <p:sp>
        <p:nvSpPr>
          <p:cNvPr id="5" name="Shape 3"/>
          <p:cNvSpPr/>
          <p:nvPr/>
        </p:nvSpPr>
        <p:spPr>
          <a:xfrm>
            <a:off x="548640" y="2514600"/>
            <a:ext cx="2651760" cy="3291840"/>
          </a:xfrm>
          <a:prstGeom prst="roundRect">
            <a:avLst>
              <a:gd name="adj" fmla="val 3448"/>
            </a:avLst>
          </a:prstGeom>
          <a:solidFill>
            <a:srgbClr val="17281F"/>
          </a:solidFill>
          <a:ln w="12700">
            <a:solidFill>
              <a:srgbClr val="2C4436"/>
            </a:solidFill>
            <a:prstDash val="solid"/>
          </a:ln>
        </p:spPr>
      </p:sp>
      <p:sp>
        <p:nvSpPr>
          <p:cNvPr id="6" name="Shape 4"/>
          <p:cNvSpPr/>
          <p:nvPr/>
        </p:nvSpPr>
        <p:spPr>
          <a:xfrm>
            <a:off x="1581912" y="2807208"/>
            <a:ext cx="585216" cy="585216"/>
          </a:xfrm>
          <a:prstGeom prst="ellipse">
            <a:avLst/>
          </a:prstGeom>
          <a:solidFill>
            <a:srgbClr val="1B3A2B"/>
          </a:solidFill>
          <a:ln w="19050">
            <a:solidFill>
              <a:srgbClr val="43A047"/>
            </a:solidFill>
            <a:prstDash val="solid"/>
          </a:ln>
        </p:spPr>
      </p:sp>
      <p:sp>
        <p:nvSpPr>
          <p:cNvPr id="7" name="Text 5"/>
          <p:cNvSpPr/>
          <p:nvPr/>
        </p:nvSpPr>
        <p:spPr>
          <a:xfrm>
            <a:off x="1581912" y="2807208"/>
            <a:ext cx="585216" cy="585216"/>
          </a:xfrm>
          <a:prstGeom prst="rect">
            <a:avLst/>
          </a:prstGeom>
          <a:noFill/>
          <a:ln/>
        </p:spPr>
        <p:txBody>
          <a:bodyPr wrap="square" lIns="0" tIns="0" rIns="0" bIns="0" rtlCol="0" anchor="ctr"/>
          <a:lstStyle/>
          <a:p>
            <a:pPr algn="ctr" indent="0" marL="0">
              <a:buNone/>
            </a:pPr>
            <a:r>
              <a:rPr lang="en-US" sz="1800" b="1" dirty="0">
                <a:solidFill>
                  <a:srgbClr val="FFB300"/>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49808" y="3611880"/>
            <a:ext cx="2249424" cy="685800"/>
          </a:xfrm>
          <a:prstGeom prst="rect">
            <a:avLst/>
          </a:prstGeom>
          <a:noFill/>
          <a:ln/>
        </p:spPr>
        <p:txBody>
          <a:bodyPr wrap="square" lIns="0" tIns="0" rIns="0" bIns="0" rtlCol="0" anchor="ctr"/>
          <a:lstStyle/>
          <a:p>
            <a:pPr algn="ctr" indent="0" marL="0">
              <a:lnSpc>
                <a:spcPct val="110000"/>
              </a:lnSpc>
              <a:buNone/>
            </a:pPr>
            <a:r>
              <a:rPr lang="en-US" sz="1350" b="1" dirty="0">
                <a:solidFill>
                  <a:srgbClr val="F7FAF9"/>
                </a:solidFill>
                <a:latin typeface="Calibri" pitchFamily="34" charset="0"/>
                <a:ea typeface="Calibri" pitchFamily="34" charset="-122"/>
                <a:cs typeface="Calibri" pitchFamily="34" charset="-120"/>
              </a:rPr>
              <a:t>Open once</a:t>
            </a:r>
            <a:endParaRPr lang="en-US" sz="1350" dirty="0"/>
          </a:p>
        </p:txBody>
      </p:sp>
      <p:sp>
        <p:nvSpPr>
          <p:cNvPr id="9" name="Text 7"/>
          <p:cNvSpPr/>
          <p:nvPr/>
        </p:nvSpPr>
        <p:spPr>
          <a:xfrm>
            <a:off x="749808" y="4297680"/>
            <a:ext cx="2249424" cy="1371600"/>
          </a:xfrm>
          <a:prstGeom prst="rect">
            <a:avLst/>
          </a:prstGeom>
          <a:noFill/>
          <a:ln/>
        </p:spPr>
        <p:txBody>
          <a:bodyPr wrap="square" lIns="0" tIns="0" rIns="0" bIns="0" rtlCol="0" anchor="ctr"/>
          <a:lstStyle/>
          <a:p>
            <a:pPr algn="ctr" indent="0" marL="0">
              <a:lnSpc>
                <a:spcPct val="125000"/>
              </a:lnSpc>
              <a:buNone/>
            </a:pPr>
            <a:r>
              <a:rPr lang="en-US" sz="1050" dirty="0">
                <a:solidFill>
                  <a:srgbClr val="A9BCB2"/>
                </a:solidFill>
                <a:latin typeface="Calibri" pitchFamily="34" charset="0"/>
                <a:ea typeface="Calibri" pitchFamily="34" charset="-122"/>
                <a:cs typeface="Calibri" pitchFamily="34" charset="-120"/>
              </a:rPr>
              <a:t>Load the app in any modern browser the first time — online or from a shared file.</a:t>
            </a:r>
            <a:endParaRPr lang="en-US" sz="1050" dirty="0"/>
          </a:p>
        </p:txBody>
      </p:sp>
      <p:sp>
        <p:nvSpPr>
          <p:cNvPr id="10" name="Text 8"/>
          <p:cNvSpPr/>
          <p:nvPr/>
        </p:nvSpPr>
        <p:spPr>
          <a:xfrm>
            <a:off x="3200400" y="3886200"/>
            <a:ext cx="228600" cy="457200"/>
          </a:xfrm>
          <a:prstGeom prst="rect">
            <a:avLst/>
          </a:prstGeom>
          <a:noFill/>
          <a:ln/>
        </p:spPr>
        <p:txBody>
          <a:bodyPr wrap="square" lIns="0" tIns="0" rIns="0" bIns="0" rtlCol="0" anchor="ctr"/>
          <a:lstStyle/>
          <a:p>
            <a:pPr algn="ctr" indent="0" marL="0">
              <a:buNone/>
            </a:pPr>
            <a:r>
              <a:rPr lang="en-US" sz="1600" dirty="0">
                <a:solidFill>
                  <a:srgbClr val="FFB3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429000" y="2514600"/>
            <a:ext cx="2651760" cy="3291840"/>
          </a:xfrm>
          <a:prstGeom prst="roundRect">
            <a:avLst>
              <a:gd name="adj" fmla="val 3448"/>
            </a:avLst>
          </a:prstGeom>
          <a:solidFill>
            <a:srgbClr val="17281F"/>
          </a:solidFill>
          <a:ln w="12700">
            <a:solidFill>
              <a:srgbClr val="2C4436"/>
            </a:solidFill>
            <a:prstDash val="solid"/>
          </a:ln>
        </p:spPr>
      </p:sp>
      <p:sp>
        <p:nvSpPr>
          <p:cNvPr id="12" name="Shape 10"/>
          <p:cNvSpPr/>
          <p:nvPr/>
        </p:nvSpPr>
        <p:spPr>
          <a:xfrm>
            <a:off x="4462272" y="2807208"/>
            <a:ext cx="585216" cy="585216"/>
          </a:xfrm>
          <a:prstGeom prst="ellipse">
            <a:avLst/>
          </a:prstGeom>
          <a:solidFill>
            <a:srgbClr val="1B3A2B"/>
          </a:solidFill>
          <a:ln w="19050">
            <a:solidFill>
              <a:srgbClr val="43A047"/>
            </a:solidFill>
            <a:prstDash val="solid"/>
          </a:ln>
        </p:spPr>
      </p:sp>
      <p:sp>
        <p:nvSpPr>
          <p:cNvPr id="13" name="Text 11"/>
          <p:cNvSpPr/>
          <p:nvPr/>
        </p:nvSpPr>
        <p:spPr>
          <a:xfrm>
            <a:off x="4462272" y="2807208"/>
            <a:ext cx="585216" cy="585216"/>
          </a:xfrm>
          <a:prstGeom prst="rect">
            <a:avLst/>
          </a:prstGeom>
          <a:noFill/>
          <a:ln/>
        </p:spPr>
        <p:txBody>
          <a:bodyPr wrap="square" lIns="0" tIns="0" rIns="0" bIns="0" rtlCol="0" anchor="ctr"/>
          <a:lstStyle/>
          <a:p>
            <a:pPr algn="ctr" indent="0" marL="0">
              <a:buNone/>
            </a:pPr>
            <a:r>
              <a:rPr lang="en-US" sz="1800" b="1" dirty="0">
                <a:solidFill>
                  <a:srgbClr val="FFB300"/>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630168" y="3611880"/>
            <a:ext cx="2249424" cy="685800"/>
          </a:xfrm>
          <a:prstGeom prst="rect">
            <a:avLst/>
          </a:prstGeom>
          <a:noFill/>
          <a:ln/>
        </p:spPr>
        <p:txBody>
          <a:bodyPr wrap="square" lIns="0" tIns="0" rIns="0" bIns="0" rtlCol="0" anchor="ctr"/>
          <a:lstStyle/>
          <a:p>
            <a:pPr algn="ctr" indent="0" marL="0">
              <a:lnSpc>
                <a:spcPct val="110000"/>
              </a:lnSpc>
              <a:buNone/>
            </a:pPr>
            <a:r>
              <a:rPr lang="en-US" sz="1350" b="1" dirty="0">
                <a:solidFill>
                  <a:srgbClr val="F7FAF9"/>
                </a:solidFill>
                <a:latin typeface="Calibri" pitchFamily="34" charset="0"/>
                <a:ea typeface="Calibri" pitchFamily="34" charset="-122"/>
                <a:cs typeface="Calibri" pitchFamily="34" charset="-120"/>
              </a:rPr>
              <a:t>Service worker caches everything</a:t>
            </a:r>
            <a:endParaRPr lang="en-US" sz="1350" dirty="0"/>
          </a:p>
        </p:txBody>
      </p:sp>
      <p:sp>
        <p:nvSpPr>
          <p:cNvPr id="15" name="Text 13"/>
          <p:cNvSpPr/>
          <p:nvPr/>
        </p:nvSpPr>
        <p:spPr>
          <a:xfrm>
            <a:off x="3630168" y="4297680"/>
            <a:ext cx="2249424" cy="1371600"/>
          </a:xfrm>
          <a:prstGeom prst="rect">
            <a:avLst/>
          </a:prstGeom>
          <a:noFill/>
          <a:ln/>
        </p:spPr>
        <p:txBody>
          <a:bodyPr wrap="square" lIns="0" tIns="0" rIns="0" bIns="0" rtlCol="0" anchor="ctr"/>
          <a:lstStyle/>
          <a:p>
            <a:pPr algn="ctr" indent="0" marL="0">
              <a:lnSpc>
                <a:spcPct val="125000"/>
              </a:lnSpc>
              <a:buNone/>
            </a:pPr>
            <a:r>
              <a:rPr lang="en-US" sz="1050" dirty="0">
                <a:solidFill>
                  <a:srgbClr val="A9BCB2"/>
                </a:solidFill>
                <a:latin typeface="Calibri" pitchFamily="34" charset="0"/>
                <a:ea typeface="Calibri" pitchFamily="34" charset="-122"/>
                <a:cs typeface="Calibri" pitchFamily="34" charset="-120"/>
              </a:rPr>
              <a:t>HTML, CSS, JavaScript, icons and the developer photo are stored on-device automatically.</a:t>
            </a:r>
            <a:endParaRPr lang="en-US" sz="1050" dirty="0"/>
          </a:p>
        </p:txBody>
      </p:sp>
      <p:sp>
        <p:nvSpPr>
          <p:cNvPr id="16" name="Text 14"/>
          <p:cNvSpPr/>
          <p:nvPr/>
        </p:nvSpPr>
        <p:spPr>
          <a:xfrm>
            <a:off x="6080760" y="3886200"/>
            <a:ext cx="228600" cy="457200"/>
          </a:xfrm>
          <a:prstGeom prst="rect">
            <a:avLst/>
          </a:prstGeom>
          <a:noFill/>
          <a:ln/>
        </p:spPr>
        <p:txBody>
          <a:bodyPr wrap="square" lIns="0" tIns="0" rIns="0" bIns="0" rtlCol="0" anchor="ctr"/>
          <a:lstStyle/>
          <a:p>
            <a:pPr algn="ctr" indent="0" marL="0">
              <a:buNone/>
            </a:pPr>
            <a:r>
              <a:rPr lang="en-US" sz="1600" dirty="0">
                <a:solidFill>
                  <a:srgbClr val="FFB300"/>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309360" y="2514600"/>
            <a:ext cx="2651760" cy="3291840"/>
          </a:xfrm>
          <a:prstGeom prst="roundRect">
            <a:avLst>
              <a:gd name="adj" fmla="val 3448"/>
            </a:avLst>
          </a:prstGeom>
          <a:solidFill>
            <a:srgbClr val="17281F"/>
          </a:solidFill>
          <a:ln w="12700">
            <a:solidFill>
              <a:srgbClr val="2C4436"/>
            </a:solidFill>
            <a:prstDash val="solid"/>
          </a:ln>
        </p:spPr>
      </p:sp>
      <p:sp>
        <p:nvSpPr>
          <p:cNvPr id="18" name="Shape 16"/>
          <p:cNvSpPr/>
          <p:nvPr/>
        </p:nvSpPr>
        <p:spPr>
          <a:xfrm>
            <a:off x="7342632" y="2807208"/>
            <a:ext cx="585216" cy="585216"/>
          </a:xfrm>
          <a:prstGeom prst="ellipse">
            <a:avLst/>
          </a:prstGeom>
          <a:solidFill>
            <a:srgbClr val="1B3A2B"/>
          </a:solidFill>
          <a:ln w="19050">
            <a:solidFill>
              <a:srgbClr val="43A047"/>
            </a:solidFill>
            <a:prstDash val="solid"/>
          </a:ln>
        </p:spPr>
      </p:sp>
      <p:sp>
        <p:nvSpPr>
          <p:cNvPr id="19" name="Text 17"/>
          <p:cNvSpPr/>
          <p:nvPr/>
        </p:nvSpPr>
        <p:spPr>
          <a:xfrm>
            <a:off x="7342632" y="2807208"/>
            <a:ext cx="585216" cy="585216"/>
          </a:xfrm>
          <a:prstGeom prst="rect">
            <a:avLst/>
          </a:prstGeom>
          <a:noFill/>
          <a:ln/>
        </p:spPr>
        <p:txBody>
          <a:bodyPr wrap="square" lIns="0" tIns="0" rIns="0" bIns="0" rtlCol="0" anchor="ctr"/>
          <a:lstStyle/>
          <a:p>
            <a:pPr algn="ctr" indent="0" marL="0">
              <a:buNone/>
            </a:pPr>
            <a:r>
              <a:rPr lang="en-US" sz="1800" b="1" dirty="0">
                <a:solidFill>
                  <a:srgbClr val="FFB300"/>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510528" y="3611880"/>
            <a:ext cx="2249424" cy="685800"/>
          </a:xfrm>
          <a:prstGeom prst="rect">
            <a:avLst/>
          </a:prstGeom>
          <a:noFill/>
          <a:ln/>
        </p:spPr>
        <p:txBody>
          <a:bodyPr wrap="square" lIns="0" tIns="0" rIns="0" bIns="0" rtlCol="0" anchor="ctr"/>
          <a:lstStyle/>
          <a:p>
            <a:pPr algn="ctr" indent="0" marL="0">
              <a:lnSpc>
                <a:spcPct val="110000"/>
              </a:lnSpc>
              <a:buNone/>
            </a:pPr>
            <a:r>
              <a:rPr lang="en-US" sz="1350" b="1" dirty="0">
                <a:solidFill>
                  <a:srgbClr val="F7FAF9"/>
                </a:solidFill>
                <a:latin typeface="Calibri" pitchFamily="34" charset="0"/>
                <a:ea typeface="Calibri" pitchFamily="34" charset="-122"/>
                <a:cs typeface="Calibri" pitchFamily="34" charset="-120"/>
              </a:rPr>
              <a:t>Install to home screen</a:t>
            </a:r>
            <a:endParaRPr lang="en-US" sz="1350" dirty="0"/>
          </a:p>
        </p:txBody>
      </p:sp>
      <p:sp>
        <p:nvSpPr>
          <p:cNvPr id="21" name="Text 19"/>
          <p:cNvSpPr/>
          <p:nvPr/>
        </p:nvSpPr>
        <p:spPr>
          <a:xfrm>
            <a:off x="6510528" y="4297680"/>
            <a:ext cx="2249424" cy="1371600"/>
          </a:xfrm>
          <a:prstGeom prst="rect">
            <a:avLst/>
          </a:prstGeom>
          <a:noFill/>
          <a:ln/>
        </p:spPr>
        <p:txBody>
          <a:bodyPr wrap="square" lIns="0" tIns="0" rIns="0" bIns="0" rtlCol="0" anchor="ctr"/>
          <a:lstStyle/>
          <a:p>
            <a:pPr algn="ctr" indent="0" marL="0">
              <a:lnSpc>
                <a:spcPct val="125000"/>
              </a:lnSpc>
              <a:buNone/>
            </a:pPr>
            <a:r>
              <a:rPr lang="en-US" sz="1050" dirty="0">
                <a:solidFill>
                  <a:srgbClr val="A9BCB2"/>
                </a:solidFill>
                <a:latin typeface="Calibri" pitchFamily="34" charset="0"/>
                <a:ea typeface="Calibri" pitchFamily="34" charset="-122"/>
                <a:cs typeface="Calibri" pitchFamily="34" charset="-120"/>
              </a:rPr>
              <a:t>A single tap adds a real app icon — no browser bar, no app-store account.</a:t>
            </a:r>
            <a:endParaRPr lang="en-US" sz="1050" dirty="0"/>
          </a:p>
        </p:txBody>
      </p:sp>
      <p:sp>
        <p:nvSpPr>
          <p:cNvPr id="22" name="Text 20"/>
          <p:cNvSpPr/>
          <p:nvPr/>
        </p:nvSpPr>
        <p:spPr>
          <a:xfrm>
            <a:off x="8961120" y="3886200"/>
            <a:ext cx="228600" cy="457200"/>
          </a:xfrm>
          <a:prstGeom prst="rect">
            <a:avLst/>
          </a:prstGeom>
          <a:noFill/>
          <a:ln/>
        </p:spPr>
        <p:txBody>
          <a:bodyPr wrap="square" lIns="0" tIns="0" rIns="0" bIns="0" rtlCol="0" anchor="ctr"/>
          <a:lstStyle/>
          <a:p>
            <a:pPr algn="ctr" indent="0" marL="0">
              <a:buNone/>
            </a:pPr>
            <a:r>
              <a:rPr lang="en-US" sz="1600" dirty="0">
                <a:solidFill>
                  <a:srgbClr val="FFB300"/>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9189720" y="2514600"/>
            <a:ext cx="2651760" cy="3291840"/>
          </a:xfrm>
          <a:prstGeom prst="roundRect">
            <a:avLst>
              <a:gd name="adj" fmla="val 3448"/>
            </a:avLst>
          </a:prstGeom>
          <a:solidFill>
            <a:srgbClr val="17281F"/>
          </a:solidFill>
          <a:ln w="12700">
            <a:solidFill>
              <a:srgbClr val="2C4436"/>
            </a:solidFill>
            <a:prstDash val="solid"/>
          </a:ln>
        </p:spPr>
      </p:sp>
      <p:sp>
        <p:nvSpPr>
          <p:cNvPr id="24" name="Shape 22"/>
          <p:cNvSpPr/>
          <p:nvPr/>
        </p:nvSpPr>
        <p:spPr>
          <a:xfrm>
            <a:off x="10222992" y="2807208"/>
            <a:ext cx="585216" cy="585216"/>
          </a:xfrm>
          <a:prstGeom prst="ellipse">
            <a:avLst/>
          </a:prstGeom>
          <a:solidFill>
            <a:srgbClr val="1B3A2B"/>
          </a:solidFill>
          <a:ln w="19050">
            <a:solidFill>
              <a:srgbClr val="43A047"/>
            </a:solidFill>
            <a:prstDash val="solid"/>
          </a:ln>
        </p:spPr>
      </p:sp>
      <p:sp>
        <p:nvSpPr>
          <p:cNvPr id="25" name="Text 23"/>
          <p:cNvSpPr/>
          <p:nvPr/>
        </p:nvSpPr>
        <p:spPr>
          <a:xfrm>
            <a:off x="10222992" y="2807208"/>
            <a:ext cx="585216" cy="585216"/>
          </a:xfrm>
          <a:prstGeom prst="rect">
            <a:avLst/>
          </a:prstGeom>
          <a:noFill/>
          <a:ln/>
        </p:spPr>
        <p:txBody>
          <a:bodyPr wrap="square" lIns="0" tIns="0" rIns="0" bIns="0" rtlCol="0" anchor="ctr"/>
          <a:lstStyle/>
          <a:p>
            <a:pPr algn="ctr" indent="0" marL="0">
              <a:buNone/>
            </a:pPr>
            <a:r>
              <a:rPr lang="en-US" sz="1800" b="1" dirty="0">
                <a:solidFill>
                  <a:srgbClr val="FFB300"/>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9390888" y="3611880"/>
            <a:ext cx="2249424" cy="685800"/>
          </a:xfrm>
          <a:prstGeom prst="rect">
            <a:avLst/>
          </a:prstGeom>
          <a:noFill/>
          <a:ln/>
        </p:spPr>
        <p:txBody>
          <a:bodyPr wrap="square" lIns="0" tIns="0" rIns="0" bIns="0" rtlCol="0" anchor="ctr"/>
          <a:lstStyle/>
          <a:p>
            <a:pPr algn="ctr" indent="0" marL="0">
              <a:lnSpc>
                <a:spcPct val="110000"/>
              </a:lnSpc>
              <a:buNone/>
            </a:pPr>
            <a:r>
              <a:rPr lang="en-US" sz="1350" b="1" dirty="0">
                <a:solidFill>
                  <a:srgbClr val="F7FAF9"/>
                </a:solidFill>
                <a:latin typeface="Calibri" pitchFamily="34" charset="0"/>
                <a:ea typeface="Calibri" pitchFamily="34" charset="-122"/>
                <a:cs typeface="Calibri" pitchFamily="34" charset="-120"/>
              </a:rPr>
              <a:t>Runs with zero connection</a:t>
            </a:r>
            <a:endParaRPr lang="en-US" sz="1350" dirty="0"/>
          </a:p>
        </p:txBody>
      </p:sp>
      <p:sp>
        <p:nvSpPr>
          <p:cNvPr id="27" name="Text 25"/>
          <p:cNvSpPr/>
          <p:nvPr/>
        </p:nvSpPr>
        <p:spPr>
          <a:xfrm>
            <a:off x="9390888" y="4297680"/>
            <a:ext cx="2249424" cy="1371600"/>
          </a:xfrm>
          <a:prstGeom prst="rect">
            <a:avLst/>
          </a:prstGeom>
          <a:noFill/>
          <a:ln/>
        </p:spPr>
        <p:txBody>
          <a:bodyPr wrap="square" lIns="0" tIns="0" rIns="0" bIns="0" rtlCol="0" anchor="ctr"/>
          <a:lstStyle/>
          <a:p>
            <a:pPr algn="ctr" indent="0" marL="0">
              <a:lnSpc>
                <a:spcPct val="125000"/>
              </a:lnSpc>
              <a:buNone/>
            </a:pPr>
            <a:r>
              <a:rPr lang="en-US" sz="1050" dirty="0">
                <a:solidFill>
                  <a:srgbClr val="A9BCB2"/>
                </a:solidFill>
                <a:latin typeface="Calibri" pitchFamily="34" charset="0"/>
                <a:ea typeface="Calibri" pitchFamily="34" charset="-122"/>
                <a:cs typeface="Calibri" pitchFamily="34" charset="-120"/>
              </a:rPr>
              <a:t>Every simulation, quiz, chart and reference page keeps working with the network off.</a:t>
            </a:r>
            <a:endParaRPr lang="en-US" sz="1050" dirty="0"/>
          </a:p>
        </p:txBody>
      </p:sp>
      <p:sp>
        <p:nvSpPr>
          <p:cNvPr id="28" name="Text 2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06</a:t>
            </a:r>
            <a:endParaRPr lang="en-US" sz="1000" dirty="0"/>
          </a:p>
        </p:txBody>
      </p:sp>
      <p:sp>
        <p:nvSpPr>
          <p:cNvPr id="29" name="Text 27"/>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HOW TO USE — PART 1</a:t>
            </a:r>
            <a:endParaRPr lang="en-US" sz="1250" dirty="0"/>
          </a:p>
        </p:txBody>
      </p:sp>
      <p:sp>
        <p:nvSpPr>
          <p:cNvPr id="3" name="Text 1"/>
          <p:cNvSpPr/>
          <p:nvPr/>
        </p:nvSpPr>
        <p:spPr>
          <a:xfrm>
            <a:off x="548640" y="777240"/>
            <a:ext cx="7772400" cy="548640"/>
          </a:xfrm>
          <a:prstGeom prst="rect">
            <a:avLst/>
          </a:prstGeom>
          <a:noFill/>
          <a:ln/>
        </p:spPr>
        <p:txBody>
          <a:bodyPr wrap="square" rtlCol="0" anchor="ctr"/>
          <a:lstStyle/>
          <a:p>
            <a:pPr indent="0" marL="0">
              <a:buNone/>
            </a:pPr>
            <a:r>
              <a:rPr lang="en-US" sz="2700" b="1" dirty="0">
                <a:solidFill>
                  <a:srgbClr val="F7FAF9"/>
                </a:solidFill>
                <a:latin typeface="Calibri" pitchFamily="34" charset="0"/>
                <a:ea typeface="Calibri" pitchFamily="34" charset="-122"/>
                <a:cs typeface="Calibri" pitchFamily="34" charset="-120"/>
              </a:rPr>
              <a:t>Getting from the title screen to a simulation</a:t>
            </a:r>
            <a:endParaRPr lang="en-US" sz="2700" dirty="0"/>
          </a:p>
        </p:txBody>
      </p:sp>
      <p:sp>
        <p:nvSpPr>
          <p:cNvPr id="4" name="Shape 2"/>
          <p:cNvSpPr/>
          <p:nvPr/>
        </p:nvSpPr>
        <p:spPr>
          <a:xfrm>
            <a:off x="548640" y="1600200"/>
            <a:ext cx="2514600" cy="1965960"/>
          </a:xfrm>
          <a:prstGeom prst="roundRect">
            <a:avLst>
              <a:gd name="adj" fmla="val 4651"/>
            </a:avLst>
          </a:prstGeom>
          <a:solidFill>
            <a:srgbClr val="17281F"/>
          </a:solidFill>
          <a:ln w="12700">
            <a:solidFill>
              <a:srgbClr val="2C4436"/>
            </a:solidFill>
            <a:prstDash val="solid"/>
          </a:ln>
        </p:spPr>
      </p:sp>
      <p:sp>
        <p:nvSpPr>
          <p:cNvPr id="5" name="Shape 3"/>
          <p:cNvSpPr/>
          <p:nvPr/>
        </p:nvSpPr>
        <p:spPr>
          <a:xfrm>
            <a:off x="731520" y="1783080"/>
            <a:ext cx="457200" cy="457200"/>
          </a:xfrm>
          <a:prstGeom prst="ellipse">
            <a:avLst/>
          </a:prstGeom>
          <a:solidFill>
            <a:srgbClr val="1B3A2B"/>
          </a:solidFill>
          <a:ln w="19050">
            <a:solidFill>
              <a:srgbClr val="43A047"/>
            </a:solidFill>
            <a:prstDash val="solid"/>
          </a:ln>
        </p:spPr>
      </p:sp>
      <p:sp>
        <p:nvSpPr>
          <p:cNvPr id="6" name="Text 4"/>
          <p:cNvSpPr/>
          <p:nvPr/>
        </p:nvSpPr>
        <p:spPr>
          <a:xfrm>
            <a:off x="731520" y="1783080"/>
            <a:ext cx="457200" cy="457200"/>
          </a:xfrm>
          <a:prstGeom prst="rect">
            <a:avLst/>
          </a:prstGeom>
          <a:noFill/>
          <a:ln/>
        </p:spPr>
        <p:txBody>
          <a:bodyPr wrap="square" lIns="0" tIns="0" rIns="0" bIns="0" rtlCol="0" anchor="ctr"/>
          <a:lstStyle/>
          <a:p>
            <a:pPr algn="ctr" indent="0" marL="0">
              <a:buNone/>
            </a:pPr>
            <a:r>
              <a:rPr lang="en-US" sz="1400" b="1" dirty="0">
                <a:solidFill>
                  <a:srgbClr val="FFB300"/>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31520" y="2377440"/>
            <a:ext cx="2148840" cy="457200"/>
          </a:xfrm>
          <a:prstGeom prst="rect">
            <a:avLst/>
          </a:prstGeom>
          <a:noFill/>
          <a:ln/>
        </p:spPr>
        <p:txBody>
          <a:bodyPr wrap="square" lIns="0" tIns="0" rIns="0" bIns="0" rtlCol="0" anchor="ctr"/>
          <a:lstStyle/>
          <a:p>
            <a:pPr indent="0" marL="0">
              <a:lnSpc>
                <a:spcPct val="110000"/>
              </a:lnSpc>
              <a:buNone/>
            </a:pPr>
            <a:r>
              <a:rPr lang="en-US" sz="1250" b="1" dirty="0">
                <a:solidFill>
                  <a:srgbClr val="F7FAF9"/>
                </a:solidFill>
                <a:latin typeface="Calibri" pitchFamily="34" charset="0"/>
                <a:ea typeface="Calibri" pitchFamily="34" charset="-122"/>
                <a:cs typeface="Calibri" pitchFamily="34" charset="-120"/>
              </a:rPr>
              <a:t>Open the app</a:t>
            </a:r>
            <a:endParaRPr lang="en-US" sz="1250" dirty="0"/>
          </a:p>
        </p:txBody>
      </p:sp>
      <p:sp>
        <p:nvSpPr>
          <p:cNvPr id="8" name="Text 6"/>
          <p:cNvSpPr/>
          <p:nvPr/>
        </p:nvSpPr>
        <p:spPr>
          <a:xfrm>
            <a:off x="731520" y="2834640"/>
            <a:ext cx="2148840" cy="64008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The title screen introduces the lab and its developer, Dr. Mateen Yousuf.</a:t>
            </a:r>
            <a:endParaRPr lang="en-US" sz="1000" dirty="0"/>
          </a:p>
        </p:txBody>
      </p:sp>
      <p:sp>
        <p:nvSpPr>
          <p:cNvPr id="9" name="Shape 7"/>
          <p:cNvSpPr/>
          <p:nvPr/>
        </p:nvSpPr>
        <p:spPr>
          <a:xfrm>
            <a:off x="3246120" y="1600200"/>
            <a:ext cx="2514600" cy="1965960"/>
          </a:xfrm>
          <a:prstGeom prst="roundRect">
            <a:avLst>
              <a:gd name="adj" fmla="val 4651"/>
            </a:avLst>
          </a:prstGeom>
          <a:solidFill>
            <a:srgbClr val="17281F"/>
          </a:solidFill>
          <a:ln w="12700">
            <a:solidFill>
              <a:srgbClr val="2C4436"/>
            </a:solidFill>
            <a:prstDash val="solid"/>
          </a:ln>
        </p:spPr>
      </p:sp>
      <p:sp>
        <p:nvSpPr>
          <p:cNvPr id="10" name="Shape 8"/>
          <p:cNvSpPr/>
          <p:nvPr/>
        </p:nvSpPr>
        <p:spPr>
          <a:xfrm>
            <a:off x="3429000" y="1783080"/>
            <a:ext cx="457200" cy="457200"/>
          </a:xfrm>
          <a:prstGeom prst="ellipse">
            <a:avLst/>
          </a:prstGeom>
          <a:solidFill>
            <a:srgbClr val="1B3A2B"/>
          </a:solidFill>
          <a:ln w="19050">
            <a:solidFill>
              <a:srgbClr val="43A047"/>
            </a:solidFill>
            <a:prstDash val="solid"/>
          </a:ln>
        </p:spPr>
      </p:sp>
      <p:sp>
        <p:nvSpPr>
          <p:cNvPr id="11" name="Text 9"/>
          <p:cNvSpPr/>
          <p:nvPr/>
        </p:nvSpPr>
        <p:spPr>
          <a:xfrm>
            <a:off x="3429000" y="1783080"/>
            <a:ext cx="457200" cy="457200"/>
          </a:xfrm>
          <a:prstGeom prst="rect">
            <a:avLst/>
          </a:prstGeom>
          <a:noFill/>
          <a:ln/>
        </p:spPr>
        <p:txBody>
          <a:bodyPr wrap="square" lIns="0" tIns="0" rIns="0" bIns="0" rtlCol="0" anchor="ctr"/>
          <a:lstStyle/>
          <a:p>
            <a:pPr algn="ctr" indent="0" marL="0">
              <a:buNone/>
            </a:pPr>
            <a:r>
              <a:rPr lang="en-US" sz="1400" b="1" dirty="0">
                <a:solidFill>
                  <a:srgbClr val="FFB300"/>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429000" y="2377440"/>
            <a:ext cx="2148840" cy="457200"/>
          </a:xfrm>
          <a:prstGeom prst="rect">
            <a:avLst/>
          </a:prstGeom>
          <a:noFill/>
          <a:ln/>
        </p:spPr>
        <p:txBody>
          <a:bodyPr wrap="square" lIns="0" tIns="0" rIns="0" bIns="0" rtlCol="0" anchor="ctr"/>
          <a:lstStyle/>
          <a:p>
            <a:pPr indent="0" marL="0">
              <a:lnSpc>
                <a:spcPct val="110000"/>
              </a:lnSpc>
              <a:buNone/>
            </a:pPr>
            <a:r>
              <a:rPr lang="en-US" sz="1250" b="1" dirty="0">
                <a:solidFill>
                  <a:srgbClr val="F7FAF9"/>
                </a:solidFill>
                <a:latin typeface="Calibri" pitchFamily="34" charset="0"/>
                <a:ea typeface="Calibri" pitchFamily="34" charset="-122"/>
                <a:cs typeface="Calibri" pitchFamily="34" charset="-120"/>
              </a:rPr>
              <a:t>Enter the laboratory</a:t>
            </a:r>
            <a:endParaRPr lang="en-US" sz="1250" dirty="0"/>
          </a:p>
        </p:txBody>
      </p:sp>
      <p:sp>
        <p:nvSpPr>
          <p:cNvPr id="13" name="Text 11"/>
          <p:cNvSpPr/>
          <p:nvPr/>
        </p:nvSpPr>
        <p:spPr>
          <a:xfrm>
            <a:off x="3429000" y="2834640"/>
            <a:ext cx="2148840" cy="64008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One tap on “Enter the Laboratory” loads the Home Dashboard.</a:t>
            </a:r>
            <a:endParaRPr lang="en-US" sz="1000" dirty="0"/>
          </a:p>
        </p:txBody>
      </p:sp>
      <p:sp>
        <p:nvSpPr>
          <p:cNvPr id="14" name="Shape 12"/>
          <p:cNvSpPr/>
          <p:nvPr/>
        </p:nvSpPr>
        <p:spPr>
          <a:xfrm>
            <a:off x="5943600" y="1600200"/>
            <a:ext cx="2514600" cy="1965960"/>
          </a:xfrm>
          <a:prstGeom prst="roundRect">
            <a:avLst>
              <a:gd name="adj" fmla="val 4651"/>
            </a:avLst>
          </a:prstGeom>
          <a:solidFill>
            <a:srgbClr val="17281F"/>
          </a:solidFill>
          <a:ln w="12700">
            <a:solidFill>
              <a:srgbClr val="2C4436"/>
            </a:solidFill>
            <a:prstDash val="solid"/>
          </a:ln>
        </p:spPr>
      </p:sp>
      <p:sp>
        <p:nvSpPr>
          <p:cNvPr id="15" name="Shape 13"/>
          <p:cNvSpPr/>
          <p:nvPr/>
        </p:nvSpPr>
        <p:spPr>
          <a:xfrm>
            <a:off x="6126480" y="1783080"/>
            <a:ext cx="457200" cy="457200"/>
          </a:xfrm>
          <a:prstGeom prst="ellipse">
            <a:avLst/>
          </a:prstGeom>
          <a:solidFill>
            <a:srgbClr val="1B3A2B"/>
          </a:solidFill>
          <a:ln w="19050">
            <a:solidFill>
              <a:srgbClr val="43A047"/>
            </a:solidFill>
            <a:prstDash val="solid"/>
          </a:ln>
        </p:spPr>
      </p:sp>
      <p:sp>
        <p:nvSpPr>
          <p:cNvPr id="16" name="Text 14"/>
          <p:cNvSpPr/>
          <p:nvPr/>
        </p:nvSpPr>
        <p:spPr>
          <a:xfrm>
            <a:off x="6126480" y="1783080"/>
            <a:ext cx="457200" cy="457200"/>
          </a:xfrm>
          <a:prstGeom prst="rect">
            <a:avLst/>
          </a:prstGeom>
          <a:noFill/>
          <a:ln/>
        </p:spPr>
        <p:txBody>
          <a:bodyPr wrap="square" lIns="0" tIns="0" rIns="0" bIns="0" rtlCol="0" anchor="ctr"/>
          <a:lstStyle/>
          <a:p>
            <a:pPr algn="ctr" indent="0" marL="0">
              <a:buNone/>
            </a:pPr>
            <a:r>
              <a:rPr lang="en-US" sz="1400" b="1" dirty="0">
                <a:solidFill>
                  <a:srgbClr val="FFB300"/>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126480" y="2377440"/>
            <a:ext cx="2148840" cy="457200"/>
          </a:xfrm>
          <a:prstGeom prst="rect">
            <a:avLst/>
          </a:prstGeom>
          <a:noFill/>
          <a:ln/>
        </p:spPr>
        <p:txBody>
          <a:bodyPr wrap="square" lIns="0" tIns="0" rIns="0" bIns="0" rtlCol="0" anchor="ctr"/>
          <a:lstStyle/>
          <a:p>
            <a:pPr indent="0" marL="0">
              <a:lnSpc>
                <a:spcPct val="110000"/>
              </a:lnSpc>
              <a:buNone/>
            </a:pPr>
            <a:r>
              <a:rPr lang="en-US" sz="1250" b="1" dirty="0">
                <a:solidFill>
                  <a:srgbClr val="F7FAF9"/>
                </a:solidFill>
                <a:latin typeface="Calibri" pitchFamily="34" charset="0"/>
                <a:ea typeface="Calibri" pitchFamily="34" charset="-122"/>
                <a:cs typeface="Calibri" pitchFamily="34" charset="-120"/>
              </a:rPr>
              <a:t>Browse or search</a:t>
            </a:r>
            <a:endParaRPr lang="en-US" sz="1250" dirty="0"/>
          </a:p>
        </p:txBody>
      </p:sp>
      <p:sp>
        <p:nvSpPr>
          <p:cNvPr id="18" name="Text 16"/>
          <p:cNvSpPr/>
          <p:nvPr/>
        </p:nvSpPr>
        <p:spPr>
          <a:xfrm>
            <a:off x="6126480" y="2834640"/>
            <a:ext cx="2148840" cy="64008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Scroll the ten module cards, use the sidebar, or type into the search bar.</a:t>
            </a:r>
            <a:endParaRPr lang="en-US" sz="1000" dirty="0"/>
          </a:p>
        </p:txBody>
      </p:sp>
      <p:sp>
        <p:nvSpPr>
          <p:cNvPr id="19" name="Shape 17"/>
          <p:cNvSpPr/>
          <p:nvPr/>
        </p:nvSpPr>
        <p:spPr>
          <a:xfrm>
            <a:off x="8641080" y="1600200"/>
            <a:ext cx="2514600" cy="1965960"/>
          </a:xfrm>
          <a:prstGeom prst="roundRect">
            <a:avLst>
              <a:gd name="adj" fmla="val 4651"/>
            </a:avLst>
          </a:prstGeom>
          <a:solidFill>
            <a:srgbClr val="17281F"/>
          </a:solidFill>
          <a:ln w="12700">
            <a:solidFill>
              <a:srgbClr val="2C4436"/>
            </a:solidFill>
            <a:prstDash val="solid"/>
          </a:ln>
        </p:spPr>
      </p:sp>
      <p:sp>
        <p:nvSpPr>
          <p:cNvPr id="20" name="Shape 18"/>
          <p:cNvSpPr/>
          <p:nvPr/>
        </p:nvSpPr>
        <p:spPr>
          <a:xfrm>
            <a:off x="8823960" y="1783080"/>
            <a:ext cx="457200" cy="457200"/>
          </a:xfrm>
          <a:prstGeom prst="ellipse">
            <a:avLst/>
          </a:prstGeom>
          <a:solidFill>
            <a:srgbClr val="1B3A2B"/>
          </a:solidFill>
          <a:ln w="19050">
            <a:solidFill>
              <a:srgbClr val="43A047"/>
            </a:solidFill>
            <a:prstDash val="solid"/>
          </a:ln>
        </p:spPr>
      </p:sp>
      <p:sp>
        <p:nvSpPr>
          <p:cNvPr id="21" name="Text 19"/>
          <p:cNvSpPr/>
          <p:nvPr/>
        </p:nvSpPr>
        <p:spPr>
          <a:xfrm>
            <a:off x="8823960" y="1783080"/>
            <a:ext cx="457200" cy="457200"/>
          </a:xfrm>
          <a:prstGeom prst="rect">
            <a:avLst/>
          </a:prstGeom>
          <a:noFill/>
          <a:ln/>
        </p:spPr>
        <p:txBody>
          <a:bodyPr wrap="square" lIns="0" tIns="0" rIns="0" bIns="0" rtlCol="0" anchor="ctr"/>
          <a:lstStyle/>
          <a:p>
            <a:pPr algn="ctr" indent="0" marL="0">
              <a:buNone/>
            </a:pPr>
            <a:r>
              <a:rPr lang="en-US" sz="1400" b="1" dirty="0">
                <a:solidFill>
                  <a:srgbClr val="FFB300"/>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8823960" y="2377440"/>
            <a:ext cx="2148840" cy="457200"/>
          </a:xfrm>
          <a:prstGeom prst="rect">
            <a:avLst/>
          </a:prstGeom>
          <a:noFill/>
          <a:ln/>
        </p:spPr>
        <p:txBody>
          <a:bodyPr wrap="square" lIns="0" tIns="0" rIns="0" bIns="0" rtlCol="0" anchor="ctr"/>
          <a:lstStyle/>
          <a:p>
            <a:pPr indent="0" marL="0">
              <a:lnSpc>
                <a:spcPct val="110000"/>
              </a:lnSpc>
              <a:buNone/>
            </a:pPr>
            <a:r>
              <a:rPr lang="en-US" sz="1250" b="1" dirty="0">
                <a:solidFill>
                  <a:srgbClr val="F7FAF9"/>
                </a:solidFill>
                <a:latin typeface="Calibri" pitchFamily="34" charset="0"/>
                <a:ea typeface="Calibri" pitchFamily="34" charset="-122"/>
                <a:cs typeface="Calibri" pitchFamily="34" charset="-120"/>
              </a:rPr>
              <a:t>Open any simulation</a:t>
            </a:r>
            <a:endParaRPr lang="en-US" sz="1250" dirty="0"/>
          </a:p>
        </p:txBody>
      </p:sp>
      <p:sp>
        <p:nvSpPr>
          <p:cNvPr id="23" name="Text 21"/>
          <p:cNvSpPr/>
          <p:nvPr/>
        </p:nvSpPr>
        <p:spPr>
          <a:xfrm>
            <a:off x="8823960" y="2834640"/>
            <a:ext cx="2148840" cy="64008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Tapping a card opens its dedicated four-tab workspace, ready to explore.</a:t>
            </a:r>
            <a:endParaRPr lang="en-US" sz="1000" dirty="0"/>
          </a:p>
        </p:txBody>
      </p:sp>
      <p:sp>
        <p:nvSpPr>
          <p:cNvPr id="24" name="Shape 22"/>
          <p:cNvSpPr/>
          <p:nvPr/>
        </p:nvSpPr>
        <p:spPr>
          <a:xfrm>
            <a:off x="507492" y="3707892"/>
            <a:ext cx="5340096" cy="2368296"/>
          </a:xfrm>
          <a:prstGeom prst="roundRect">
            <a:avLst>
              <a:gd name="adj" fmla="val 3475"/>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25" name="Image 0" descr="/home/claude/deck-assets/00-splash.png">    </p:cNvPr>
          <p:cNvPicPr>
            <a:picLocks noChangeAspect="1"/>
          </p:cNvPicPr>
          <p:nvPr/>
        </p:nvPicPr>
        <p:blipFill>
          <a:blip r:embed="rId1"/>
          <a:srcRect l="0" r="0" t="0" b="0"/>
          <a:stretch/>
        </p:blipFill>
        <p:spPr>
          <a:xfrm>
            <a:off x="548640" y="3749040"/>
            <a:ext cx="5257800" cy="2286000"/>
          </a:xfrm>
          <a:prstGeom prst="rect">
            <a:avLst/>
          </a:prstGeom>
        </p:spPr>
      </p:pic>
      <p:sp>
        <p:nvSpPr>
          <p:cNvPr id="26" name="Shape 23"/>
          <p:cNvSpPr/>
          <p:nvPr/>
        </p:nvSpPr>
        <p:spPr>
          <a:xfrm>
            <a:off x="5993892" y="3707892"/>
            <a:ext cx="5705856" cy="2368296"/>
          </a:xfrm>
          <a:prstGeom prst="roundRect">
            <a:avLst>
              <a:gd name="adj" fmla="val 3475"/>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27" name="Image 1" descr="/home/claude/deck-assets/crop/01-home.png">    </p:cNvPr>
          <p:cNvPicPr>
            <a:picLocks noChangeAspect="1"/>
          </p:cNvPicPr>
          <p:nvPr/>
        </p:nvPicPr>
        <p:blipFill>
          <a:blip r:embed="rId2"/>
          <a:srcRect l="0" r="0" t="0" b="0"/>
          <a:stretch/>
        </p:blipFill>
        <p:spPr>
          <a:xfrm>
            <a:off x="6035040" y="3749040"/>
            <a:ext cx="5623560" cy="2286000"/>
          </a:xfrm>
          <a:prstGeom prst="rect">
            <a:avLst/>
          </a:prstGeom>
        </p:spPr>
      </p:pic>
      <p:sp>
        <p:nvSpPr>
          <p:cNvPr id="28" name="Text 24"/>
          <p:cNvSpPr/>
          <p:nvPr/>
        </p:nvSpPr>
        <p:spPr>
          <a:xfrm>
            <a:off x="548640" y="6108192"/>
            <a:ext cx="5257800" cy="228600"/>
          </a:xfrm>
          <a:prstGeom prst="rect">
            <a:avLst/>
          </a:prstGeom>
          <a:noFill/>
          <a:ln/>
        </p:spPr>
        <p:txBody>
          <a:bodyPr wrap="square" rtlCol="0" anchor="ctr"/>
          <a:lstStyle/>
          <a:p>
            <a:pPr algn="ctr" indent="0" marL="0">
              <a:buNone/>
            </a:pPr>
            <a:r>
              <a:rPr lang="en-US" sz="950" i="1" dirty="0">
                <a:solidFill>
                  <a:srgbClr val="75897F"/>
                </a:solidFill>
                <a:latin typeface="Calibri" pitchFamily="34" charset="0"/>
                <a:ea typeface="Calibri" pitchFamily="34" charset="-122"/>
                <a:cs typeface="Calibri" pitchFamily="34" charset="-120"/>
              </a:rPr>
              <a:t>Title Screen</a:t>
            </a:r>
            <a:endParaRPr lang="en-US" sz="950" dirty="0"/>
          </a:p>
        </p:txBody>
      </p:sp>
      <p:sp>
        <p:nvSpPr>
          <p:cNvPr id="29" name="Text 25"/>
          <p:cNvSpPr/>
          <p:nvPr/>
        </p:nvSpPr>
        <p:spPr>
          <a:xfrm>
            <a:off x="6035040" y="6108192"/>
            <a:ext cx="5623560" cy="228600"/>
          </a:xfrm>
          <a:prstGeom prst="rect">
            <a:avLst/>
          </a:prstGeom>
          <a:noFill/>
          <a:ln/>
        </p:spPr>
        <p:txBody>
          <a:bodyPr wrap="square" rtlCol="0" anchor="ctr"/>
          <a:lstStyle/>
          <a:p>
            <a:pPr algn="ctr" indent="0" marL="0">
              <a:buNone/>
            </a:pPr>
            <a:r>
              <a:rPr lang="en-US" sz="950" i="1" dirty="0">
                <a:solidFill>
                  <a:srgbClr val="75897F"/>
                </a:solidFill>
                <a:latin typeface="Calibri" pitchFamily="34" charset="0"/>
                <a:ea typeface="Calibri" pitchFamily="34" charset="-122"/>
                <a:cs typeface="Calibri" pitchFamily="34" charset="-120"/>
              </a:rPr>
              <a:t>Home Dashboard</a:t>
            </a:r>
            <a:endParaRPr lang="en-US" sz="950" dirty="0"/>
          </a:p>
        </p:txBody>
      </p:sp>
      <p:sp>
        <p:nvSpPr>
          <p:cNvPr id="30" name="Text 2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07</a:t>
            </a:r>
            <a:endParaRPr lang="en-US" sz="1000" dirty="0"/>
          </a:p>
        </p:txBody>
      </p:sp>
      <p:sp>
        <p:nvSpPr>
          <p:cNvPr id="31" name="Text 27"/>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HOW TO USE — PART 2</a:t>
            </a:r>
            <a:endParaRPr lang="en-US" sz="1250" dirty="0"/>
          </a:p>
        </p:txBody>
      </p:sp>
      <p:sp>
        <p:nvSpPr>
          <p:cNvPr id="3" name="Text 1"/>
          <p:cNvSpPr/>
          <p:nvPr/>
        </p:nvSpPr>
        <p:spPr>
          <a:xfrm>
            <a:off x="548640" y="777240"/>
            <a:ext cx="7772400" cy="548640"/>
          </a:xfrm>
          <a:prstGeom prst="rect">
            <a:avLst/>
          </a:prstGeom>
          <a:noFill/>
          <a:ln/>
        </p:spPr>
        <p:txBody>
          <a:bodyPr wrap="square" rtlCol="0" anchor="ctr"/>
          <a:lstStyle/>
          <a:p>
            <a:pPr indent="0" marL="0">
              <a:buNone/>
            </a:pPr>
            <a:r>
              <a:rPr lang="en-US" sz="2600" b="1" dirty="0">
                <a:solidFill>
                  <a:srgbClr val="F7FAF9"/>
                </a:solidFill>
                <a:latin typeface="Calibri" pitchFamily="34" charset="0"/>
                <a:ea typeface="Calibri" pitchFamily="34" charset="-122"/>
                <a:cs typeface="Calibri" pitchFamily="34" charset="-120"/>
              </a:rPr>
              <a:t>Every simulation shares the same four-tab layout</a:t>
            </a:r>
            <a:endParaRPr lang="en-US" sz="2600" dirty="0"/>
          </a:p>
        </p:txBody>
      </p:sp>
      <p:sp>
        <p:nvSpPr>
          <p:cNvPr id="4" name="Shape 2"/>
          <p:cNvSpPr/>
          <p:nvPr/>
        </p:nvSpPr>
        <p:spPr>
          <a:xfrm>
            <a:off x="548640" y="1554480"/>
            <a:ext cx="2724912" cy="1600200"/>
          </a:xfrm>
          <a:prstGeom prst="roundRect">
            <a:avLst>
              <a:gd name="adj" fmla="val 5714"/>
            </a:avLst>
          </a:prstGeom>
          <a:solidFill>
            <a:srgbClr val="1B3A2B"/>
          </a:solidFill>
          <a:ln w="12700">
            <a:solidFill>
              <a:srgbClr val="43A047"/>
            </a:solidFill>
            <a:prstDash val="solid"/>
          </a:ln>
        </p:spPr>
      </p:sp>
      <p:sp>
        <p:nvSpPr>
          <p:cNvPr id="5" name="Text 3"/>
          <p:cNvSpPr/>
          <p:nvPr/>
        </p:nvSpPr>
        <p:spPr>
          <a:xfrm>
            <a:off x="713232" y="1682496"/>
            <a:ext cx="2395728" cy="365760"/>
          </a:xfrm>
          <a:prstGeom prst="rect">
            <a:avLst/>
          </a:prstGeom>
          <a:noFill/>
          <a:ln/>
        </p:spPr>
        <p:txBody>
          <a:bodyPr wrap="square" lIns="0" tIns="0" rIns="0" bIns="0" rtlCol="0" anchor="ctr"/>
          <a:lstStyle/>
          <a:p>
            <a:pPr indent="0" marL="0">
              <a:buNone/>
            </a:pPr>
            <a:r>
              <a:rPr lang="en-US" sz="1350" b="1" dirty="0">
                <a:solidFill>
                  <a:srgbClr val="FFB300"/>
                </a:solidFill>
                <a:latin typeface="Calibri" pitchFamily="34" charset="0"/>
                <a:ea typeface="Calibri" pitchFamily="34" charset="-122"/>
                <a:cs typeface="Calibri" pitchFamily="34" charset="-120"/>
              </a:rPr>
              <a:t>Simulation</a:t>
            </a:r>
            <a:endParaRPr lang="en-US" sz="1350" dirty="0"/>
          </a:p>
        </p:txBody>
      </p:sp>
      <p:sp>
        <p:nvSpPr>
          <p:cNvPr id="6" name="Text 4"/>
          <p:cNvSpPr/>
          <p:nvPr/>
        </p:nvSpPr>
        <p:spPr>
          <a:xfrm>
            <a:off x="713232" y="2066544"/>
            <a:ext cx="2395728" cy="1005840"/>
          </a:xfrm>
          <a:prstGeom prst="rect">
            <a:avLst/>
          </a:prstGeom>
          <a:noFill/>
          <a:ln/>
        </p:spPr>
        <p:txBody>
          <a:bodyPr wrap="square" lIns="0" tIns="0" rIns="0" bIns="0" rtlCol="0" anchor="ctr"/>
          <a:lstStyle/>
          <a:p>
            <a:pPr indent="0" marL="0">
              <a:lnSpc>
                <a:spcPct val="122000"/>
              </a:lnSpc>
              <a:buNone/>
            </a:pPr>
            <a:r>
              <a:rPr lang="en-US" sz="1000" dirty="0">
                <a:solidFill>
                  <a:srgbClr val="DCE7E1"/>
                </a:solidFill>
                <a:latin typeface="Calibri" pitchFamily="34" charset="0"/>
                <a:ea typeface="Calibri" pitchFamily="34" charset="-122"/>
                <a:cs typeface="Calibri" pitchFamily="34" charset="-120"/>
              </a:rPr>
              <a:t>Adjust sliders and switches on the right; watch the canvas and observation log respond live on the left.</a:t>
            </a:r>
            <a:endParaRPr lang="en-US" sz="1000" dirty="0"/>
          </a:p>
        </p:txBody>
      </p:sp>
      <p:sp>
        <p:nvSpPr>
          <p:cNvPr id="7" name="Shape 5"/>
          <p:cNvSpPr/>
          <p:nvPr/>
        </p:nvSpPr>
        <p:spPr>
          <a:xfrm>
            <a:off x="3456432" y="1554480"/>
            <a:ext cx="2724912" cy="1600200"/>
          </a:xfrm>
          <a:prstGeom prst="roundRect">
            <a:avLst>
              <a:gd name="adj" fmla="val 5714"/>
            </a:avLst>
          </a:prstGeom>
          <a:solidFill>
            <a:srgbClr val="1B3A2B"/>
          </a:solidFill>
          <a:ln w="12700">
            <a:solidFill>
              <a:srgbClr val="43A047"/>
            </a:solidFill>
            <a:prstDash val="solid"/>
          </a:ln>
        </p:spPr>
      </p:sp>
      <p:sp>
        <p:nvSpPr>
          <p:cNvPr id="8" name="Text 6"/>
          <p:cNvSpPr/>
          <p:nvPr/>
        </p:nvSpPr>
        <p:spPr>
          <a:xfrm>
            <a:off x="3621024" y="1682496"/>
            <a:ext cx="2395728" cy="365760"/>
          </a:xfrm>
          <a:prstGeom prst="rect">
            <a:avLst/>
          </a:prstGeom>
          <a:noFill/>
          <a:ln/>
        </p:spPr>
        <p:txBody>
          <a:bodyPr wrap="square" lIns="0" tIns="0" rIns="0" bIns="0" rtlCol="0" anchor="ctr"/>
          <a:lstStyle/>
          <a:p>
            <a:pPr indent="0" marL="0">
              <a:buNone/>
            </a:pPr>
            <a:r>
              <a:rPr lang="en-US" sz="1350" b="1" dirty="0">
                <a:solidFill>
                  <a:srgbClr val="FFB300"/>
                </a:solidFill>
                <a:latin typeface="Calibri" pitchFamily="34" charset="0"/>
                <a:ea typeface="Calibri" pitchFamily="34" charset="-122"/>
                <a:cs typeface="Calibri" pitchFamily="34" charset="-120"/>
              </a:rPr>
              <a:t>Data &amp; Graphs</a:t>
            </a:r>
            <a:endParaRPr lang="en-US" sz="1350" dirty="0"/>
          </a:p>
        </p:txBody>
      </p:sp>
      <p:sp>
        <p:nvSpPr>
          <p:cNvPr id="9" name="Text 7"/>
          <p:cNvSpPr/>
          <p:nvPr/>
        </p:nvSpPr>
        <p:spPr>
          <a:xfrm>
            <a:off x="3621024" y="2066544"/>
            <a:ext cx="2395728" cy="1005840"/>
          </a:xfrm>
          <a:prstGeom prst="rect">
            <a:avLst/>
          </a:prstGeom>
          <a:noFill/>
          <a:ln/>
        </p:spPr>
        <p:txBody>
          <a:bodyPr wrap="square" lIns="0" tIns="0" rIns="0" bIns="0" rtlCol="0" anchor="ctr"/>
          <a:lstStyle/>
          <a:p>
            <a:pPr indent="0" marL="0">
              <a:lnSpc>
                <a:spcPct val="122000"/>
              </a:lnSpc>
              <a:buNone/>
            </a:pPr>
            <a:r>
              <a:rPr lang="en-US" sz="1000" dirty="0">
                <a:solidFill>
                  <a:srgbClr val="DCE7E1"/>
                </a:solidFill>
                <a:latin typeface="Calibri" pitchFamily="34" charset="0"/>
                <a:ea typeface="Calibri" pitchFamily="34" charset="-122"/>
                <a:cs typeface="Calibri" pitchFamily="34" charset="-120"/>
              </a:rPr>
              <a:t>Every logged trial feeds a live chart and a growing observation table — exportable as CSV.</a:t>
            </a:r>
            <a:endParaRPr lang="en-US" sz="1000" dirty="0"/>
          </a:p>
        </p:txBody>
      </p:sp>
      <p:sp>
        <p:nvSpPr>
          <p:cNvPr id="10" name="Shape 8"/>
          <p:cNvSpPr/>
          <p:nvPr/>
        </p:nvSpPr>
        <p:spPr>
          <a:xfrm>
            <a:off x="6364224" y="1554480"/>
            <a:ext cx="2724912" cy="1600200"/>
          </a:xfrm>
          <a:prstGeom prst="roundRect">
            <a:avLst>
              <a:gd name="adj" fmla="val 5714"/>
            </a:avLst>
          </a:prstGeom>
          <a:solidFill>
            <a:srgbClr val="1B3A2B"/>
          </a:solidFill>
          <a:ln w="12700">
            <a:solidFill>
              <a:srgbClr val="43A047"/>
            </a:solidFill>
            <a:prstDash val="solid"/>
          </a:ln>
        </p:spPr>
      </p:sp>
      <p:sp>
        <p:nvSpPr>
          <p:cNvPr id="11" name="Text 9"/>
          <p:cNvSpPr/>
          <p:nvPr/>
        </p:nvSpPr>
        <p:spPr>
          <a:xfrm>
            <a:off x="6528816" y="1682496"/>
            <a:ext cx="2395728" cy="365760"/>
          </a:xfrm>
          <a:prstGeom prst="rect">
            <a:avLst/>
          </a:prstGeom>
          <a:noFill/>
          <a:ln/>
        </p:spPr>
        <p:txBody>
          <a:bodyPr wrap="square" lIns="0" tIns="0" rIns="0" bIns="0" rtlCol="0" anchor="ctr"/>
          <a:lstStyle/>
          <a:p>
            <a:pPr indent="0" marL="0">
              <a:buNone/>
            </a:pPr>
            <a:r>
              <a:rPr lang="en-US" sz="1350" b="1" dirty="0">
                <a:solidFill>
                  <a:srgbClr val="FFB300"/>
                </a:solidFill>
                <a:latin typeface="Calibri" pitchFamily="34" charset="0"/>
                <a:ea typeface="Calibri" pitchFamily="34" charset="-122"/>
                <a:cs typeface="Calibri" pitchFamily="34" charset="-120"/>
              </a:rPr>
              <a:t>Learn</a:t>
            </a:r>
            <a:endParaRPr lang="en-US" sz="1350" dirty="0"/>
          </a:p>
        </p:txBody>
      </p:sp>
      <p:sp>
        <p:nvSpPr>
          <p:cNvPr id="12" name="Text 10"/>
          <p:cNvSpPr/>
          <p:nvPr/>
        </p:nvSpPr>
        <p:spPr>
          <a:xfrm>
            <a:off x="6528816" y="2066544"/>
            <a:ext cx="2395728" cy="1005840"/>
          </a:xfrm>
          <a:prstGeom prst="rect">
            <a:avLst/>
          </a:prstGeom>
          <a:noFill/>
          <a:ln/>
        </p:spPr>
        <p:txBody>
          <a:bodyPr wrap="square" lIns="0" tIns="0" rIns="0" bIns="0" rtlCol="0" anchor="ctr"/>
          <a:lstStyle/>
          <a:p>
            <a:pPr indent="0" marL="0">
              <a:lnSpc>
                <a:spcPct val="122000"/>
              </a:lnSpc>
              <a:buNone/>
            </a:pPr>
            <a:r>
              <a:rPr lang="en-US" sz="1000" dirty="0">
                <a:solidFill>
                  <a:srgbClr val="DCE7E1"/>
                </a:solidFill>
                <a:latin typeface="Calibri" pitchFamily="34" charset="0"/>
                <a:ea typeface="Calibri" pitchFamily="34" charset="-122"/>
                <a:cs typeface="Calibri" pitchFamily="34" charset="-120"/>
              </a:rPr>
              <a:t>Objectives, scientific background, real-world applications, common misconceptions, facts and a summary.</a:t>
            </a:r>
            <a:endParaRPr lang="en-US" sz="1000" dirty="0"/>
          </a:p>
        </p:txBody>
      </p:sp>
      <p:sp>
        <p:nvSpPr>
          <p:cNvPr id="13" name="Shape 11"/>
          <p:cNvSpPr/>
          <p:nvPr/>
        </p:nvSpPr>
        <p:spPr>
          <a:xfrm>
            <a:off x="9272016" y="1554480"/>
            <a:ext cx="2724912" cy="1600200"/>
          </a:xfrm>
          <a:prstGeom prst="roundRect">
            <a:avLst>
              <a:gd name="adj" fmla="val 5714"/>
            </a:avLst>
          </a:prstGeom>
          <a:solidFill>
            <a:srgbClr val="1B3A2B"/>
          </a:solidFill>
          <a:ln w="12700">
            <a:solidFill>
              <a:srgbClr val="43A047"/>
            </a:solidFill>
            <a:prstDash val="solid"/>
          </a:ln>
        </p:spPr>
      </p:sp>
      <p:sp>
        <p:nvSpPr>
          <p:cNvPr id="14" name="Text 12"/>
          <p:cNvSpPr/>
          <p:nvPr/>
        </p:nvSpPr>
        <p:spPr>
          <a:xfrm>
            <a:off x="9436608" y="1682496"/>
            <a:ext cx="2395728" cy="365760"/>
          </a:xfrm>
          <a:prstGeom prst="rect">
            <a:avLst/>
          </a:prstGeom>
          <a:noFill/>
          <a:ln/>
        </p:spPr>
        <p:txBody>
          <a:bodyPr wrap="square" lIns="0" tIns="0" rIns="0" bIns="0" rtlCol="0" anchor="ctr"/>
          <a:lstStyle/>
          <a:p>
            <a:pPr indent="0" marL="0">
              <a:buNone/>
            </a:pPr>
            <a:r>
              <a:rPr lang="en-US" sz="1350" b="1" dirty="0">
                <a:solidFill>
                  <a:srgbClr val="FFB300"/>
                </a:solidFill>
                <a:latin typeface="Calibri" pitchFamily="34" charset="0"/>
                <a:ea typeface="Calibri" pitchFamily="34" charset="-122"/>
                <a:cs typeface="Calibri" pitchFamily="34" charset="-120"/>
              </a:rPr>
              <a:t>Quiz</a:t>
            </a:r>
            <a:endParaRPr lang="en-US" sz="1350" dirty="0"/>
          </a:p>
        </p:txBody>
      </p:sp>
      <p:sp>
        <p:nvSpPr>
          <p:cNvPr id="15" name="Text 13"/>
          <p:cNvSpPr/>
          <p:nvPr/>
        </p:nvSpPr>
        <p:spPr>
          <a:xfrm>
            <a:off x="9436608" y="2066544"/>
            <a:ext cx="2395728" cy="1005840"/>
          </a:xfrm>
          <a:prstGeom prst="rect">
            <a:avLst/>
          </a:prstGeom>
          <a:noFill/>
          <a:ln/>
        </p:spPr>
        <p:txBody>
          <a:bodyPr wrap="square" lIns="0" tIns="0" rIns="0" bIns="0" rtlCol="0" anchor="ctr"/>
          <a:lstStyle/>
          <a:p>
            <a:pPr indent="0" marL="0">
              <a:lnSpc>
                <a:spcPct val="122000"/>
              </a:lnSpc>
              <a:buNone/>
            </a:pPr>
            <a:r>
              <a:rPr lang="en-US" sz="1000" dirty="0">
                <a:solidFill>
                  <a:srgbClr val="DCE7E1"/>
                </a:solidFill>
                <a:latin typeface="Calibri" pitchFamily="34" charset="0"/>
                <a:ea typeface="Calibri" pitchFamily="34" charset="-122"/>
                <a:cs typeface="Calibri" pitchFamily="34" charset="-120"/>
              </a:rPr>
              <a:t>5 scored questions with instant right/wrong feedback and an explanation for each answer.</a:t>
            </a:r>
            <a:endParaRPr lang="en-US" sz="1000" dirty="0"/>
          </a:p>
        </p:txBody>
      </p:sp>
      <p:sp>
        <p:nvSpPr>
          <p:cNvPr id="16" name="Text 14"/>
          <p:cNvSpPr/>
          <p:nvPr/>
        </p:nvSpPr>
        <p:spPr>
          <a:xfrm>
            <a:off x="548640" y="3383280"/>
            <a:ext cx="3657600" cy="320040"/>
          </a:xfrm>
          <a:prstGeom prst="rect">
            <a:avLst/>
          </a:prstGeom>
          <a:noFill/>
          <a:ln/>
        </p:spPr>
        <p:txBody>
          <a:bodyPr wrap="square" rtlCol="0" anchor="ctr"/>
          <a:lstStyle/>
          <a:p>
            <a:pPr indent="0" marL="0">
              <a:buNone/>
            </a:pPr>
            <a:r>
              <a:rPr lang="en-US" sz="1300" b="1" dirty="0">
                <a:solidFill>
                  <a:srgbClr val="F7FAF9"/>
                </a:solidFill>
                <a:latin typeface="Calibri" pitchFamily="34" charset="0"/>
                <a:ea typeface="Calibri" pitchFamily="34" charset="-122"/>
                <a:cs typeface="Calibri" pitchFamily="34" charset="-120"/>
              </a:rPr>
              <a:t>Toolbar on every simulation:</a:t>
            </a:r>
            <a:endParaRPr lang="en-US" sz="1300" dirty="0"/>
          </a:p>
        </p:txBody>
      </p:sp>
      <p:sp>
        <p:nvSpPr>
          <p:cNvPr id="17" name="Text 15"/>
          <p:cNvSpPr/>
          <p:nvPr/>
        </p:nvSpPr>
        <p:spPr>
          <a:xfrm>
            <a:off x="548640" y="3749040"/>
            <a:ext cx="5212080" cy="274320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150" dirty="0">
                <a:solidFill>
                  <a:srgbClr val="DCE7E1"/>
                </a:solidFill>
                <a:latin typeface="Calibri" pitchFamily="34" charset="0"/>
                <a:ea typeface="Calibri" pitchFamily="34" charset="-122"/>
                <a:cs typeface="Calibri" pitchFamily="34" charset="-120"/>
              </a:rPr>
              <a:t>Bookmark — save for quick access later</a:t>
            </a:r>
            <a:endParaRPr lang="en-US" sz="1150" dirty="0"/>
          </a:p>
          <a:p>
            <a:pPr marL="177800" indent="-177800">
              <a:lnSpc>
                <a:spcPct val="108000"/>
              </a:lnSpc>
              <a:spcAft>
                <a:spcPts val="800"/>
              </a:spcAft>
              <a:buSzPct val="100000"/>
              <a:buChar char="▪"/>
            </a:pPr>
            <a:r>
              <a:rPr lang="en-US" sz="1150" dirty="0">
                <a:solidFill>
                  <a:srgbClr val="DCE7E1"/>
                </a:solidFill>
                <a:latin typeface="Calibri" pitchFamily="34" charset="0"/>
                <a:ea typeface="Calibri" pitchFamily="34" charset="-122"/>
                <a:cs typeface="Calibri" pitchFamily="34" charset="-120"/>
              </a:rPr>
              <a:t>Student / Teacher Mode — toggle extra guidance</a:t>
            </a:r>
            <a:endParaRPr lang="en-US" sz="1150" dirty="0"/>
          </a:p>
          <a:p>
            <a:pPr marL="177800" indent="-177800">
              <a:lnSpc>
                <a:spcPct val="108000"/>
              </a:lnSpc>
              <a:spcAft>
                <a:spcPts val="800"/>
              </a:spcAft>
              <a:buSzPct val="100000"/>
              <a:buChar char="▪"/>
            </a:pPr>
            <a:r>
              <a:rPr lang="en-US" sz="1150" dirty="0">
                <a:solidFill>
                  <a:srgbClr val="DCE7E1"/>
                </a:solidFill>
                <a:latin typeface="Calibri" pitchFamily="34" charset="0"/>
                <a:ea typeface="Calibri" pitchFamily="34" charset="-122"/>
                <a:cs typeface="Calibri" pitchFamily="34" charset="-120"/>
              </a:rPr>
              <a:t>Full Screen — for projectors and smart boards</a:t>
            </a:r>
            <a:endParaRPr lang="en-US" sz="1150" dirty="0"/>
          </a:p>
          <a:p>
            <a:pPr marL="177800" indent="-177800">
              <a:lnSpc>
                <a:spcPct val="108000"/>
              </a:lnSpc>
              <a:spcAft>
                <a:spcPts val="800"/>
              </a:spcAft>
              <a:buSzPct val="100000"/>
              <a:buChar char="▪"/>
            </a:pPr>
            <a:r>
              <a:rPr lang="en-US" sz="1150" dirty="0">
                <a:solidFill>
                  <a:srgbClr val="DCE7E1"/>
                </a:solidFill>
                <a:latin typeface="Calibri" pitchFamily="34" charset="0"/>
                <a:ea typeface="Calibri" pitchFamily="34" charset="-122"/>
                <a:cs typeface="Calibri" pitchFamily="34" charset="-120"/>
              </a:rPr>
              <a:t>Screenshot — capture the canvas as a PNG</a:t>
            </a:r>
            <a:endParaRPr lang="en-US" sz="1150" dirty="0"/>
          </a:p>
          <a:p>
            <a:pPr marL="177800" indent="-177800">
              <a:lnSpc>
                <a:spcPct val="108000"/>
              </a:lnSpc>
              <a:spcAft>
                <a:spcPts val="800"/>
              </a:spcAft>
              <a:buSzPct val="100000"/>
              <a:buChar char="▪"/>
            </a:pPr>
            <a:r>
              <a:rPr lang="en-US" sz="1150" dirty="0">
                <a:solidFill>
                  <a:srgbClr val="DCE7E1"/>
                </a:solidFill>
                <a:latin typeface="Calibri" pitchFamily="34" charset="0"/>
                <a:ea typeface="Calibri" pitchFamily="34" charset="-122"/>
                <a:cs typeface="Calibri" pitchFamily="34" charset="-120"/>
              </a:rPr>
              <a:t>Export CSV — download logged observations</a:t>
            </a:r>
            <a:endParaRPr lang="en-US" sz="1150" dirty="0"/>
          </a:p>
          <a:p>
            <a:pPr marL="177800" indent="-177800">
              <a:lnSpc>
                <a:spcPct val="108000"/>
              </a:lnSpc>
              <a:spcAft>
                <a:spcPts val="800"/>
              </a:spcAft>
              <a:buSzPct val="100000"/>
              <a:buChar char="▪"/>
            </a:pPr>
            <a:r>
              <a:rPr lang="en-US" sz="1150" dirty="0">
                <a:solidFill>
                  <a:srgbClr val="DCE7E1"/>
                </a:solidFill>
                <a:latin typeface="Calibri" pitchFamily="34" charset="0"/>
                <a:ea typeface="Calibri" pitchFamily="34" charset="-122"/>
                <a:cs typeface="Calibri" pitchFamily="34" charset="-120"/>
              </a:rPr>
              <a:t>Reset — return the simulation to its starting state</a:t>
            </a:r>
            <a:endParaRPr lang="en-US" sz="1150" dirty="0"/>
          </a:p>
        </p:txBody>
      </p:sp>
      <p:sp>
        <p:nvSpPr>
          <p:cNvPr id="18" name="Shape 16"/>
          <p:cNvSpPr/>
          <p:nvPr/>
        </p:nvSpPr>
        <p:spPr>
          <a:xfrm>
            <a:off x="5948172" y="3342132"/>
            <a:ext cx="5751576" cy="2688336"/>
          </a:xfrm>
          <a:prstGeom prst="roundRect">
            <a:avLst>
              <a:gd name="adj" fmla="val 306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19" name="Image 0" descr="/home/claude/deck-assets/crop/sim-rockcycle-01-simulate.png">    </p:cNvPr>
          <p:cNvPicPr>
            <a:picLocks noChangeAspect="1"/>
          </p:cNvPicPr>
          <p:nvPr/>
        </p:nvPicPr>
        <p:blipFill>
          <a:blip r:embed="rId1"/>
          <a:srcRect l="0" r="0" t="0" b="0"/>
          <a:stretch/>
        </p:blipFill>
        <p:spPr>
          <a:xfrm>
            <a:off x="5989320" y="3383280"/>
            <a:ext cx="5669280" cy="2606040"/>
          </a:xfrm>
          <a:prstGeom prst="rect">
            <a:avLst/>
          </a:prstGeom>
        </p:spPr>
      </p:pic>
      <p:sp>
        <p:nvSpPr>
          <p:cNvPr id="20" name="Text 17"/>
          <p:cNvSpPr/>
          <p:nvPr/>
        </p:nvSpPr>
        <p:spPr>
          <a:xfrm>
            <a:off x="5989320" y="6053328"/>
            <a:ext cx="5669280" cy="274320"/>
          </a:xfrm>
          <a:prstGeom prst="rect">
            <a:avLst/>
          </a:prstGeom>
          <a:noFill/>
          <a:ln/>
        </p:spPr>
        <p:txBody>
          <a:bodyPr wrap="square" rtlCol="0" anchor="ctr"/>
          <a:lstStyle/>
          <a:p>
            <a:pPr algn="ctr" indent="0" marL="0">
              <a:buNone/>
            </a:pPr>
            <a:r>
              <a:rPr lang="en-US" sz="950" i="1" dirty="0">
                <a:solidFill>
                  <a:srgbClr val="75897F"/>
                </a:solidFill>
                <a:latin typeface="Calibri" pitchFamily="34" charset="0"/>
                <a:ea typeface="Calibri" pitchFamily="34" charset="-122"/>
                <a:cs typeface="Calibri" pitchFamily="34" charset="-120"/>
              </a:rPr>
              <a:t>Rock Cycle Laboratory — the Simulation tab, with toolbar and observation log visible</a:t>
            </a:r>
            <a:endParaRPr lang="en-US" sz="950" dirty="0"/>
          </a:p>
        </p:txBody>
      </p:sp>
      <p:sp>
        <p:nvSpPr>
          <p:cNvPr id="21" name="Text 1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08</a:t>
            </a:r>
            <a:endParaRPr lang="en-US" sz="1000" dirty="0"/>
          </a:p>
        </p:txBody>
      </p:sp>
      <p:sp>
        <p:nvSpPr>
          <p:cNvPr id="22" name="Text 19"/>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CONSISTENCY BY DESIGN</a:t>
            </a:r>
            <a:endParaRPr lang="en-US" sz="1250" dirty="0"/>
          </a:p>
        </p:txBody>
      </p:sp>
      <p:sp>
        <p:nvSpPr>
          <p:cNvPr id="3" name="Text 1"/>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What every one of the 10 labs includes</a:t>
            </a:r>
            <a:endParaRPr lang="en-US" sz="2800" dirty="0"/>
          </a:p>
        </p:txBody>
      </p:sp>
      <p:sp>
        <p:nvSpPr>
          <p:cNvPr id="4" name="Text 2"/>
          <p:cNvSpPr/>
          <p:nvPr/>
        </p:nvSpPr>
        <p:spPr>
          <a:xfrm>
            <a:off x="548640" y="1417320"/>
            <a:ext cx="10515600" cy="457200"/>
          </a:xfrm>
          <a:prstGeom prst="rect">
            <a:avLst/>
          </a:prstGeom>
          <a:noFill/>
          <a:ln/>
        </p:spPr>
        <p:txBody>
          <a:bodyPr wrap="square" rtlCol="0" anchor="ctr"/>
          <a:lstStyle/>
          <a:p>
            <a:pPr indent="0" marL="0">
              <a:buNone/>
            </a:pPr>
            <a:r>
              <a:rPr lang="en-US" sz="1250" dirty="0">
                <a:solidFill>
                  <a:srgbClr val="A9BCB2"/>
                </a:solidFill>
                <a:latin typeface="Calibri" pitchFamily="34" charset="0"/>
                <a:ea typeface="Calibri" pitchFamily="34" charset="-122"/>
                <a:cs typeface="Calibri" pitchFamily="34" charset="-120"/>
              </a:rPr>
              <a:t>A single, predictable structure means students spend their attention on the science — not on relearning the interface each time.</a:t>
            </a:r>
            <a:endParaRPr lang="en-US" sz="1250" dirty="0"/>
          </a:p>
        </p:txBody>
      </p:sp>
      <p:sp>
        <p:nvSpPr>
          <p:cNvPr id="5" name="Shape 3"/>
          <p:cNvSpPr/>
          <p:nvPr/>
        </p:nvSpPr>
        <p:spPr>
          <a:xfrm>
            <a:off x="548640" y="2103120"/>
            <a:ext cx="3538728" cy="777240"/>
          </a:xfrm>
          <a:prstGeom prst="roundRect">
            <a:avLst>
              <a:gd name="adj" fmla="val 9412"/>
            </a:avLst>
          </a:prstGeom>
          <a:solidFill>
            <a:srgbClr val="17281F"/>
          </a:solidFill>
          <a:ln w="12700">
            <a:solidFill>
              <a:srgbClr val="2C4436"/>
            </a:solidFill>
            <a:prstDash val="solid"/>
          </a:ln>
        </p:spPr>
      </p:sp>
      <p:sp>
        <p:nvSpPr>
          <p:cNvPr id="6" name="Shape 4"/>
          <p:cNvSpPr/>
          <p:nvPr/>
        </p:nvSpPr>
        <p:spPr>
          <a:xfrm>
            <a:off x="731520" y="2391156"/>
            <a:ext cx="201168" cy="201168"/>
          </a:xfrm>
          <a:prstGeom prst="ellipse">
            <a:avLst/>
          </a:prstGeom>
          <a:solidFill>
            <a:srgbClr val="43A047"/>
          </a:solidFill>
          <a:ln/>
        </p:spPr>
      </p:sp>
      <p:sp>
        <p:nvSpPr>
          <p:cNvPr id="7" name="Text 5"/>
          <p:cNvSpPr/>
          <p:nvPr/>
        </p:nvSpPr>
        <p:spPr>
          <a:xfrm>
            <a:off x="1051560" y="2103120"/>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Clear learning objectives</a:t>
            </a:r>
            <a:endParaRPr lang="en-US" sz="1250" dirty="0"/>
          </a:p>
        </p:txBody>
      </p:sp>
      <p:sp>
        <p:nvSpPr>
          <p:cNvPr id="8" name="Shape 6"/>
          <p:cNvSpPr/>
          <p:nvPr/>
        </p:nvSpPr>
        <p:spPr>
          <a:xfrm>
            <a:off x="4261104" y="2103120"/>
            <a:ext cx="3538728" cy="777240"/>
          </a:xfrm>
          <a:prstGeom prst="roundRect">
            <a:avLst>
              <a:gd name="adj" fmla="val 9412"/>
            </a:avLst>
          </a:prstGeom>
          <a:solidFill>
            <a:srgbClr val="17281F"/>
          </a:solidFill>
          <a:ln w="12700">
            <a:solidFill>
              <a:srgbClr val="2C4436"/>
            </a:solidFill>
            <a:prstDash val="solid"/>
          </a:ln>
        </p:spPr>
      </p:sp>
      <p:sp>
        <p:nvSpPr>
          <p:cNvPr id="9" name="Shape 7"/>
          <p:cNvSpPr/>
          <p:nvPr/>
        </p:nvSpPr>
        <p:spPr>
          <a:xfrm>
            <a:off x="4443984" y="2391156"/>
            <a:ext cx="201168" cy="201168"/>
          </a:xfrm>
          <a:prstGeom prst="ellipse">
            <a:avLst/>
          </a:prstGeom>
          <a:solidFill>
            <a:srgbClr val="43A047"/>
          </a:solidFill>
          <a:ln/>
        </p:spPr>
      </p:sp>
      <p:sp>
        <p:nvSpPr>
          <p:cNvPr id="10" name="Text 8"/>
          <p:cNvSpPr/>
          <p:nvPr/>
        </p:nvSpPr>
        <p:spPr>
          <a:xfrm>
            <a:off x="4764024" y="2103120"/>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Scientific background</a:t>
            </a:r>
            <a:endParaRPr lang="en-US" sz="1250" dirty="0"/>
          </a:p>
        </p:txBody>
      </p:sp>
      <p:sp>
        <p:nvSpPr>
          <p:cNvPr id="11" name="Shape 9"/>
          <p:cNvSpPr/>
          <p:nvPr/>
        </p:nvSpPr>
        <p:spPr>
          <a:xfrm>
            <a:off x="7973568" y="2103120"/>
            <a:ext cx="3538728" cy="777240"/>
          </a:xfrm>
          <a:prstGeom prst="roundRect">
            <a:avLst>
              <a:gd name="adj" fmla="val 9412"/>
            </a:avLst>
          </a:prstGeom>
          <a:solidFill>
            <a:srgbClr val="17281F"/>
          </a:solidFill>
          <a:ln w="12700">
            <a:solidFill>
              <a:srgbClr val="2C4436"/>
            </a:solidFill>
            <a:prstDash val="solid"/>
          </a:ln>
        </p:spPr>
      </p:sp>
      <p:sp>
        <p:nvSpPr>
          <p:cNvPr id="12" name="Shape 10"/>
          <p:cNvSpPr/>
          <p:nvPr/>
        </p:nvSpPr>
        <p:spPr>
          <a:xfrm>
            <a:off x="8156448" y="2391156"/>
            <a:ext cx="201168" cy="201168"/>
          </a:xfrm>
          <a:prstGeom prst="ellipse">
            <a:avLst/>
          </a:prstGeom>
          <a:solidFill>
            <a:srgbClr val="43A047"/>
          </a:solidFill>
          <a:ln/>
        </p:spPr>
      </p:sp>
      <p:sp>
        <p:nvSpPr>
          <p:cNvPr id="13" name="Text 11"/>
          <p:cNvSpPr/>
          <p:nvPr/>
        </p:nvSpPr>
        <p:spPr>
          <a:xfrm>
            <a:off x="8476488" y="2103120"/>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Adjustable real variables</a:t>
            </a:r>
            <a:endParaRPr lang="en-US" sz="1250" dirty="0"/>
          </a:p>
        </p:txBody>
      </p:sp>
      <p:sp>
        <p:nvSpPr>
          <p:cNvPr id="14" name="Shape 12"/>
          <p:cNvSpPr/>
          <p:nvPr/>
        </p:nvSpPr>
        <p:spPr>
          <a:xfrm>
            <a:off x="548640" y="3044952"/>
            <a:ext cx="3538728" cy="777240"/>
          </a:xfrm>
          <a:prstGeom prst="roundRect">
            <a:avLst>
              <a:gd name="adj" fmla="val 9412"/>
            </a:avLst>
          </a:prstGeom>
          <a:solidFill>
            <a:srgbClr val="17281F"/>
          </a:solidFill>
          <a:ln w="12700">
            <a:solidFill>
              <a:srgbClr val="2C4436"/>
            </a:solidFill>
            <a:prstDash val="solid"/>
          </a:ln>
        </p:spPr>
      </p:sp>
      <p:sp>
        <p:nvSpPr>
          <p:cNvPr id="15" name="Shape 13"/>
          <p:cNvSpPr/>
          <p:nvPr/>
        </p:nvSpPr>
        <p:spPr>
          <a:xfrm>
            <a:off x="731520" y="3332988"/>
            <a:ext cx="201168" cy="201168"/>
          </a:xfrm>
          <a:prstGeom prst="ellipse">
            <a:avLst/>
          </a:prstGeom>
          <a:solidFill>
            <a:srgbClr val="43A047"/>
          </a:solidFill>
          <a:ln/>
        </p:spPr>
      </p:sp>
      <p:sp>
        <p:nvSpPr>
          <p:cNvPr id="16" name="Text 14"/>
          <p:cNvSpPr/>
          <p:nvPr/>
        </p:nvSpPr>
        <p:spPr>
          <a:xfrm>
            <a:off x="1051560" y="3044952"/>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Live canvas visualisation</a:t>
            </a:r>
            <a:endParaRPr lang="en-US" sz="1250" dirty="0"/>
          </a:p>
        </p:txBody>
      </p:sp>
      <p:sp>
        <p:nvSpPr>
          <p:cNvPr id="17" name="Shape 15"/>
          <p:cNvSpPr/>
          <p:nvPr/>
        </p:nvSpPr>
        <p:spPr>
          <a:xfrm>
            <a:off x="4261104" y="3044952"/>
            <a:ext cx="3538728" cy="777240"/>
          </a:xfrm>
          <a:prstGeom prst="roundRect">
            <a:avLst>
              <a:gd name="adj" fmla="val 9412"/>
            </a:avLst>
          </a:prstGeom>
          <a:solidFill>
            <a:srgbClr val="17281F"/>
          </a:solidFill>
          <a:ln w="12700">
            <a:solidFill>
              <a:srgbClr val="2C4436"/>
            </a:solidFill>
            <a:prstDash val="solid"/>
          </a:ln>
        </p:spPr>
      </p:sp>
      <p:sp>
        <p:nvSpPr>
          <p:cNvPr id="18" name="Shape 16"/>
          <p:cNvSpPr/>
          <p:nvPr/>
        </p:nvSpPr>
        <p:spPr>
          <a:xfrm>
            <a:off x="4443984" y="3332988"/>
            <a:ext cx="201168" cy="201168"/>
          </a:xfrm>
          <a:prstGeom prst="ellipse">
            <a:avLst/>
          </a:prstGeom>
          <a:solidFill>
            <a:srgbClr val="43A047"/>
          </a:solidFill>
          <a:ln/>
        </p:spPr>
      </p:sp>
      <p:sp>
        <p:nvSpPr>
          <p:cNvPr id="19" name="Text 17"/>
          <p:cNvSpPr/>
          <p:nvPr/>
        </p:nvSpPr>
        <p:spPr>
          <a:xfrm>
            <a:off x="4764024" y="3044952"/>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Automatic observation log</a:t>
            </a:r>
            <a:endParaRPr lang="en-US" sz="1250" dirty="0"/>
          </a:p>
        </p:txBody>
      </p:sp>
      <p:sp>
        <p:nvSpPr>
          <p:cNvPr id="20" name="Shape 18"/>
          <p:cNvSpPr/>
          <p:nvPr/>
        </p:nvSpPr>
        <p:spPr>
          <a:xfrm>
            <a:off x="7973568" y="3044952"/>
            <a:ext cx="3538728" cy="777240"/>
          </a:xfrm>
          <a:prstGeom prst="roundRect">
            <a:avLst>
              <a:gd name="adj" fmla="val 9412"/>
            </a:avLst>
          </a:prstGeom>
          <a:solidFill>
            <a:srgbClr val="17281F"/>
          </a:solidFill>
          <a:ln w="12700">
            <a:solidFill>
              <a:srgbClr val="2C4436"/>
            </a:solidFill>
            <a:prstDash val="solid"/>
          </a:ln>
        </p:spPr>
      </p:sp>
      <p:sp>
        <p:nvSpPr>
          <p:cNvPr id="21" name="Shape 19"/>
          <p:cNvSpPr/>
          <p:nvPr/>
        </p:nvSpPr>
        <p:spPr>
          <a:xfrm>
            <a:off x="8156448" y="3332988"/>
            <a:ext cx="201168" cy="201168"/>
          </a:xfrm>
          <a:prstGeom prst="ellipse">
            <a:avLst/>
          </a:prstGeom>
          <a:solidFill>
            <a:srgbClr val="43A047"/>
          </a:solidFill>
          <a:ln/>
        </p:spPr>
      </p:sp>
      <p:sp>
        <p:nvSpPr>
          <p:cNvPr id="22" name="Text 20"/>
          <p:cNvSpPr/>
          <p:nvPr/>
        </p:nvSpPr>
        <p:spPr>
          <a:xfrm>
            <a:off x="8476488" y="3044952"/>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Data table + live graph</a:t>
            </a:r>
            <a:endParaRPr lang="en-US" sz="1250" dirty="0"/>
          </a:p>
        </p:txBody>
      </p:sp>
      <p:sp>
        <p:nvSpPr>
          <p:cNvPr id="23" name="Shape 21"/>
          <p:cNvSpPr/>
          <p:nvPr/>
        </p:nvSpPr>
        <p:spPr>
          <a:xfrm>
            <a:off x="548640" y="3986784"/>
            <a:ext cx="3538728" cy="777240"/>
          </a:xfrm>
          <a:prstGeom prst="roundRect">
            <a:avLst>
              <a:gd name="adj" fmla="val 9412"/>
            </a:avLst>
          </a:prstGeom>
          <a:solidFill>
            <a:srgbClr val="17281F"/>
          </a:solidFill>
          <a:ln w="12700">
            <a:solidFill>
              <a:srgbClr val="2C4436"/>
            </a:solidFill>
            <a:prstDash val="solid"/>
          </a:ln>
        </p:spPr>
      </p:sp>
      <p:sp>
        <p:nvSpPr>
          <p:cNvPr id="24" name="Shape 22"/>
          <p:cNvSpPr/>
          <p:nvPr/>
        </p:nvSpPr>
        <p:spPr>
          <a:xfrm>
            <a:off x="731520" y="4274820"/>
            <a:ext cx="201168" cy="201168"/>
          </a:xfrm>
          <a:prstGeom prst="ellipse">
            <a:avLst/>
          </a:prstGeom>
          <a:solidFill>
            <a:srgbClr val="43A047"/>
          </a:solidFill>
          <a:ln/>
        </p:spPr>
      </p:sp>
      <p:sp>
        <p:nvSpPr>
          <p:cNvPr id="25" name="Text 23"/>
          <p:cNvSpPr/>
          <p:nvPr/>
        </p:nvSpPr>
        <p:spPr>
          <a:xfrm>
            <a:off x="1051560" y="3986784"/>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Real-world applications</a:t>
            </a:r>
            <a:endParaRPr lang="en-US" sz="1250" dirty="0"/>
          </a:p>
        </p:txBody>
      </p:sp>
      <p:sp>
        <p:nvSpPr>
          <p:cNvPr id="26" name="Shape 24"/>
          <p:cNvSpPr/>
          <p:nvPr/>
        </p:nvSpPr>
        <p:spPr>
          <a:xfrm>
            <a:off x="4261104" y="3986784"/>
            <a:ext cx="3538728" cy="777240"/>
          </a:xfrm>
          <a:prstGeom prst="roundRect">
            <a:avLst>
              <a:gd name="adj" fmla="val 9412"/>
            </a:avLst>
          </a:prstGeom>
          <a:solidFill>
            <a:srgbClr val="17281F"/>
          </a:solidFill>
          <a:ln w="12700">
            <a:solidFill>
              <a:srgbClr val="2C4436"/>
            </a:solidFill>
            <a:prstDash val="solid"/>
          </a:ln>
        </p:spPr>
      </p:sp>
      <p:sp>
        <p:nvSpPr>
          <p:cNvPr id="27" name="Shape 25"/>
          <p:cNvSpPr/>
          <p:nvPr/>
        </p:nvSpPr>
        <p:spPr>
          <a:xfrm>
            <a:off x="4443984" y="4274820"/>
            <a:ext cx="201168" cy="201168"/>
          </a:xfrm>
          <a:prstGeom prst="ellipse">
            <a:avLst/>
          </a:prstGeom>
          <a:solidFill>
            <a:srgbClr val="43A047"/>
          </a:solidFill>
          <a:ln/>
        </p:spPr>
      </p:sp>
      <p:sp>
        <p:nvSpPr>
          <p:cNvPr id="28" name="Text 26"/>
          <p:cNvSpPr/>
          <p:nvPr/>
        </p:nvSpPr>
        <p:spPr>
          <a:xfrm>
            <a:off x="4764024" y="3986784"/>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Common misconceptions</a:t>
            </a:r>
            <a:endParaRPr lang="en-US" sz="1250" dirty="0"/>
          </a:p>
        </p:txBody>
      </p:sp>
      <p:sp>
        <p:nvSpPr>
          <p:cNvPr id="29" name="Shape 27"/>
          <p:cNvSpPr/>
          <p:nvPr/>
        </p:nvSpPr>
        <p:spPr>
          <a:xfrm>
            <a:off x="7973568" y="3986784"/>
            <a:ext cx="3538728" cy="777240"/>
          </a:xfrm>
          <a:prstGeom prst="roundRect">
            <a:avLst>
              <a:gd name="adj" fmla="val 9412"/>
            </a:avLst>
          </a:prstGeom>
          <a:solidFill>
            <a:srgbClr val="17281F"/>
          </a:solidFill>
          <a:ln w="12700">
            <a:solidFill>
              <a:srgbClr val="2C4436"/>
            </a:solidFill>
            <a:prstDash val="solid"/>
          </a:ln>
        </p:spPr>
      </p:sp>
      <p:sp>
        <p:nvSpPr>
          <p:cNvPr id="30" name="Shape 28"/>
          <p:cNvSpPr/>
          <p:nvPr/>
        </p:nvSpPr>
        <p:spPr>
          <a:xfrm>
            <a:off x="8156448" y="4274820"/>
            <a:ext cx="201168" cy="201168"/>
          </a:xfrm>
          <a:prstGeom prst="ellipse">
            <a:avLst/>
          </a:prstGeom>
          <a:solidFill>
            <a:srgbClr val="43A047"/>
          </a:solidFill>
          <a:ln/>
        </p:spPr>
      </p:sp>
      <p:sp>
        <p:nvSpPr>
          <p:cNvPr id="31" name="Text 29"/>
          <p:cNvSpPr/>
          <p:nvPr/>
        </p:nvSpPr>
        <p:spPr>
          <a:xfrm>
            <a:off x="8476488" y="3986784"/>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Interesting facts</a:t>
            </a:r>
            <a:endParaRPr lang="en-US" sz="1250" dirty="0"/>
          </a:p>
        </p:txBody>
      </p:sp>
      <p:sp>
        <p:nvSpPr>
          <p:cNvPr id="32" name="Shape 30"/>
          <p:cNvSpPr/>
          <p:nvPr/>
        </p:nvSpPr>
        <p:spPr>
          <a:xfrm>
            <a:off x="548640" y="4928616"/>
            <a:ext cx="3538728" cy="777240"/>
          </a:xfrm>
          <a:prstGeom prst="roundRect">
            <a:avLst>
              <a:gd name="adj" fmla="val 9412"/>
            </a:avLst>
          </a:prstGeom>
          <a:solidFill>
            <a:srgbClr val="17281F"/>
          </a:solidFill>
          <a:ln w="12700">
            <a:solidFill>
              <a:srgbClr val="2C4436"/>
            </a:solidFill>
            <a:prstDash val="solid"/>
          </a:ln>
        </p:spPr>
      </p:sp>
      <p:sp>
        <p:nvSpPr>
          <p:cNvPr id="33" name="Shape 31"/>
          <p:cNvSpPr/>
          <p:nvPr/>
        </p:nvSpPr>
        <p:spPr>
          <a:xfrm>
            <a:off x="731520" y="5216652"/>
            <a:ext cx="201168" cy="201168"/>
          </a:xfrm>
          <a:prstGeom prst="ellipse">
            <a:avLst/>
          </a:prstGeom>
          <a:solidFill>
            <a:srgbClr val="43A047"/>
          </a:solidFill>
          <a:ln/>
        </p:spPr>
      </p:sp>
      <p:sp>
        <p:nvSpPr>
          <p:cNvPr id="34" name="Text 32"/>
          <p:cNvSpPr/>
          <p:nvPr/>
        </p:nvSpPr>
        <p:spPr>
          <a:xfrm>
            <a:off x="1051560" y="4928616"/>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5-question scored quiz</a:t>
            </a:r>
            <a:endParaRPr lang="en-US" sz="1250" dirty="0"/>
          </a:p>
        </p:txBody>
      </p:sp>
      <p:sp>
        <p:nvSpPr>
          <p:cNvPr id="35" name="Shape 33"/>
          <p:cNvSpPr/>
          <p:nvPr/>
        </p:nvSpPr>
        <p:spPr>
          <a:xfrm>
            <a:off x="4261104" y="4928616"/>
            <a:ext cx="3538728" cy="777240"/>
          </a:xfrm>
          <a:prstGeom prst="roundRect">
            <a:avLst>
              <a:gd name="adj" fmla="val 9412"/>
            </a:avLst>
          </a:prstGeom>
          <a:solidFill>
            <a:srgbClr val="17281F"/>
          </a:solidFill>
          <a:ln w="12700">
            <a:solidFill>
              <a:srgbClr val="2C4436"/>
            </a:solidFill>
            <a:prstDash val="solid"/>
          </a:ln>
        </p:spPr>
      </p:sp>
      <p:sp>
        <p:nvSpPr>
          <p:cNvPr id="36" name="Shape 34"/>
          <p:cNvSpPr/>
          <p:nvPr/>
        </p:nvSpPr>
        <p:spPr>
          <a:xfrm>
            <a:off x="4443984" y="5216652"/>
            <a:ext cx="201168" cy="201168"/>
          </a:xfrm>
          <a:prstGeom prst="ellipse">
            <a:avLst/>
          </a:prstGeom>
          <a:solidFill>
            <a:srgbClr val="43A047"/>
          </a:solidFill>
          <a:ln/>
        </p:spPr>
      </p:sp>
      <p:sp>
        <p:nvSpPr>
          <p:cNvPr id="37" name="Text 35"/>
          <p:cNvSpPr/>
          <p:nvPr/>
        </p:nvSpPr>
        <p:spPr>
          <a:xfrm>
            <a:off x="4764024" y="4928616"/>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One-tap reset</a:t>
            </a:r>
            <a:endParaRPr lang="en-US" sz="1250" dirty="0"/>
          </a:p>
        </p:txBody>
      </p:sp>
      <p:sp>
        <p:nvSpPr>
          <p:cNvPr id="38" name="Shape 36"/>
          <p:cNvSpPr/>
          <p:nvPr/>
        </p:nvSpPr>
        <p:spPr>
          <a:xfrm>
            <a:off x="7973568" y="4928616"/>
            <a:ext cx="3538728" cy="777240"/>
          </a:xfrm>
          <a:prstGeom prst="roundRect">
            <a:avLst>
              <a:gd name="adj" fmla="val 9412"/>
            </a:avLst>
          </a:prstGeom>
          <a:solidFill>
            <a:srgbClr val="17281F"/>
          </a:solidFill>
          <a:ln w="12700">
            <a:solidFill>
              <a:srgbClr val="2C4436"/>
            </a:solidFill>
            <a:prstDash val="solid"/>
          </a:ln>
        </p:spPr>
      </p:sp>
      <p:sp>
        <p:nvSpPr>
          <p:cNvPr id="39" name="Shape 37"/>
          <p:cNvSpPr/>
          <p:nvPr/>
        </p:nvSpPr>
        <p:spPr>
          <a:xfrm>
            <a:off x="8156448" y="5216652"/>
            <a:ext cx="201168" cy="201168"/>
          </a:xfrm>
          <a:prstGeom prst="ellipse">
            <a:avLst/>
          </a:prstGeom>
          <a:solidFill>
            <a:srgbClr val="43A047"/>
          </a:solidFill>
          <a:ln/>
        </p:spPr>
      </p:sp>
      <p:sp>
        <p:nvSpPr>
          <p:cNvPr id="40" name="Text 38"/>
          <p:cNvSpPr/>
          <p:nvPr/>
        </p:nvSpPr>
        <p:spPr>
          <a:xfrm>
            <a:off x="8476488" y="4928616"/>
            <a:ext cx="2852928" cy="777240"/>
          </a:xfrm>
          <a:prstGeom prst="rect">
            <a:avLst/>
          </a:prstGeom>
          <a:noFill/>
          <a:ln/>
        </p:spPr>
        <p:txBody>
          <a:bodyPr wrap="square" lIns="0" tIns="0" rIns="0" bIns="0" rtlCol="0" anchor="ctr"/>
          <a:lstStyle/>
          <a:p>
            <a:pPr indent="0" marL="0">
              <a:buNone/>
            </a:pPr>
            <a:r>
              <a:rPr lang="en-US" sz="1250" b="1" dirty="0">
                <a:solidFill>
                  <a:srgbClr val="DCE7E1"/>
                </a:solidFill>
                <a:latin typeface="Calibri" pitchFamily="34" charset="0"/>
                <a:ea typeface="Calibri" pitchFamily="34" charset="-122"/>
                <a:cs typeface="Calibri" pitchFamily="34" charset="-120"/>
              </a:rPr>
              <a:t>CSV export &amp; screenshot</a:t>
            </a:r>
            <a:endParaRPr lang="en-US" sz="1250" dirty="0"/>
          </a:p>
        </p:txBody>
      </p:sp>
      <p:sp>
        <p:nvSpPr>
          <p:cNvPr id="41" name="Text 3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09</a:t>
            </a:r>
            <a:endParaRPr lang="en-US" sz="1000" dirty="0"/>
          </a:p>
        </p:txBody>
      </p:sp>
      <p:sp>
        <p:nvSpPr>
          <p:cNvPr id="42" name="Text 40"/>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331720"/>
            <a:ext cx="5486400" cy="365760"/>
          </a:xfrm>
          <a:prstGeom prst="rect">
            <a:avLst/>
          </a:prstGeom>
          <a:noFill/>
          <a:ln/>
        </p:spPr>
        <p:txBody>
          <a:bodyPr wrap="square" rtlCol="0" anchor="ctr"/>
          <a:lstStyle/>
          <a:p>
            <a:pPr indent="0" marL="0">
              <a:buNone/>
            </a:pPr>
            <a:r>
              <a:rPr lang="en-US" sz="1300" b="1" spc="300" kern="0" dirty="0">
                <a:solidFill>
                  <a:srgbClr val="FFB300"/>
                </a:solidFill>
                <a:latin typeface="Calibri" pitchFamily="34" charset="0"/>
                <a:ea typeface="Calibri" pitchFamily="34" charset="-122"/>
                <a:cs typeface="Calibri" pitchFamily="34" charset="-120"/>
              </a:rPr>
              <a:t>PART TWO</a:t>
            </a:r>
            <a:endParaRPr lang="en-US" sz="1300" dirty="0"/>
          </a:p>
        </p:txBody>
      </p:sp>
      <p:sp>
        <p:nvSpPr>
          <p:cNvPr id="3" name="Text 1"/>
          <p:cNvSpPr/>
          <p:nvPr/>
        </p:nvSpPr>
        <p:spPr>
          <a:xfrm>
            <a:off x="594360" y="2697480"/>
            <a:ext cx="9144000" cy="1005840"/>
          </a:xfrm>
          <a:prstGeom prst="rect">
            <a:avLst/>
          </a:prstGeom>
          <a:noFill/>
          <a:ln/>
        </p:spPr>
        <p:txBody>
          <a:bodyPr wrap="square" rtlCol="0" anchor="ctr"/>
          <a:lstStyle/>
          <a:p>
            <a:pPr indent="0" marL="0">
              <a:buNone/>
            </a:pPr>
            <a:r>
              <a:rPr lang="en-US" sz="4400" b="1" dirty="0">
                <a:solidFill>
                  <a:srgbClr val="F7FAF9"/>
                </a:solidFill>
                <a:latin typeface="Calibri" pitchFamily="34" charset="0"/>
                <a:ea typeface="Calibri" pitchFamily="34" charset="-122"/>
                <a:cs typeface="Calibri" pitchFamily="34" charset="-120"/>
              </a:rPr>
              <a:t>The 10 Simulations</a:t>
            </a:r>
            <a:endParaRPr lang="en-US" sz="4400" dirty="0"/>
          </a:p>
        </p:txBody>
      </p:sp>
      <p:sp>
        <p:nvSpPr>
          <p:cNvPr id="4" name="Text 2"/>
          <p:cNvSpPr/>
          <p:nvPr/>
        </p:nvSpPr>
        <p:spPr>
          <a:xfrm>
            <a:off x="640080" y="3611880"/>
            <a:ext cx="7772400" cy="548640"/>
          </a:xfrm>
          <a:prstGeom prst="rect">
            <a:avLst/>
          </a:prstGeom>
          <a:noFill/>
          <a:ln/>
        </p:spPr>
        <p:txBody>
          <a:bodyPr wrap="square" rtlCol="0" anchor="ctr"/>
          <a:lstStyle/>
          <a:p>
            <a:pPr indent="0" marL="0">
              <a:buNone/>
            </a:pPr>
            <a:r>
              <a:rPr lang="en-US" sz="1400" dirty="0">
                <a:solidFill>
                  <a:srgbClr val="A9BCB2"/>
                </a:solidFill>
                <a:latin typeface="Calibri" pitchFamily="34" charset="0"/>
                <a:ea typeface="Calibri" pitchFamily="34" charset="-122"/>
                <a:cs typeface="Calibri" pitchFamily="34" charset="-120"/>
              </a:rPr>
              <a:t>A guided tour of every interactive laboratory — what it teaches, what students control, and how it looks in action.</a:t>
            </a:r>
            <a:endParaRPr lang="en-US" sz="1400" dirty="0"/>
          </a:p>
        </p:txBody>
      </p:sp>
      <p:sp>
        <p:nvSpPr>
          <p:cNvPr id="5" name="Text 3"/>
          <p:cNvSpPr/>
          <p:nvPr/>
        </p:nvSpPr>
        <p:spPr>
          <a:xfrm>
            <a:off x="640080" y="4343400"/>
            <a:ext cx="4206240" cy="2194560"/>
          </a:xfrm>
          <a:prstGeom prst="rect">
            <a:avLst/>
          </a:prstGeom>
          <a:noFill/>
          <a:ln/>
        </p:spPr>
        <p:txBody>
          <a:bodyPr wrap="square" rtlCol="0" anchor="ctr"/>
          <a:lstStyle/>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01 · Rock Cycle Laboratory</a:t>
            </a:r>
            <a:endParaRPr lang="en-US" sz="1250" dirty="0"/>
          </a:p>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02 · Soil Formation Simulator</a:t>
            </a:r>
            <a:endParaRPr lang="en-US" sz="1250" dirty="0"/>
          </a:p>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03 · Weathering Laboratory</a:t>
            </a:r>
            <a:endParaRPr lang="en-US" sz="1250" dirty="0"/>
          </a:p>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04 · Erosion &amp; Deposition Studio</a:t>
            </a:r>
            <a:endParaRPr lang="en-US" sz="1250" dirty="0"/>
          </a:p>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05 · Fossil Formation Explorer</a:t>
            </a:r>
            <a:endParaRPr lang="en-US" sz="1250" dirty="0"/>
          </a:p>
        </p:txBody>
      </p:sp>
      <p:sp>
        <p:nvSpPr>
          <p:cNvPr id="6" name="Text 4"/>
          <p:cNvSpPr/>
          <p:nvPr/>
        </p:nvSpPr>
        <p:spPr>
          <a:xfrm>
            <a:off x="5212080" y="4343400"/>
            <a:ext cx="4206240" cy="2194560"/>
          </a:xfrm>
          <a:prstGeom prst="rect">
            <a:avLst/>
          </a:prstGeom>
          <a:noFill/>
          <a:ln/>
        </p:spPr>
        <p:txBody>
          <a:bodyPr wrap="square" rtlCol="0" anchor="ctr"/>
          <a:lstStyle/>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06 · Earthquake Waves Laboratory</a:t>
            </a:r>
            <a:endParaRPr lang="en-US" sz="1250" dirty="0"/>
          </a:p>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07 · Volcano Formation Laboratory</a:t>
            </a:r>
            <a:endParaRPr lang="en-US" sz="1250" dirty="0"/>
          </a:p>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08 · Plate Movement Explorer</a:t>
            </a:r>
            <a:endParaRPr lang="en-US" sz="1250" dirty="0"/>
          </a:p>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09 · Mineral Formation Laboratory</a:t>
            </a:r>
            <a:endParaRPr lang="en-US" sz="1250" dirty="0"/>
          </a:p>
          <a:p>
            <a:pPr indent="0" marL="0">
              <a:lnSpc>
                <a:spcPct val="155000"/>
              </a:lnSpc>
              <a:buNone/>
            </a:pPr>
            <a:r>
              <a:rPr lang="en-US" sz="1250" dirty="0">
                <a:solidFill>
                  <a:srgbClr val="DCE7E1"/>
                </a:solidFill>
                <a:latin typeface="Calibri" pitchFamily="34" charset="0"/>
                <a:ea typeface="Calibri" pitchFamily="34" charset="-122"/>
                <a:cs typeface="Calibri" pitchFamily="34" charset="-120"/>
              </a:rPr>
              <a:t>10 · Earth's Geological Timeline Studio</a:t>
            </a:r>
            <a:endParaRPr lang="en-US" sz="1250" dirty="0"/>
          </a:p>
        </p:txBody>
      </p:sp>
      <p:sp>
        <p:nvSpPr>
          <p:cNvPr id="7" name="Text 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10</a:t>
            </a:r>
            <a:endParaRPr lang="en-US" sz="1000" dirty="0"/>
          </a:p>
        </p:txBody>
      </p:sp>
      <p:sp>
        <p:nvSpPr>
          <p:cNvPr id="8" name="Text 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01 OF 10   ROCKS   CORE</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Rock Cycle Laboratory</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Igneous ⇄ Sedimentary ⇄ Metamorphic</a:t>
            </a:r>
            <a:endParaRPr lang="en-US" sz="1250" dirty="0"/>
          </a:p>
        </p:txBody>
      </p:sp>
      <p:sp>
        <p:nvSpPr>
          <p:cNvPr id="5" name="Shape 3"/>
          <p:cNvSpPr/>
          <p:nvPr/>
        </p:nvSpPr>
        <p:spPr>
          <a:xfrm>
            <a:off x="50749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rockcycle-01-simulate.png">    </p:cNvPr>
          <p:cNvPicPr>
            <a:picLocks noChangeAspect="1"/>
          </p:cNvPicPr>
          <p:nvPr/>
        </p:nvPicPr>
        <p:blipFill>
          <a:blip r:embed="rId1"/>
          <a:srcRect l="0" r="0" t="0" b="0"/>
          <a:stretch/>
        </p:blipFill>
        <p:spPr>
          <a:xfrm>
            <a:off x="548640" y="1755648"/>
            <a:ext cx="5193792" cy="2395728"/>
          </a:xfrm>
          <a:prstGeom prst="rect">
            <a:avLst/>
          </a:prstGeom>
        </p:spPr>
      </p:pic>
      <p:sp>
        <p:nvSpPr>
          <p:cNvPr id="7" name="Text 4"/>
          <p:cNvSpPr/>
          <p:nvPr/>
        </p:nvSpPr>
        <p:spPr>
          <a:xfrm>
            <a:off x="54864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50749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rockcycle-02-data.png">    </p:cNvPr>
          <p:cNvPicPr>
            <a:picLocks noChangeAspect="1"/>
          </p:cNvPicPr>
          <p:nvPr/>
        </p:nvPicPr>
        <p:blipFill>
          <a:blip r:embed="rId2"/>
          <a:srcRect l="0" r="0" t="0" b="0"/>
          <a:stretch/>
        </p:blipFill>
        <p:spPr>
          <a:xfrm>
            <a:off x="548640" y="4443984"/>
            <a:ext cx="5193792" cy="1691640"/>
          </a:xfrm>
          <a:prstGeom prst="rect">
            <a:avLst/>
          </a:prstGeom>
        </p:spPr>
      </p:pic>
      <p:sp>
        <p:nvSpPr>
          <p:cNvPr id="10" name="Text 6"/>
          <p:cNvSpPr/>
          <p:nvPr/>
        </p:nvSpPr>
        <p:spPr>
          <a:xfrm>
            <a:off x="54864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653796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653796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The rock cycle describes how igneous, sedimentary and metamorphic rocks continuously transform into one another through melting, cooling, weathering, erosion, compaction, cementation, heat and pressure — driven ultimately by Earth's internal heat and surface climate.</a:t>
            </a:r>
            <a:endParaRPr lang="en-US" sz="1050" dirty="0"/>
          </a:p>
        </p:txBody>
      </p:sp>
      <p:sp>
        <p:nvSpPr>
          <p:cNvPr id="13" name="Text 9"/>
          <p:cNvSpPr/>
          <p:nvPr/>
        </p:nvSpPr>
        <p:spPr>
          <a:xfrm>
            <a:off x="653796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6537960" y="3273552"/>
            <a:ext cx="5193792" cy="1097280"/>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Process: Melt · Cool · Weather · Compact · Heat+Pressure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Heat</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Pressure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Cooling Rate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Weathering Rate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Erosion Rate</a:t>
            </a:r>
            <a:endParaRPr lang="en-US" sz="980" dirty="0"/>
          </a:p>
        </p:txBody>
      </p:sp>
      <p:sp>
        <p:nvSpPr>
          <p:cNvPr id="15" name="Text 11"/>
          <p:cNvSpPr/>
          <p:nvPr/>
        </p:nvSpPr>
        <p:spPr>
          <a:xfrm>
            <a:off x="6537960" y="44988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6537960" y="4773168"/>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Understanding the rock cycle helps geologists locate resources — for example, metallic ores associated with igneous intrusions, or fossil fuels trapped in sedimentary basins — and helps engineers judge how suitable a rock is as a building material.</a:t>
            </a:r>
            <a:endParaRPr lang="en-US" sz="980" dirty="0"/>
          </a:p>
        </p:txBody>
      </p:sp>
      <p:sp>
        <p:nvSpPr>
          <p:cNvPr id="17" name="Shape 13"/>
          <p:cNvSpPr/>
          <p:nvPr/>
        </p:nvSpPr>
        <p:spPr>
          <a:xfrm>
            <a:off x="6537960" y="5742432"/>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675120" y="5742432"/>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11</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02 OF 10   SOIL   TIME</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Soil Formation Simulator</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Grow a soil profile from bedrock</a:t>
            </a:r>
            <a:endParaRPr lang="en-US" sz="1250" dirty="0"/>
          </a:p>
        </p:txBody>
      </p:sp>
      <p:sp>
        <p:nvSpPr>
          <p:cNvPr id="5" name="Shape 3"/>
          <p:cNvSpPr/>
          <p:nvPr/>
        </p:nvSpPr>
        <p:spPr>
          <a:xfrm>
            <a:off x="640537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soil-01-simulate.png">    </p:cNvPr>
          <p:cNvPicPr>
            <a:picLocks noChangeAspect="1"/>
          </p:cNvPicPr>
          <p:nvPr/>
        </p:nvPicPr>
        <p:blipFill>
          <a:blip r:embed="rId1"/>
          <a:srcRect l="0" r="0" t="0" b="0"/>
          <a:stretch/>
        </p:blipFill>
        <p:spPr>
          <a:xfrm>
            <a:off x="6446520" y="1755648"/>
            <a:ext cx="5193792" cy="2395728"/>
          </a:xfrm>
          <a:prstGeom prst="rect">
            <a:avLst/>
          </a:prstGeom>
        </p:spPr>
      </p:pic>
      <p:sp>
        <p:nvSpPr>
          <p:cNvPr id="7" name="Text 4"/>
          <p:cNvSpPr/>
          <p:nvPr/>
        </p:nvSpPr>
        <p:spPr>
          <a:xfrm>
            <a:off x="644652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640537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soil-02-data.png">    </p:cNvPr>
          <p:cNvPicPr>
            <a:picLocks noChangeAspect="1"/>
          </p:cNvPicPr>
          <p:nvPr/>
        </p:nvPicPr>
        <p:blipFill>
          <a:blip r:embed="rId2"/>
          <a:srcRect l="0" r="0" t="0" b="0"/>
          <a:stretch/>
        </p:blipFill>
        <p:spPr>
          <a:xfrm>
            <a:off x="6446520" y="4443984"/>
            <a:ext cx="5193792" cy="1691640"/>
          </a:xfrm>
          <a:prstGeom prst="rect">
            <a:avLst/>
          </a:prstGeom>
        </p:spPr>
      </p:pic>
      <p:sp>
        <p:nvSpPr>
          <p:cNvPr id="10" name="Text 6"/>
          <p:cNvSpPr/>
          <p:nvPr/>
        </p:nvSpPr>
        <p:spPr>
          <a:xfrm>
            <a:off x="644652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54864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54864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Soil horizons develop from bedrock through weathering, organic accumulation and leaching. Climate, vegetation, organisms, parent rock and time interact to determine how deep and how fertile a soil profile becomes — which is why identical bedrock can produce very different soils in different environments.</a:t>
            </a:r>
            <a:endParaRPr lang="en-US" sz="1050" dirty="0"/>
          </a:p>
        </p:txBody>
      </p:sp>
      <p:sp>
        <p:nvSpPr>
          <p:cNvPr id="13" name="Text 9"/>
          <p:cNvSpPr/>
          <p:nvPr/>
        </p:nvSpPr>
        <p:spPr>
          <a:xfrm>
            <a:off x="54864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548640" y="3273552"/>
            <a:ext cx="5193792" cy="1271016"/>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Environment Presets (quick-load climates)</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Parent Rock Hardness</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Climate Temperature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Rainfall</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Vegetation Cover</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Organism Activity</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Elapsed Time</a:t>
            </a:r>
            <a:endParaRPr lang="en-US" sz="980" dirty="0"/>
          </a:p>
        </p:txBody>
      </p:sp>
      <p:sp>
        <p:nvSpPr>
          <p:cNvPr id="15" name="Text 11"/>
          <p:cNvSpPr/>
          <p:nvPr/>
        </p:nvSpPr>
        <p:spPr>
          <a:xfrm>
            <a:off x="548640" y="4672584"/>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548640" y="4946904"/>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Understanding soil formation guides agriculture (choosing crops suited to soil depth and fertility), construction (foundation stability), and environmental management (predicting erosion risk on bare or degraded land).</a:t>
            </a:r>
            <a:endParaRPr lang="en-US" sz="980" dirty="0"/>
          </a:p>
        </p:txBody>
      </p:sp>
      <p:sp>
        <p:nvSpPr>
          <p:cNvPr id="17" name="Shape 13"/>
          <p:cNvSpPr/>
          <p:nvPr/>
        </p:nvSpPr>
        <p:spPr>
          <a:xfrm>
            <a:off x="548640" y="5870448"/>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85800" y="5870448"/>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12</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03 OF 10   WEATHERING</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Weathering Laboratory</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Physical, chemical &amp; biological breakdown</a:t>
            </a:r>
            <a:endParaRPr lang="en-US" sz="1250" dirty="0"/>
          </a:p>
        </p:txBody>
      </p:sp>
      <p:sp>
        <p:nvSpPr>
          <p:cNvPr id="5" name="Shape 3"/>
          <p:cNvSpPr/>
          <p:nvPr/>
        </p:nvSpPr>
        <p:spPr>
          <a:xfrm>
            <a:off x="50749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weathering-01-simulate.png">    </p:cNvPr>
          <p:cNvPicPr>
            <a:picLocks noChangeAspect="1"/>
          </p:cNvPicPr>
          <p:nvPr/>
        </p:nvPicPr>
        <p:blipFill>
          <a:blip r:embed="rId1"/>
          <a:srcRect l="0" r="0" t="0" b="0"/>
          <a:stretch/>
        </p:blipFill>
        <p:spPr>
          <a:xfrm>
            <a:off x="548640" y="1755648"/>
            <a:ext cx="5193792" cy="2395728"/>
          </a:xfrm>
          <a:prstGeom prst="rect">
            <a:avLst/>
          </a:prstGeom>
        </p:spPr>
      </p:pic>
      <p:sp>
        <p:nvSpPr>
          <p:cNvPr id="7" name="Text 4"/>
          <p:cNvSpPr/>
          <p:nvPr/>
        </p:nvSpPr>
        <p:spPr>
          <a:xfrm>
            <a:off x="54864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50749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weathering-02-data.png">    </p:cNvPr>
          <p:cNvPicPr>
            <a:picLocks noChangeAspect="1"/>
          </p:cNvPicPr>
          <p:nvPr/>
        </p:nvPicPr>
        <p:blipFill>
          <a:blip r:embed="rId2"/>
          <a:srcRect l="0" r="0" t="0" b="0"/>
          <a:stretch/>
        </p:blipFill>
        <p:spPr>
          <a:xfrm>
            <a:off x="548640" y="4443984"/>
            <a:ext cx="5193792" cy="1691640"/>
          </a:xfrm>
          <a:prstGeom prst="rect">
            <a:avLst/>
          </a:prstGeom>
        </p:spPr>
      </p:pic>
      <p:sp>
        <p:nvSpPr>
          <p:cNvPr id="10" name="Text 6"/>
          <p:cNvSpPr/>
          <p:nvPr/>
        </p:nvSpPr>
        <p:spPr>
          <a:xfrm>
            <a:off x="54864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653796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653796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Physical, chemical and biological weathering work together — often reinforcing each other — to break rock down in place. Climate largely determines which process dominates: cold regions favour physical (freeze–thaw) weathering, while warm, wet regions favour chemical weathering.</a:t>
            </a:r>
            <a:endParaRPr lang="en-US" sz="1050" dirty="0"/>
          </a:p>
        </p:txBody>
      </p:sp>
      <p:sp>
        <p:nvSpPr>
          <p:cNvPr id="13" name="Text 9"/>
          <p:cNvSpPr/>
          <p:nvPr/>
        </p:nvSpPr>
        <p:spPr>
          <a:xfrm>
            <a:off x="653796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6537960" y="3273552"/>
            <a:ext cx="5193792" cy="1097280"/>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Temperature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Rainfall</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Freeze–Thaw Cycles</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Plant Root Activity</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Wind Exposure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Elapsed Exposure Time</a:t>
            </a:r>
            <a:endParaRPr lang="en-US" sz="980" dirty="0"/>
          </a:p>
        </p:txBody>
      </p:sp>
      <p:sp>
        <p:nvSpPr>
          <p:cNvPr id="15" name="Text 11"/>
          <p:cNvSpPr/>
          <p:nvPr/>
        </p:nvSpPr>
        <p:spPr>
          <a:xfrm>
            <a:off x="6537960" y="44988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6537960" y="4773168"/>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Engineers assess weathering risk before building on rock slopes or using stone in construction; conservationists monitor the chemical weathering of historic monuments caused by acid rain and pollution.</a:t>
            </a:r>
            <a:endParaRPr lang="en-US" sz="980" dirty="0"/>
          </a:p>
        </p:txBody>
      </p:sp>
      <p:sp>
        <p:nvSpPr>
          <p:cNvPr id="17" name="Shape 13"/>
          <p:cNvSpPr/>
          <p:nvPr/>
        </p:nvSpPr>
        <p:spPr>
          <a:xfrm>
            <a:off x="6537960" y="5742432"/>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675120" y="5742432"/>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13</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04 OF 10   LANDFORMS</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Erosion &amp; Deposition Studio</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Rivers, wind &amp; waves reshape the land</a:t>
            </a:r>
            <a:endParaRPr lang="en-US" sz="1250" dirty="0"/>
          </a:p>
        </p:txBody>
      </p:sp>
      <p:sp>
        <p:nvSpPr>
          <p:cNvPr id="5" name="Shape 3"/>
          <p:cNvSpPr/>
          <p:nvPr/>
        </p:nvSpPr>
        <p:spPr>
          <a:xfrm>
            <a:off x="640537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erosion-01-simulate.png">    </p:cNvPr>
          <p:cNvPicPr>
            <a:picLocks noChangeAspect="1"/>
          </p:cNvPicPr>
          <p:nvPr/>
        </p:nvPicPr>
        <p:blipFill>
          <a:blip r:embed="rId1"/>
          <a:srcRect l="0" r="0" t="0" b="0"/>
          <a:stretch/>
        </p:blipFill>
        <p:spPr>
          <a:xfrm>
            <a:off x="6446520" y="1755648"/>
            <a:ext cx="5193792" cy="2395728"/>
          </a:xfrm>
          <a:prstGeom prst="rect">
            <a:avLst/>
          </a:prstGeom>
        </p:spPr>
      </p:pic>
      <p:sp>
        <p:nvSpPr>
          <p:cNvPr id="7" name="Text 4"/>
          <p:cNvSpPr/>
          <p:nvPr/>
        </p:nvSpPr>
        <p:spPr>
          <a:xfrm>
            <a:off x="644652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640537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erosion-02-data.png">    </p:cNvPr>
          <p:cNvPicPr>
            <a:picLocks noChangeAspect="1"/>
          </p:cNvPicPr>
          <p:nvPr/>
        </p:nvPicPr>
        <p:blipFill>
          <a:blip r:embed="rId2"/>
          <a:srcRect l="0" r="0" t="0" b="0"/>
          <a:stretch/>
        </p:blipFill>
        <p:spPr>
          <a:xfrm>
            <a:off x="6446520" y="4443984"/>
            <a:ext cx="5193792" cy="1691640"/>
          </a:xfrm>
          <a:prstGeom prst="rect">
            <a:avLst/>
          </a:prstGeom>
        </p:spPr>
      </p:pic>
      <p:sp>
        <p:nvSpPr>
          <p:cNvPr id="10" name="Text 6"/>
          <p:cNvSpPr/>
          <p:nvPr/>
        </p:nvSpPr>
        <p:spPr>
          <a:xfrm>
            <a:off x="644652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54864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54864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Erosion and deposition are two sides of the same process: energetic agents like fast rivers, strong winds and powerful waves erode material, then deposit it once they slow down or lose energy — continuously reshaping landscapes.</a:t>
            </a:r>
            <a:endParaRPr lang="en-US" sz="1050" dirty="0"/>
          </a:p>
        </p:txBody>
      </p:sp>
      <p:sp>
        <p:nvSpPr>
          <p:cNvPr id="13" name="Text 9"/>
          <p:cNvSpPr/>
          <p:nvPr/>
        </p:nvSpPr>
        <p:spPr>
          <a:xfrm>
            <a:off x="54864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548640" y="3273552"/>
            <a:ext cx="5193792" cy="1271016"/>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Erosional Agent: River · Wind · Waves</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River Velocity</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Wind Speed</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Wave Energy</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Slope / Gradient</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Vegetation Cover</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Elapsed Time</a:t>
            </a:r>
            <a:endParaRPr lang="en-US" sz="980" dirty="0"/>
          </a:p>
        </p:txBody>
      </p:sp>
      <p:sp>
        <p:nvSpPr>
          <p:cNvPr id="15" name="Text 11"/>
          <p:cNvSpPr/>
          <p:nvPr/>
        </p:nvSpPr>
        <p:spPr>
          <a:xfrm>
            <a:off x="548640" y="4672584"/>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548640" y="4946904"/>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Understanding erosion and deposition helps engineers design river embankments and coastal defences, helps farmers prevent topsoil loss, and helps town planners avoid building on unstable dunes or actively eroding coastlines.</a:t>
            </a:r>
            <a:endParaRPr lang="en-US" sz="980" dirty="0"/>
          </a:p>
        </p:txBody>
      </p:sp>
      <p:sp>
        <p:nvSpPr>
          <p:cNvPr id="17" name="Shape 13"/>
          <p:cNvSpPr/>
          <p:nvPr/>
        </p:nvSpPr>
        <p:spPr>
          <a:xfrm>
            <a:off x="548640" y="5870448"/>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85800" y="5870448"/>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14</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05 OF 10   FOSSILS   TIME</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Fossil Formation Explorer</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From burial to preserved evidence</a:t>
            </a:r>
            <a:endParaRPr lang="en-US" sz="1250" dirty="0"/>
          </a:p>
        </p:txBody>
      </p:sp>
      <p:sp>
        <p:nvSpPr>
          <p:cNvPr id="5" name="Shape 3"/>
          <p:cNvSpPr/>
          <p:nvPr/>
        </p:nvSpPr>
        <p:spPr>
          <a:xfrm>
            <a:off x="50749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fossil-01-simulate.png">    </p:cNvPr>
          <p:cNvPicPr>
            <a:picLocks noChangeAspect="1"/>
          </p:cNvPicPr>
          <p:nvPr/>
        </p:nvPicPr>
        <p:blipFill>
          <a:blip r:embed="rId1"/>
          <a:srcRect l="0" r="0" t="0" b="0"/>
          <a:stretch/>
        </p:blipFill>
        <p:spPr>
          <a:xfrm>
            <a:off x="548640" y="1755648"/>
            <a:ext cx="5193792" cy="2395728"/>
          </a:xfrm>
          <a:prstGeom prst="rect">
            <a:avLst/>
          </a:prstGeom>
        </p:spPr>
      </p:pic>
      <p:sp>
        <p:nvSpPr>
          <p:cNvPr id="7" name="Text 4"/>
          <p:cNvSpPr/>
          <p:nvPr/>
        </p:nvSpPr>
        <p:spPr>
          <a:xfrm>
            <a:off x="54864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50749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fossil-02-data.png">    </p:cNvPr>
          <p:cNvPicPr>
            <a:picLocks noChangeAspect="1"/>
          </p:cNvPicPr>
          <p:nvPr/>
        </p:nvPicPr>
        <p:blipFill>
          <a:blip r:embed="rId2"/>
          <a:srcRect l="0" r="0" t="0" b="0"/>
          <a:stretch/>
        </p:blipFill>
        <p:spPr>
          <a:xfrm>
            <a:off x="548640" y="4443984"/>
            <a:ext cx="5193792" cy="1691640"/>
          </a:xfrm>
          <a:prstGeom prst="rect">
            <a:avLst/>
          </a:prstGeom>
        </p:spPr>
      </p:pic>
      <p:sp>
        <p:nvSpPr>
          <p:cNvPr id="10" name="Text 6"/>
          <p:cNvSpPr/>
          <p:nvPr/>
        </p:nvSpPr>
        <p:spPr>
          <a:xfrm>
            <a:off x="54864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653796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653796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Fossilisation depends on a delicate balance of burial speed, oxygen levels, pressure and time. Matching these conditions to a specific pathway — mold and cast formation, petrification, trace fossil preservation, or amber entombment — determines what kind of fossil, if any, ultimately forms.</a:t>
            </a:r>
            <a:endParaRPr lang="en-US" sz="1050" dirty="0"/>
          </a:p>
        </p:txBody>
      </p:sp>
      <p:sp>
        <p:nvSpPr>
          <p:cNvPr id="13" name="Text 9"/>
          <p:cNvSpPr/>
          <p:nvPr/>
        </p:nvSpPr>
        <p:spPr>
          <a:xfrm>
            <a:off x="653796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6537960" y="3273552"/>
            <a:ext cx="5193792" cy="1097280"/>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Target Fossil Type: Mold/Cast · Petrified · Trace · Amber</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Burial Depth</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Sedimentation Rate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Oxygen Availability</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Pressure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Geological Time</a:t>
            </a:r>
            <a:endParaRPr lang="en-US" sz="980" dirty="0"/>
          </a:p>
        </p:txBody>
      </p:sp>
      <p:sp>
        <p:nvSpPr>
          <p:cNvPr id="15" name="Text 11"/>
          <p:cNvSpPr/>
          <p:nvPr/>
        </p:nvSpPr>
        <p:spPr>
          <a:xfrm>
            <a:off x="6537960" y="44988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6537960" y="4773168"/>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Palaeontologists use fossil type and preservation quality to reconstruct ancient environments, and petroleum geologists use certain microfossils to date and correlate rock layers when searching for oil and gas.</a:t>
            </a:r>
            <a:endParaRPr lang="en-US" sz="980" dirty="0"/>
          </a:p>
        </p:txBody>
      </p:sp>
      <p:sp>
        <p:nvSpPr>
          <p:cNvPr id="17" name="Shape 13"/>
          <p:cNvSpPr/>
          <p:nvPr/>
        </p:nvSpPr>
        <p:spPr>
          <a:xfrm>
            <a:off x="6537960" y="5742432"/>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675120" y="5742432"/>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15</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06 OF 10   HAZARDS   CORE</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Earthquake Waves Laboratory</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P, S &amp; surface wave behaviour</a:t>
            </a:r>
            <a:endParaRPr lang="en-US" sz="1250" dirty="0"/>
          </a:p>
        </p:txBody>
      </p:sp>
      <p:sp>
        <p:nvSpPr>
          <p:cNvPr id="5" name="Shape 3"/>
          <p:cNvSpPr/>
          <p:nvPr/>
        </p:nvSpPr>
        <p:spPr>
          <a:xfrm>
            <a:off x="640537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earthquake-01-simulate.png">    </p:cNvPr>
          <p:cNvPicPr>
            <a:picLocks noChangeAspect="1"/>
          </p:cNvPicPr>
          <p:nvPr/>
        </p:nvPicPr>
        <p:blipFill>
          <a:blip r:embed="rId1"/>
          <a:srcRect l="0" r="0" t="0" b="0"/>
          <a:stretch/>
        </p:blipFill>
        <p:spPr>
          <a:xfrm>
            <a:off x="6446520" y="1755648"/>
            <a:ext cx="5193792" cy="2395728"/>
          </a:xfrm>
          <a:prstGeom prst="rect">
            <a:avLst/>
          </a:prstGeom>
        </p:spPr>
      </p:pic>
      <p:sp>
        <p:nvSpPr>
          <p:cNvPr id="7" name="Text 4"/>
          <p:cNvSpPr/>
          <p:nvPr/>
        </p:nvSpPr>
        <p:spPr>
          <a:xfrm>
            <a:off x="644652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640537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earthquake-02-data.png">    </p:cNvPr>
          <p:cNvPicPr>
            <a:picLocks noChangeAspect="1"/>
          </p:cNvPicPr>
          <p:nvPr/>
        </p:nvPicPr>
        <p:blipFill>
          <a:blip r:embed="rId2"/>
          <a:srcRect l="0" r="0" t="0" b="0"/>
          <a:stretch/>
        </p:blipFill>
        <p:spPr>
          <a:xfrm>
            <a:off x="6446520" y="4443984"/>
            <a:ext cx="5193792" cy="1691640"/>
          </a:xfrm>
          <a:prstGeom prst="rect">
            <a:avLst/>
          </a:prstGeom>
        </p:spPr>
      </p:pic>
      <p:sp>
        <p:nvSpPr>
          <p:cNvPr id="10" name="Text 6"/>
          <p:cNvSpPr/>
          <p:nvPr/>
        </p:nvSpPr>
        <p:spPr>
          <a:xfrm>
            <a:off x="644652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54864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54864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P-waves arrive first, S-waves second, and surface waves last but strongest. Comparing their arrival times at several seismic stations lets scientists locate an earthquake's epicentre and estimate its likely impact.</a:t>
            </a:r>
            <a:endParaRPr lang="en-US" sz="1050" dirty="0"/>
          </a:p>
        </p:txBody>
      </p:sp>
      <p:sp>
        <p:nvSpPr>
          <p:cNvPr id="13" name="Text 9"/>
          <p:cNvSpPr/>
          <p:nvPr/>
        </p:nvSpPr>
        <p:spPr>
          <a:xfrm>
            <a:off x="54864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548640" y="3273552"/>
            <a:ext cx="5193792" cy="749808"/>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Magnitude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Focal Depth</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Fault Type: Normal · Reverse · Strike-slip</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Ground Material: Hard Rock · Soft Sediment</a:t>
            </a:r>
            <a:endParaRPr lang="en-US" sz="980" dirty="0"/>
          </a:p>
        </p:txBody>
      </p:sp>
      <p:sp>
        <p:nvSpPr>
          <p:cNvPr id="15" name="Text 11"/>
          <p:cNvSpPr/>
          <p:nvPr/>
        </p:nvSpPr>
        <p:spPr>
          <a:xfrm>
            <a:off x="548640" y="4151376"/>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548640" y="4425696"/>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Seismologists use the arrival-time difference between P and S waves at multiple stations to triangulate an earthquake's location, and use magnitude and depth to estimate likely shaking intensity for early-warning systems.</a:t>
            </a:r>
            <a:endParaRPr lang="en-US" sz="980" dirty="0"/>
          </a:p>
        </p:txBody>
      </p:sp>
      <p:sp>
        <p:nvSpPr>
          <p:cNvPr id="17" name="Shape 13"/>
          <p:cNvSpPr/>
          <p:nvPr/>
        </p:nvSpPr>
        <p:spPr>
          <a:xfrm>
            <a:off x="548640" y="5394960"/>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85800" y="5394960"/>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16</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07 OF 10   HAZARDS   CORE</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Volcano Formation Laboratory</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Build shield, composite &amp; cinder cones</a:t>
            </a:r>
            <a:endParaRPr lang="en-US" sz="1250" dirty="0"/>
          </a:p>
        </p:txBody>
      </p:sp>
      <p:sp>
        <p:nvSpPr>
          <p:cNvPr id="5" name="Shape 3"/>
          <p:cNvSpPr/>
          <p:nvPr/>
        </p:nvSpPr>
        <p:spPr>
          <a:xfrm>
            <a:off x="50749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volcano-01-simulate.png">    </p:cNvPr>
          <p:cNvPicPr>
            <a:picLocks noChangeAspect="1"/>
          </p:cNvPicPr>
          <p:nvPr/>
        </p:nvPicPr>
        <p:blipFill>
          <a:blip r:embed="rId1"/>
          <a:srcRect l="0" r="0" t="0" b="0"/>
          <a:stretch/>
        </p:blipFill>
        <p:spPr>
          <a:xfrm>
            <a:off x="548640" y="1755648"/>
            <a:ext cx="5193792" cy="2395728"/>
          </a:xfrm>
          <a:prstGeom prst="rect">
            <a:avLst/>
          </a:prstGeom>
        </p:spPr>
      </p:pic>
      <p:sp>
        <p:nvSpPr>
          <p:cNvPr id="7" name="Text 4"/>
          <p:cNvSpPr/>
          <p:nvPr/>
        </p:nvSpPr>
        <p:spPr>
          <a:xfrm>
            <a:off x="54864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50749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volcano-02-data.png">    </p:cNvPr>
          <p:cNvPicPr>
            <a:picLocks noChangeAspect="1"/>
          </p:cNvPicPr>
          <p:nvPr/>
        </p:nvPicPr>
        <p:blipFill>
          <a:blip r:embed="rId2"/>
          <a:srcRect l="0" r="0" t="0" b="0"/>
          <a:stretch/>
        </p:blipFill>
        <p:spPr>
          <a:xfrm>
            <a:off x="548640" y="4443984"/>
            <a:ext cx="5193792" cy="1691640"/>
          </a:xfrm>
          <a:prstGeom prst="rect">
            <a:avLst/>
          </a:prstGeom>
        </p:spPr>
      </p:pic>
      <p:sp>
        <p:nvSpPr>
          <p:cNvPr id="10" name="Text 6"/>
          <p:cNvSpPr/>
          <p:nvPr/>
        </p:nvSpPr>
        <p:spPr>
          <a:xfrm>
            <a:off x="54864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653796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653796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Magma composition and gas content control viscosity, and viscosity controls whether a volcano erupts gently or explosively — and whether it builds into a broad shield, a steep composite cone, or a small cinder cone.</a:t>
            </a:r>
            <a:endParaRPr lang="en-US" sz="1050" dirty="0"/>
          </a:p>
        </p:txBody>
      </p:sp>
      <p:sp>
        <p:nvSpPr>
          <p:cNvPr id="13" name="Text 9"/>
          <p:cNvSpPr/>
          <p:nvPr/>
        </p:nvSpPr>
        <p:spPr>
          <a:xfrm>
            <a:off x="653796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6537960" y="3273552"/>
            <a:ext cx="5193792" cy="576072"/>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Magma Silica Content</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Dissolved Gas Content</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Plate Boundary Setting: Hotspot · Divergent · Convergent</a:t>
            </a:r>
            <a:endParaRPr lang="en-US" sz="980" dirty="0"/>
          </a:p>
        </p:txBody>
      </p:sp>
      <p:sp>
        <p:nvSpPr>
          <p:cNvPr id="15" name="Text 11"/>
          <p:cNvSpPr/>
          <p:nvPr/>
        </p:nvSpPr>
        <p:spPr>
          <a:xfrm>
            <a:off x="6537960" y="3977640"/>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6537960" y="4251960"/>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Volcanologists monitor gas emissions and ground deformation to forecast eruption style and warn nearby communities; understanding volcano type also guides land-use planning around active volcanoes.</a:t>
            </a:r>
            <a:endParaRPr lang="en-US" sz="980" dirty="0"/>
          </a:p>
        </p:txBody>
      </p:sp>
      <p:sp>
        <p:nvSpPr>
          <p:cNvPr id="17" name="Shape 13"/>
          <p:cNvSpPr/>
          <p:nvPr/>
        </p:nvSpPr>
        <p:spPr>
          <a:xfrm>
            <a:off x="6537960" y="5221224"/>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675120" y="5221224"/>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17</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08 OF 10   TECTONICS   CORE</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Plate Movement Explorer</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Divergent, convergent &amp; transform</a:t>
            </a:r>
            <a:endParaRPr lang="en-US" sz="1250" dirty="0"/>
          </a:p>
        </p:txBody>
      </p:sp>
      <p:sp>
        <p:nvSpPr>
          <p:cNvPr id="5" name="Shape 3"/>
          <p:cNvSpPr/>
          <p:nvPr/>
        </p:nvSpPr>
        <p:spPr>
          <a:xfrm>
            <a:off x="640537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plates-01-simulate.png">    </p:cNvPr>
          <p:cNvPicPr>
            <a:picLocks noChangeAspect="1"/>
          </p:cNvPicPr>
          <p:nvPr/>
        </p:nvPicPr>
        <p:blipFill>
          <a:blip r:embed="rId1"/>
          <a:srcRect l="0" r="0" t="0" b="0"/>
          <a:stretch/>
        </p:blipFill>
        <p:spPr>
          <a:xfrm>
            <a:off x="6446520" y="1755648"/>
            <a:ext cx="5193792" cy="2395728"/>
          </a:xfrm>
          <a:prstGeom prst="rect">
            <a:avLst/>
          </a:prstGeom>
        </p:spPr>
      </p:pic>
      <p:sp>
        <p:nvSpPr>
          <p:cNvPr id="7" name="Text 4"/>
          <p:cNvSpPr/>
          <p:nvPr/>
        </p:nvSpPr>
        <p:spPr>
          <a:xfrm>
            <a:off x="644652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640537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plates-02-data.png">    </p:cNvPr>
          <p:cNvPicPr>
            <a:picLocks noChangeAspect="1"/>
          </p:cNvPicPr>
          <p:nvPr/>
        </p:nvPicPr>
        <p:blipFill>
          <a:blip r:embed="rId2"/>
          <a:srcRect l="0" r="0" t="0" b="0"/>
          <a:stretch/>
        </p:blipFill>
        <p:spPr>
          <a:xfrm>
            <a:off x="6446520" y="4443984"/>
            <a:ext cx="5193792" cy="1691640"/>
          </a:xfrm>
          <a:prstGeom prst="rect">
            <a:avLst/>
          </a:prstGeom>
        </p:spPr>
      </p:pic>
      <p:sp>
        <p:nvSpPr>
          <p:cNvPr id="10" name="Text 6"/>
          <p:cNvSpPr/>
          <p:nvPr/>
        </p:nvSpPr>
        <p:spPr>
          <a:xfrm>
            <a:off x="644652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54864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54864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Divergent, convergent and transform plate boundaries each produce distinctive landforms and hazards, driven by the direction and type of plate motion — the same underlying process of mantle convection ultimately builds mountains, ocean basins and fuels earthquakes and volcanoes.</a:t>
            </a:r>
            <a:endParaRPr lang="en-US" sz="1050" dirty="0"/>
          </a:p>
        </p:txBody>
      </p:sp>
      <p:sp>
        <p:nvSpPr>
          <p:cNvPr id="13" name="Text 9"/>
          <p:cNvSpPr/>
          <p:nvPr/>
        </p:nvSpPr>
        <p:spPr>
          <a:xfrm>
            <a:off x="54864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548640" y="3273552"/>
            <a:ext cx="5193792" cy="576072"/>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Boundary Type: Divergent · Convergent · Transform</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Plate Speed</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Elapsed Time</a:t>
            </a:r>
            <a:endParaRPr lang="en-US" sz="980" dirty="0"/>
          </a:p>
        </p:txBody>
      </p:sp>
      <p:sp>
        <p:nvSpPr>
          <p:cNvPr id="15" name="Text 11"/>
          <p:cNvSpPr/>
          <p:nvPr/>
        </p:nvSpPr>
        <p:spPr>
          <a:xfrm>
            <a:off x="548640" y="3977640"/>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548640" y="4251960"/>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Plate tectonics explains the global distribution of earthquakes, volcanoes and mountain ranges, and underpins hazard planning, mineral and petroleum exploration, and our understanding of continental drift over geological time.</a:t>
            </a:r>
            <a:endParaRPr lang="en-US" sz="980" dirty="0"/>
          </a:p>
        </p:txBody>
      </p:sp>
      <p:sp>
        <p:nvSpPr>
          <p:cNvPr id="17" name="Shape 13"/>
          <p:cNvSpPr/>
          <p:nvPr/>
        </p:nvSpPr>
        <p:spPr>
          <a:xfrm>
            <a:off x="548640" y="5221224"/>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85800" y="5221224"/>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18</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09 OF 10   MINERALS</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Mineral Formation Laboratory</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Grow &amp; identify crystals</a:t>
            </a:r>
            <a:endParaRPr lang="en-US" sz="1250" dirty="0"/>
          </a:p>
        </p:txBody>
      </p:sp>
      <p:sp>
        <p:nvSpPr>
          <p:cNvPr id="5" name="Shape 3"/>
          <p:cNvSpPr/>
          <p:nvPr/>
        </p:nvSpPr>
        <p:spPr>
          <a:xfrm>
            <a:off x="50749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minerals-01-simulate.png">    </p:cNvPr>
          <p:cNvPicPr>
            <a:picLocks noChangeAspect="1"/>
          </p:cNvPicPr>
          <p:nvPr/>
        </p:nvPicPr>
        <p:blipFill>
          <a:blip r:embed="rId1"/>
          <a:srcRect l="0" r="0" t="0" b="0"/>
          <a:stretch/>
        </p:blipFill>
        <p:spPr>
          <a:xfrm>
            <a:off x="548640" y="1755648"/>
            <a:ext cx="5193792" cy="2395728"/>
          </a:xfrm>
          <a:prstGeom prst="rect">
            <a:avLst/>
          </a:prstGeom>
        </p:spPr>
      </p:pic>
      <p:sp>
        <p:nvSpPr>
          <p:cNvPr id="7" name="Text 4"/>
          <p:cNvSpPr/>
          <p:nvPr/>
        </p:nvSpPr>
        <p:spPr>
          <a:xfrm>
            <a:off x="54864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50749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minerals-02-data.png">    </p:cNvPr>
          <p:cNvPicPr>
            <a:picLocks noChangeAspect="1"/>
          </p:cNvPicPr>
          <p:nvPr/>
        </p:nvPicPr>
        <p:blipFill>
          <a:blip r:embed="rId2"/>
          <a:srcRect l="0" r="0" t="0" b="0"/>
          <a:stretch/>
        </p:blipFill>
        <p:spPr>
          <a:xfrm>
            <a:off x="548640" y="4443984"/>
            <a:ext cx="5193792" cy="1691640"/>
          </a:xfrm>
          <a:prstGeom prst="rect">
            <a:avLst/>
          </a:prstGeom>
        </p:spPr>
      </p:pic>
      <p:sp>
        <p:nvSpPr>
          <p:cNvPr id="10" name="Text 6"/>
          <p:cNvSpPr/>
          <p:nvPr/>
        </p:nvSpPr>
        <p:spPr>
          <a:xfrm>
            <a:off x="54864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653796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653796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Temperature, pressure, cooling rate and water chemistry control how minerals crystallise, while a consistent set of physical properties — hardness, cleavage, lustre, colour, streak and density — lets scientists reliably identify them.</a:t>
            </a:r>
            <a:endParaRPr lang="en-US" sz="1050" dirty="0"/>
          </a:p>
        </p:txBody>
      </p:sp>
      <p:sp>
        <p:nvSpPr>
          <p:cNvPr id="13" name="Text 9"/>
          <p:cNvSpPr/>
          <p:nvPr/>
        </p:nvSpPr>
        <p:spPr>
          <a:xfrm>
            <a:off x="653796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6537960" y="3273552"/>
            <a:ext cx="5193792" cy="749808"/>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Temperature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Pressure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Cooling Rate</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Water Mineral Content</a:t>
            </a:r>
            <a:endParaRPr lang="en-US" sz="980" dirty="0"/>
          </a:p>
        </p:txBody>
      </p:sp>
      <p:sp>
        <p:nvSpPr>
          <p:cNvPr id="15" name="Text 11"/>
          <p:cNvSpPr/>
          <p:nvPr/>
        </p:nvSpPr>
        <p:spPr>
          <a:xfrm>
            <a:off x="6537960" y="4151376"/>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6537960" y="4425696"/>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Geologists use mineral identification to locate valuable ore deposits, gemologists use the same properties to grade gemstones, and material scientists apply crystal-growth principles to manufacture synthetic crystals for electronics.</a:t>
            </a:r>
            <a:endParaRPr lang="en-US" sz="980" dirty="0"/>
          </a:p>
        </p:txBody>
      </p:sp>
      <p:sp>
        <p:nvSpPr>
          <p:cNvPr id="17" name="Shape 13"/>
          <p:cNvSpPr/>
          <p:nvPr/>
        </p:nvSpPr>
        <p:spPr>
          <a:xfrm>
            <a:off x="6537960" y="5394960"/>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675120" y="5394960"/>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19</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MODULE 10 OF 10   DEEP TIME   CORE</a:t>
            </a:r>
            <a:endParaRPr lang="en-US" sz="1250" dirty="0"/>
          </a:p>
        </p:txBody>
      </p:sp>
      <p:sp>
        <p:nvSpPr>
          <p:cNvPr id="3" name="Text 1"/>
          <p:cNvSpPr/>
          <p:nvPr/>
        </p:nvSpPr>
        <p:spPr>
          <a:xfrm>
            <a:off x="548640" y="731520"/>
            <a:ext cx="8686800" cy="502920"/>
          </a:xfrm>
          <a:prstGeom prst="rect">
            <a:avLst/>
          </a:prstGeom>
          <a:noFill/>
          <a:ln/>
        </p:spPr>
        <p:txBody>
          <a:bodyPr wrap="square" rtlCol="0" anchor="ctr"/>
          <a:lstStyle/>
          <a:p>
            <a:pPr indent="0" marL="0">
              <a:buNone/>
            </a:pPr>
            <a:r>
              <a:rPr lang="en-US" sz="2500" b="1" dirty="0">
                <a:solidFill>
                  <a:srgbClr val="F7FAF9"/>
                </a:solidFill>
                <a:latin typeface="Calibri" pitchFamily="34" charset="0"/>
                <a:ea typeface="Calibri" pitchFamily="34" charset="-122"/>
                <a:cs typeface="Calibri" pitchFamily="34" charset="-120"/>
              </a:rPr>
              <a:t>Earth's Geological Timeline Studio</a:t>
            </a:r>
            <a:endParaRPr lang="en-US" sz="2500" dirty="0"/>
          </a:p>
        </p:txBody>
      </p:sp>
      <p:sp>
        <p:nvSpPr>
          <p:cNvPr id="4" name="Text 2"/>
          <p:cNvSpPr/>
          <p:nvPr/>
        </p:nvSpPr>
        <p:spPr>
          <a:xfrm>
            <a:off x="548640" y="1225296"/>
            <a:ext cx="8686800" cy="320040"/>
          </a:xfrm>
          <a:prstGeom prst="rect">
            <a:avLst/>
          </a:prstGeom>
          <a:noFill/>
          <a:ln/>
        </p:spPr>
        <p:txBody>
          <a:bodyPr wrap="square" rtlCol="0" anchor="ctr"/>
          <a:lstStyle/>
          <a:p>
            <a:pPr indent="0" marL="0">
              <a:buNone/>
            </a:pPr>
            <a:r>
              <a:rPr lang="en-US" sz="1250" i="1" dirty="0">
                <a:solidFill>
                  <a:srgbClr val="FFB300"/>
                </a:solidFill>
                <a:latin typeface="Calibri" pitchFamily="34" charset="0"/>
                <a:ea typeface="Calibri" pitchFamily="34" charset="-122"/>
                <a:cs typeface="Calibri" pitchFamily="34" charset="-120"/>
              </a:rPr>
              <a:t>4.6 billion years, zoomable</a:t>
            </a:r>
            <a:endParaRPr lang="en-US" sz="1250" dirty="0"/>
          </a:p>
        </p:txBody>
      </p:sp>
      <p:sp>
        <p:nvSpPr>
          <p:cNvPr id="5" name="Shape 3"/>
          <p:cNvSpPr/>
          <p:nvPr/>
        </p:nvSpPr>
        <p:spPr>
          <a:xfrm>
            <a:off x="6405372" y="1714500"/>
            <a:ext cx="5276088" cy="2478024"/>
          </a:xfrm>
          <a:prstGeom prst="roundRect">
            <a:avLst>
              <a:gd name="adj" fmla="val 332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6" name="Image 0" descr="/home/claude/deck-assets/crop/sim-timeline-01-simulate.png">    </p:cNvPr>
          <p:cNvPicPr>
            <a:picLocks noChangeAspect="1"/>
          </p:cNvPicPr>
          <p:nvPr/>
        </p:nvPicPr>
        <p:blipFill>
          <a:blip r:embed="rId1"/>
          <a:srcRect l="0" r="0" t="0" b="0"/>
          <a:stretch/>
        </p:blipFill>
        <p:spPr>
          <a:xfrm>
            <a:off x="6446520" y="1755648"/>
            <a:ext cx="5193792" cy="2395728"/>
          </a:xfrm>
          <a:prstGeom prst="rect">
            <a:avLst/>
          </a:prstGeom>
        </p:spPr>
      </p:pic>
      <p:sp>
        <p:nvSpPr>
          <p:cNvPr id="7" name="Text 4"/>
          <p:cNvSpPr/>
          <p:nvPr/>
        </p:nvSpPr>
        <p:spPr>
          <a:xfrm>
            <a:off x="6446520" y="4187952"/>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Simulation tab</a:t>
            </a:r>
            <a:endParaRPr lang="en-US" sz="900" dirty="0"/>
          </a:p>
        </p:txBody>
      </p:sp>
      <p:sp>
        <p:nvSpPr>
          <p:cNvPr id="8" name="Shape 5"/>
          <p:cNvSpPr/>
          <p:nvPr/>
        </p:nvSpPr>
        <p:spPr>
          <a:xfrm>
            <a:off x="6405372" y="4402836"/>
            <a:ext cx="5276088" cy="1773936"/>
          </a:xfrm>
          <a:prstGeom prst="roundRect">
            <a:avLst>
              <a:gd name="adj" fmla="val 4639"/>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9" name="Image 1" descr="/home/claude/deck-assets/crop/sim-timeline-02-data.png">    </p:cNvPr>
          <p:cNvPicPr>
            <a:picLocks noChangeAspect="1"/>
          </p:cNvPicPr>
          <p:nvPr/>
        </p:nvPicPr>
        <p:blipFill>
          <a:blip r:embed="rId2"/>
          <a:srcRect l="0" r="0" t="0" b="0"/>
          <a:stretch/>
        </p:blipFill>
        <p:spPr>
          <a:xfrm>
            <a:off x="6446520" y="4443984"/>
            <a:ext cx="5193792" cy="1691640"/>
          </a:xfrm>
          <a:prstGeom prst="rect">
            <a:avLst/>
          </a:prstGeom>
        </p:spPr>
      </p:pic>
      <p:sp>
        <p:nvSpPr>
          <p:cNvPr id="10" name="Text 6"/>
          <p:cNvSpPr/>
          <p:nvPr/>
        </p:nvSpPr>
        <p:spPr>
          <a:xfrm>
            <a:off x="6446520" y="6172200"/>
            <a:ext cx="5193792" cy="201168"/>
          </a:xfrm>
          <a:prstGeom prst="rect">
            <a:avLst/>
          </a:prstGeom>
          <a:noFill/>
          <a:ln/>
        </p:spPr>
        <p:txBody>
          <a:bodyPr wrap="square" rtlCol="0" anchor="ctr"/>
          <a:lstStyle/>
          <a:p>
            <a:pPr algn="ctr" indent="0" marL="0">
              <a:buNone/>
            </a:pPr>
            <a:r>
              <a:rPr lang="en-US" sz="900" i="1" dirty="0">
                <a:solidFill>
                  <a:srgbClr val="75897F"/>
                </a:solidFill>
                <a:latin typeface="Calibri" pitchFamily="34" charset="0"/>
                <a:ea typeface="Calibri" pitchFamily="34" charset="-122"/>
                <a:cs typeface="Calibri" pitchFamily="34" charset="-120"/>
              </a:rPr>
              <a:t>Data &amp; Graphs tab</a:t>
            </a:r>
            <a:endParaRPr lang="en-US" sz="900" dirty="0"/>
          </a:p>
        </p:txBody>
      </p:sp>
      <p:sp>
        <p:nvSpPr>
          <p:cNvPr id="11" name="Text 7"/>
          <p:cNvSpPr/>
          <p:nvPr/>
        </p:nvSpPr>
        <p:spPr>
          <a:xfrm>
            <a:off x="548640" y="1755648"/>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WHAT STUDENTS INVESTIGATE</a:t>
            </a:r>
            <a:endParaRPr lang="en-US" sz="1000" dirty="0"/>
          </a:p>
        </p:txBody>
      </p:sp>
      <p:sp>
        <p:nvSpPr>
          <p:cNvPr id="12" name="Text 8"/>
          <p:cNvSpPr/>
          <p:nvPr/>
        </p:nvSpPr>
        <p:spPr>
          <a:xfrm>
            <a:off x="548640" y="2029968"/>
            <a:ext cx="5193792" cy="841248"/>
          </a:xfrm>
          <a:prstGeom prst="rect">
            <a:avLst/>
          </a:prstGeom>
          <a:noFill/>
          <a:ln/>
        </p:spPr>
        <p:txBody>
          <a:bodyPr wrap="square" rtlCol="0" anchor="t"/>
          <a:lstStyle/>
          <a:p>
            <a:pPr indent="0" marL="0">
              <a:lnSpc>
                <a:spcPct val="120000"/>
              </a:lnSpc>
              <a:buNone/>
            </a:pPr>
            <a:r>
              <a:rPr lang="en-US" sz="1050" dirty="0">
                <a:solidFill>
                  <a:srgbClr val="DCE7E1"/>
                </a:solidFill>
                <a:latin typeface="Calibri" pitchFamily="34" charset="0"/>
                <a:ea typeface="Calibri" pitchFamily="34" charset="-122"/>
                <a:cs typeface="Calibri" pitchFamily="34" charset="-120"/>
              </a:rPr>
              <a:t>Geological time spans 4.6 billion years, organised by major boundaries such as the origin of life, the rise of atmospheric oxygen, the Cambrian explosion, repeated mass extinctions, and the very recent emergence of modern humans — best appreciated on a compressed or logarithmic timeline.</a:t>
            </a:r>
            <a:endParaRPr lang="en-US" sz="1050" dirty="0"/>
          </a:p>
        </p:txBody>
      </p:sp>
      <p:sp>
        <p:nvSpPr>
          <p:cNvPr id="13" name="Text 9"/>
          <p:cNvSpPr/>
          <p:nvPr/>
        </p:nvSpPr>
        <p:spPr>
          <a:xfrm>
            <a:off x="548640" y="2999232"/>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VARIABLES YOU CONTROL</a:t>
            </a:r>
            <a:endParaRPr lang="en-US" sz="1000" dirty="0"/>
          </a:p>
        </p:txBody>
      </p:sp>
      <p:sp>
        <p:nvSpPr>
          <p:cNvPr id="14" name="Text 10"/>
          <p:cNvSpPr/>
          <p:nvPr/>
        </p:nvSpPr>
        <p:spPr>
          <a:xfrm>
            <a:off x="548640" y="3273552"/>
            <a:ext cx="5193792" cy="576072"/>
          </a:xfrm>
          <a:prstGeom prst="rect">
            <a:avLst/>
          </a:prstGeom>
          <a:noFill/>
          <a:ln/>
        </p:spPr>
        <p:txBody>
          <a:bodyPr wrap="square" lIns="0" tIns="0" rIns="0" bIns="0" rtlCol="0" anchor="t"/>
          <a:lstStyle/>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Zoom Level: Full · Phanerozoic · Cenozoic · Human</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Axis Scale: Logarithmic · Linear</a:t>
            </a:r>
            <a:endParaRPr lang="en-US" sz="980" dirty="0"/>
          </a:p>
          <a:p>
            <a:pPr marL="139700" indent="-139700">
              <a:lnSpc>
                <a:spcPct val="100000"/>
              </a:lnSpc>
              <a:spcAft>
                <a:spcPts val="200"/>
              </a:spcAft>
              <a:buSzPct val="100000"/>
              <a:buChar char="▪"/>
            </a:pPr>
            <a:r>
              <a:rPr lang="en-US" sz="980" dirty="0">
                <a:solidFill>
                  <a:srgbClr val="DCE7E1"/>
                </a:solidFill>
                <a:latin typeface="Calibri" pitchFamily="34" charset="0"/>
                <a:ea typeface="Calibri" pitchFamily="34" charset="-122"/>
                <a:cs typeface="Calibri" pitchFamily="34" charset="-120"/>
              </a:rPr>
              <a:t>Click any marker for event detail</a:t>
            </a:r>
            <a:endParaRPr lang="en-US" sz="980" dirty="0"/>
          </a:p>
        </p:txBody>
      </p:sp>
      <p:sp>
        <p:nvSpPr>
          <p:cNvPr id="15" name="Text 11"/>
          <p:cNvSpPr/>
          <p:nvPr/>
        </p:nvSpPr>
        <p:spPr>
          <a:xfrm>
            <a:off x="548640" y="3977640"/>
            <a:ext cx="5193792" cy="219456"/>
          </a:xfrm>
          <a:prstGeom prst="rect">
            <a:avLst/>
          </a:prstGeom>
          <a:noFill/>
          <a:ln/>
        </p:spPr>
        <p:txBody>
          <a:bodyPr wrap="square" rtlCol="0" anchor="ctr"/>
          <a:lstStyle/>
          <a:p>
            <a:pPr indent="0" marL="0">
              <a:buNone/>
            </a:pPr>
            <a:r>
              <a:rPr lang="en-US" sz="1000" b="1" spc="100" kern="0" dirty="0">
                <a:solidFill>
                  <a:srgbClr val="43A047"/>
                </a:solidFill>
                <a:latin typeface="Calibri" pitchFamily="34" charset="0"/>
                <a:ea typeface="Calibri" pitchFamily="34" charset="-122"/>
                <a:cs typeface="Calibri" pitchFamily="34" charset="-120"/>
              </a:rPr>
              <a:t>REAL-WORLD RELEVANCE</a:t>
            </a:r>
            <a:endParaRPr lang="en-US" sz="1000" dirty="0"/>
          </a:p>
        </p:txBody>
      </p:sp>
      <p:sp>
        <p:nvSpPr>
          <p:cNvPr id="16" name="Text 12"/>
          <p:cNvSpPr/>
          <p:nvPr/>
        </p:nvSpPr>
        <p:spPr>
          <a:xfrm>
            <a:off x="548640" y="4251960"/>
            <a:ext cx="5193792" cy="786384"/>
          </a:xfrm>
          <a:prstGeom prst="rect">
            <a:avLst/>
          </a:prstGeom>
          <a:noFill/>
          <a:ln/>
        </p:spPr>
        <p:txBody>
          <a:bodyPr wrap="square" rtlCol="0" anchor="t"/>
          <a:lstStyle/>
          <a:p>
            <a:pPr indent="0" marL="0">
              <a:lnSpc>
                <a:spcPct val="120000"/>
              </a:lnSpc>
              <a:buNone/>
            </a:pPr>
            <a:r>
              <a:rPr lang="en-US" sz="980" dirty="0">
                <a:solidFill>
                  <a:srgbClr val="A9BCB2"/>
                </a:solidFill>
                <a:latin typeface="Calibri" pitchFamily="34" charset="0"/>
                <a:ea typeface="Calibri" pitchFamily="34" charset="-122"/>
                <a:cs typeface="Calibri" pitchFamily="34" charset="-120"/>
              </a:rPr>
              <a:t>Geological time scales let scientists correlate rock layers across continents, date the age of fossils and rocks, and understand the pace of processes like mountain building, mass extinctions and climate change.</a:t>
            </a:r>
            <a:endParaRPr lang="en-US" sz="980" dirty="0"/>
          </a:p>
        </p:txBody>
      </p:sp>
      <p:sp>
        <p:nvSpPr>
          <p:cNvPr id="17" name="Shape 13"/>
          <p:cNvSpPr/>
          <p:nvPr/>
        </p:nvSpPr>
        <p:spPr>
          <a:xfrm>
            <a:off x="548640" y="5221224"/>
            <a:ext cx="5193792" cy="457200"/>
          </a:xfrm>
          <a:prstGeom prst="roundRect">
            <a:avLst>
              <a:gd name="adj" fmla="val 16000"/>
            </a:avLst>
          </a:prstGeom>
          <a:solidFill>
            <a:srgbClr val="1B3A2B"/>
          </a:solidFill>
          <a:ln w="12700">
            <a:solidFill>
              <a:srgbClr val="43A047"/>
            </a:solidFill>
            <a:prstDash val="solid"/>
          </a:ln>
        </p:spPr>
      </p:sp>
      <p:sp>
        <p:nvSpPr>
          <p:cNvPr id="18" name="Text 14"/>
          <p:cNvSpPr/>
          <p:nvPr/>
        </p:nvSpPr>
        <p:spPr>
          <a:xfrm>
            <a:off x="685800" y="5221224"/>
            <a:ext cx="4919472" cy="457200"/>
          </a:xfrm>
          <a:prstGeom prst="rect">
            <a:avLst/>
          </a:prstGeom>
          <a:noFill/>
          <a:ln/>
        </p:spPr>
        <p:txBody>
          <a:bodyPr wrap="square" lIns="0" tIns="0" rIns="0" bIns="0"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5-question mini quiz  ·  instant explained feedback  ·  earns XP</a:t>
            </a:r>
            <a:endParaRPr lang="en-US" sz="1000" dirty="0"/>
          </a:p>
        </p:txBody>
      </p:sp>
      <p:sp>
        <p:nvSpPr>
          <p:cNvPr id="19"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20</a:t>
            </a:r>
            <a:endParaRPr lang="en-US" sz="1000" dirty="0"/>
          </a:p>
        </p:txBody>
      </p:sp>
      <p:sp>
        <p:nvSpPr>
          <p:cNvPr id="20" name="Text 1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514600"/>
            <a:ext cx="5486400" cy="365760"/>
          </a:xfrm>
          <a:prstGeom prst="rect">
            <a:avLst/>
          </a:prstGeom>
          <a:noFill/>
          <a:ln/>
        </p:spPr>
        <p:txBody>
          <a:bodyPr wrap="square" rtlCol="0" anchor="ctr"/>
          <a:lstStyle/>
          <a:p>
            <a:pPr indent="0" marL="0">
              <a:buNone/>
            </a:pPr>
            <a:r>
              <a:rPr lang="en-US" sz="1300" b="1" spc="300" kern="0" dirty="0">
                <a:solidFill>
                  <a:srgbClr val="FFB300"/>
                </a:solidFill>
                <a:latin typeface="Calibri" pitchFamily="34" charset="0"/>
                <a:ea typeface="Calibri" pitchFamily="34" charset="-122"/>
                <a:cs typeface="Calibri" pitchFamily="34" charset="-120"/>
              </a:rPr>
              <a:t>PART THREE</a:t>
            </a:r>
            <a:endParaRPr lang="en-US" sz="1300" dirty="0"/>
          </a:p>
        </p:txBody>
      </p:sp>
      <p:sp>
        <p:nvSpPr>
          <p:cNvPr id="3" name="Text 1"/>
          <p:cNvSpPr/>
          <p:nvPr/>
        </p:nvSpPr>
        <p:spPr>
          <a:xfrm>
            <a:off x="594360" y="2880360"/>
            <a:ext cx="10058400" cy="1005840"/>
          </a:xfrm>
          <a:prstGeom prst="rect">
            <a:avLst/>
          </a:prstGeom>
          <a:noFill/>
          <a:ln/>
        </p:spPr>
        <p:txBody>
          <a:bodyPr wrap="square" rtlCol="0" anchor="ctr"/>
          <a:lstStyle/>
          <a:p>
            <a:pPr indent="0" marL="0">
              <a:buNone/>
            </a:pPr>
            <a:r>
              <a:rPr lang="en-US" sz="4200" b="1" dirty="0">
                <a:solidFill>
                  <a:srgbClr val="F7FAF9"/>
                </a:solidFill>
                <a:latin typeface="Calibri" pitchFamily="34" charset="0"/>
                <a:ea typeface="Calibri" pitchFamily="34" charset="-122"/>
                <a:cs typeface="Calibri" pitchFamily="34" charset="-120"/>
              </a:rPr>
              <a:t>Beyond the Simulations</a:t>
            </a:r>
            <a:endParaRPr lang="en-US" sz="4200" dirty="0"/>
          </a:p>
        </p:txBody>
      </p:sp>
      <p:sp>
        <p:nvSpPr>
          <p:cNvPr id="4" name="Text 2"/>
          <p:cNvSpPr/>
          <p:nvPr/>
        </p:nvSpPr>
        <p:spPr>
          <a:xfrm>
            <a:off x="640080" y="3794760"/>
            <a:ext cx="8229600" cy="731520"/>
          </a:xfrm>
          <a:prstGeom prst="rect">
            <a:avLst/>
          </a:prstGeom>
          <a:noFill/>
          <a:ln/>
        </p:spPr>
        <p:txBody>
          <a:bodyPr wrap="square" rtlCol="0" anchor="ctr"/>
          <a:lstStyle/>
          <a:p>
            <a:pPr indent="0" marL="0">
              <a:lnSpc>
                <a:spcPct val="130000"/>
              </a:lnSpc>
              <a:buNone/>
            </a:pPr>
            <a:r>
              <a:rPr lang="en-US" sz="1400" dirty="0">
                <a:solidFill>
                  <a:srgbClr val="A9BCB2"/>
                </a:solidFill>
                <a:latin typeface="Calibri" pitchFamily="34" charset="0"/>
                <a:ea typeface="Calibri" pitchFamily="34" charset="-122"/>
                <a:cs typeface="Calibri" pitchFamily="34" charset="-120"/>
              </a:rPr>
              <a:t>Reference and practice tools that support every lab: a handbook, a gallery, a glossary, a quiz centre and the gamification system that ties it all together.</a:t>
            </a:r>
            <a:endParaRPr lang="en-US" sz="1400" dirty="0"/>
          </a:p>
        </p:txBody>
      </p:sp>
      <p:sp>
        <p:nvSpPr>
          <p:cNvPr id="5" name="Text 3"/>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21</a:t>
            </a:r>
            <a:endParaRPr lang="en-US" sz="1000" dirty="0"/>
          </a:p>
        </p:txBody>
      </p:sp>
      <p:sp>
        <p:nvSpPr>
          <p:cNvPr id="6" name="Text 4"/>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REFERENCE TOOL</a:t>
            </a:r>
            <a:endParaRPr lang="en-US" sz="1250" dirty="0"/>
          </a:p>
        </p:txBody>
      </p:sp>
      <p:sp>
        <p:nvSpPr>
          <p:cNvPr id="3" name="Text 1"/>
          <p:cNvSpPr/>
          <p:nvPr/>
        </p:nvSpPr>
        <p:spPr>
          <a:xfrm>
            <a:off x="548640" y="777240"/>
            <a:ext cx="7315200" cy="54864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Earth Science Handbook</a:t>
            </a:r>
            <a:endParaRPr lang="en-US" sz="2800" dirty="0"/>
          </a:p>
        </p:txBody>
      </p:sp>
      <p:sp>
        <p:nvSpPr>
          <p:cNvPr id="4" name="Text 2"/>
          <p:cNvSpPr/>
          <p:nvPr/>
        </p:nvSpPr>
        <p:spPr>
          <a:xfrm>
            <a:off x="548640" y="1463040"/>
            <a:ext cx="5394960" cy="1828800"/>
          </a:xfrm>
          <a:prstGeom prst="rect">
            <a:avLst/>
          </a:prstGeom>
          <a:noFill/>
          <a:ln/>
        </p:spPr>
        <p:txBody>
          <a:bodyPr wrap="square" rtlCol="0" anchor="ctr"/>
          <a:lstStyle/>
          <a:p>
            <a:pPr indent="0" marL="0">
              <a:lnSpc>
                <a:spcPct val="132000"/>
              </a:lnSpc>
              <a:buNone/>
            </a:pPr>
            <a:r>
              <a:rPr lang="en-US" sz="1300" dirty="0">
                <a:solidFill>
                  <a:srgbClr val="DCE7E1"/>
                </a:solidFill>
                <a:latin typeface="Calibri" pitchFamily="34" charset="0"/>
                <a:ea typeface="Calibri" pitchFamily="34" charset="-122"/>
                <a:cs typeface="Calibri" pitchFamily="34" charset="-120"/>
              </a:rPr>
              <a:t>Ten illustrated reference chapters — Earth’s Structure, Rocks, Minerals, Soil, Plate Tectonics, Earthquakes, Volcanoes, Fossils, Geological Time, and Weathering &amp; Erosion — give students a quick-reference companion to every simulation, always one tap away and fully searchable.</a:t>
            </a:r>
            <a:endParaRPr lang="en-US" sz="1300" dirty="0"/>
          </a:p>
        </p:txBody>
      </p:sp>
      <p:sp>
        <p:nvSpPr>
          <p:cNvPr id="5" name="Text 3"/>
          <p:cNvSpPr/>
          <p:nvPr/>
        </p:nvSpPr>
        <p:spPr>
          <a:xfrm>
            <a:off x="548640" y="3429000"/>
            <a:ext cx="5394960" cy="2286000"/>
          </a:xfrm>
          <a:prstGeom prst="rect">
            <a:avLst/>
          </a:prstGeom>
          <a:noFill/>
          <a:ln/>
        </p:spPr>
        <p:txBody>
          <a:bodyPr wrap="square" lIns="0" tIns="0" rIns="0" bIns="0" rtlCol="0" anchor="t"/>
          <a:lstStyle/>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Concise, syllabus-aligned explanations for each topic</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Written to match the exact concepts each lab teaches</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Accessible from the sidebar on every screen</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Works fully offline, like the rest of the app</a:t>
            </a:r>
            <a:endParaRPr lang="en-US" sz="1250" dirty="0"/>
          </a:p>
        </p:txBody>
      </p:sp>
      <p:sp>
        <p:nvSpPr>
          <p:cNvPr id="6" name="Shape 4"/>
          <p:cNvSpPr/>
          <p:nvPr/>
        </p:nvSpPr>
        <p:spPr>
          <a:xfrm>
            <a:off x="6131052" y="1376172"/>
            <a:ext cx="5568696" cy="3858768"/>
          </a:xfrm>
          <a:prstGeom prst="roundRect">
            <a:avLst>
              <a:gd name="adj" fmla="val 2133"/>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7" name="Image 0" descr="/home/claude/deck-assets/crop/section-handbook.png">    </p:cNvPr>
          <p:cNvPicPr>
            <a:picLocks noChangeAspect="1"/>
          </p:cNvPicPr>
          <p:nvPr/>
        </p:nvPicPr>
        <p:blipFill>
          <a:blip r:embed="rId1"/>
          <a:srcRect l="0" r="0" t="0" b="0"/>
          <a:stretch/>
        </p:blipFill>
        <p:spPr>
          <a:xfrm>
            <a:off x="6172200" y="1417320"/>
            <a:ext cx="5486400" cy="3776472"/>
          </a:xfrm>
          <a:prstGeom prst="rect">
            <a:avLst/>
          </a:prstGeom>
        </p:spPr>
      </p:pic>
      <p:sp>
        <p:nvSpPr>
          <p:cNvPr id="8" name="Text 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22</a:t>
            </a:r>
            <a:endParaRPr lang="en-US" sz="1000" dirty="0"/>
          </a:p>
        </p:txBody>
      </p:sp>
      <p:sp>
        <p:nvSpPr>
          <p:cNvPr id="9" name="Text 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REFERENCE TOOL</a:t>
            </a:r>
            <a:endParaRPr lang="en-US" sz="1250" dirty="0"/>
          </a:p>
        </p:txBody>
      </p:sp>
      <p:sp>
        <p:nvSpPr>
          <p:cNvPr id="3" name="Text 1"/>
          <p:cNvSpPr/>
          <p:nvPr/>
        </p:nvSpPr>
        <p:spPr>
          <a:xfrm>
            <a:off x="548640" y="777240"/>
            <a:ext cx="7315200" cy="54864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Rock &amp; Mineral Gallery</a:t>
            </a:r>
            <a:endParaRPr lang="en-US" sz="2800" dirty="0"/>
          </a:p>
        </p:txBody>
      </p:sp>
      <p:sp>
        <p:nvSpPr>
          <p:cNvPr id="4" name="Text 2"/>
          <p:cNvSpPr/>
          <p:nvPr/>
        </p:nvSpPr>
        <p:spPr>
          <a:xfrm>
            <a:off x="548640" y="1463040"/>
            <a:ext cx="5394960" cy="2103120"/>
          </a:xfrm>
          <a:prstGeom prst="rect">
            <a:avLst/>
          </a:prstGeom>
          <a:noFill/>
          <a:ln/>
        </p:spPr>
        <p:txBody>
          <a:bodyPr wrap="square" rtlCol="0" anchor="ctr"/>
          <a:lstStyle/>
          <a:p>
            <a:pPr indent="0" marL="0">
              <a:lnSpc>
                <a:spcPct val="132000"/>
              </a:lnSpc>
              <a:buNone/>
            </a:pPr>
            <a:r>
              <a:rPr lang="en-US" sz="1300" dirty="0">
                <a:solidFill>
                  <a:srgbClr val="DCE7E1"/>
                </a:solidFill>
                <a:latin typeface="Calibri" pitchFamily="34" charset="0"/>
                <a:ea typeface="Calibri" pitchFamily="34" charset="-122"/>
                <a:cs typeface="Calibri" pitchFamily="34" charset="-120"/>
              </a:rPr>
              <a:t>A browsable identification reference — common igneous, sedimentary and metamorphic rocks alongside key minerals — each with the physical properties (hardness, cleavage, lustre, colour, density) students need for hands-on identification, echoing the Mineral Formation Laboratory’s identification challenge.</a:t>
            </a:r>
            <a:endParaRPr lang="en-US" sz="1300" dirty="0"/>
          </a:p>
        </p:txBody>
      </p:sp>
      <p:sp>
        <p:nvSpPr>
          <p:cNvPr id="5" name="Text 3"/>
          <p:cNvSpPr/>
          <p:nvPr/>
        </p:nvSpPr>
        <p:spPr>
          <a:xfrm>
            <a:off x="548640" y="3703320"/>
            <a:ext cx="5394960" cy="2011680"/>
          </a:xfrm>
          <a:prstGeom prst="rect">
            <a:avLst/>
          </a:prstGeom>
          <a:noFill/>
          <a:ln/>
        </p:spPr>
        <p:txBody>
          <a:bodyPr wrap="square" lIns="0" tIns="0" rIns="0" bIns="0" rtlCol="0" anchor="t"/>
          <a:lstStyle/>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Granite, basalt, sandstone, limestone, marble, slate</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Quartz, feldspar, mica, calcite and more</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Properties written the way a field guide would</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Pairs directly with the Mineral Formation Laboratory</a:t>
            </a:r>
            <a:endParaRPr lang="en-US" sz="1250" dirty="0"/>
          </a:p>
        </p:txBody>
      </p:sp>
      <p:sp>
        <p:nvSpPr>
          <p:cNvPr id="6" name="Shape 4"/>
          <p:cNvSpPr/>
          <p:nvPr/>
        </p:nvSpPr>
        <p:spPr>
          <a:xfrm>
            <a:off x="6131052" y="1376172"/>
            <a:ext cx="5568696" cy="3858768"/>
          </a:xfrm>
          <a:prstGeom prst="roundRect">
            <a:avLst>
              <a:gd name="adj" fmla="val 2133"/>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7" name="Image 0" descr="/home/claude/deck-assets/crop/section-gallery.png">    </p:cNvPr>
          <p:cNvPicPr>
            <a:picLocks noChangeAspect="1"/>
          </p:cNvPicPr>
          <p:nvPr/>
        </p:nvPicPr>
        <p:blipFill>
          <a:blip r:embed="rId1"/>
          <a:srcRect l="0" r="0" t="0" b="0"/>
          <a:stretch/>
        </p:blipFill>
        <p:spPr>
          <a:xfrm>
            <a:off x="6172200" y="1417320"/>
            <a:ext cx="5486400" cy="3776472"/>
          </a:xfrm>
          <a:prstGeom prst="rect">
            <a:avLst/>
          </a:prstGeom>
        </p:spPr>
      </p:pic>
      <p:sp>
        <p:nvSpPr>
          <p:cNvPr id="8" name="Text 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23</a:t>
            </a:r>
            <a:endParaRPr lang="en-US" sz="1000" dirty="0"/>
          </a:p>
        </p:txBody>
      </p:sp>
      <p:sp>
        <p:nvSpPr>
          <p:cNvPr id="9" name="Text 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REFERENCE TOOL</a:t>
            </a:r>
            <a:endParaRPr lang="en-US" sz="1250" dirty="0"/>
          </a:p>
        </p:txBody>
      </p:sp>
      <p:sp>
        <p:nvSpPr>
          <p:cNvPr id="3" name="Text 1"/>
          <p:cNvSpPr/>
          <p:nvPr/>
        </p:nvSpPr>
        <p:spPr>
          <a:xfrm>
            <a:off x="548640" y="777240"/>
            <a:ext cx="7315200" cy="54864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Searchable Glossary</a:t>
            </a:r>
            <a:endParaRPr lang="en-US" sz="2800" dirty="0"/>
          </a:p>
        </p:txBody>
      </p:sp>
      <p:sp>
        <p:nvSpPr>
          <p:cNvPr id="4" name="Text 2"/>
          <p:cNvSpPr/>
          <p:nvPr/>
        </p:nvSpPr>
        <p:spPr>
          <a:xfrm>
            <a:off x="548640" y="1463040"/>
            <a:ext cx="5394960" cy="1371600"/>
          </a:xfrm>
          <a:prstGeom prst="rect">
            <a:avLst/>
          </a:prstGeom>
          <a:noFill/>
          <a:ln/>
        </p:spPr>
        <p:txBody>
          <a:bodyPr wrap="square" rtlCol="0" anchor="ctr"/>
          <a:lstStyle/>
          <a:p>
            <a:pPr indent="0" marL="0">
              <a:lnSpc>
                <a:spcPct val="132000"/>
              </a:lnSpc>
              <a:buNone/>
            </a:pPr>
            <a:r>
              <a:rPr lang="en-US" sz="1300" dirty="0">
                <a:solidFill>
                  <a:srgbClr val="DCE7E1"/>
                </a:solidFill>
                <a:latin typeface="Calibri" pitchFamily="34" charset="0"/>
                <a:ea typeface="Calibri" pitchFamily="34" charset="-122"/>
                <a:cs typeface="Calibri" pitchFamily="34" charset="-120"/>
              </a:rPr>
              <a:t>Over 20 key terms — from Asthenosphere to Weathering — defined in plain language and searchable instantly, so unfamiliar vocabulary never blocks a student mid-simulation.</a:t>
            </a:r>
            <a:endParaRPr lang="en-US" sz="1300" dirty="0"/>
          </a:p>
        </p:txBody>
      </p:sp>
      <p:sp>
        <p:nvSpPr>
          <p:cNvPr id="5" name="Text 3"/>
          <p:cNvSpPr/>
          <p:nvPr/>
        </p:nvSpPr>
        <p:spPr>
          <a:xfrm>
            <a:off x="548640" y="3063240"/>
            <a:ext cx="5394960" cy="2194560"/>
          </a:xfrm>
          <a:prstGeom prst="rect">
            <a:avLst/>
          </a:prstGeom>
          <a:noFill/>
          <a:ln/>
        </p:spPr>
        <p:txBody>
          <a:bodyPr wrap="square" lIns="0" tIns="0" rIns="0" bIns="0" rtlCol="0" anchor="t"/>
          <a:lstStyle/>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Instant search-as-you-type filtering</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Plain-language definitions, no jargon left unexplained</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Covers terms used across all 10 simulations</a:t>
            </a:r>
            <a:endParaRPr lang="en-US" sz="1250" dirty="0"/>
          </a:p>
          <a:p>
            <a:pPr marL="177800" indent="-177800">
              <a:lnSpc>
                <a:spcPct val="108000"/>
              </a:lnSpc>
              <a:spcAft>
                <a:spcPts val="1200"/>
              </a:spcAft>
              <a:buSzPct val="100000"/>
              <a:buChar char="▪"/>
            </a:pPr>
            <a:r>
              <a:rPr lang="en-US" sz="1250" dirty="0">
                <a:solidFill>
                  <a:srgbClr val="DCE7E1"/>
                </a:solidFill>
                <a:latin typeface="Calibri" pitchFamily="34" charset="0"/>
                <a:ea typeface="Calibri" pitchFamily="34" charset="-122"/>
                <a:cs typeface="Calibri" pitchFamily="34" charset="-120"/>
              </a:rPr>
              <a:t>Reinforces vocabulary tested in the quizzes</a:t>
            </a:r>
            <a:endParaRPr lang="en-US" sz="1250" dirty="0"/>
          </a:p>
        </p:txBody>
      </p:sp>
      <p:sp>
        <p:nvSpPr>
          <p:cNvPr id="6" name="Shape 4"/>
          <p:cNvSpPr/>
          <p:nvPr/>
        </p:nvSpPr>
        <p:spPr>
          <a:xfrm>
            <a:off x="6131052" y="1376172"/>
            <a:ext cx="5568696" cy="3858768"/>
          </a:xfrm>
          <a:prstGeom prst="roundRect">
            <a:avLst>
              <a:gd name="adj" fmla="val 2133"/>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7" name="Image 0" descr="/home/claude/deck-assets/crop/section-glossary.png">    </p:cNvPr>
          <p:cNvPicPr>
            <a:picLocks noChangeAspect="1"/>
          </p:cNvPicPr>
          <p:nvPr/>
        </p:nvPicPr>
        <p:blipFill>
          <a:blip r:embed="rId1"/>
          <a:srcRect l="0" r="0" t="0" b="0"/>
          <a:stretch/>
        </p:blipFill>
        <p:spPr>
          <a:xfrm>
            <a:off x="6172200" y="1417320"/>
            <a:ext cx="5486400" cy="3776472"/>
          </a:xfrm>
          <a:prstGeom prst="rect">
            <a:avLst/>
          </a:prstGeom>
        </p:spPr>
      </p:pic>
      <p:sp>
        <p:nvSpPr>
          <p:cNvPr id="8" name="Text 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24</a:t>
            </a:r>
            <a:endParaRPr lang="en-US" sz="1000" dirty="0"/>
          </a:p>
        </p:txBody>
      </p:sp>
      <p:sp>
        <p:nvSpPr>
          <p:cNvPr id="9" name="Text 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PRACTICE &amp; MOTIVATION</a:t>
            </a:r>
            <a:endParaRPr lang="en-US" sz="1250" dirty="0"/>
          </a:p>
        </p:txBody>
      </p:sp>
      <p:sp>
        <p:nvSpPr>
          <p:cNvPr id="3" name="Text 1"/>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Quiz Centre &amp; Gamification</a:t>
            </a:r>
            <a:endParaRPr lang="en-US" sz="2800" dirty="0"/>
          </a:p>
        </p:txBody>
      </p:sp>
      <p:sp>
        <p:nvSpPr>
          <p:cNvPr id="4" name="Text 2"/>
          <p:cNvSpPr/>
          <p:nvPr/>
        </p:nvSpPr>
        <p:spPr>
          <a:xfrm>
            <a:off x="548640" y="1463040"/>
            <a:ext cx="5394960" cy="1188720"/>
          </a:xfrm>
          <a:prstGeom prst="rect">
            <a:avLst/>
          </a:prstGeom>
          <a:noFill/>
          <a:ln/>
        </p:spPr>
        <p:txBody>
          <a:bodyPr wrap="square" rtlCol="0" anchor="ctr"/>
          <a:lstStyle/>
          <a:p>
            <a:pPr indent="0" marL="0">
              <a:lnSpc>
                <a:spcPct val="132000"/>
              </a:lnSpc>
              <a:buNone/>
            </a:pPr>
            <a:r>
              <a:rPr lang="en-US" sz="1300" dirty="0">
                <a:solidFill>
                  <a:srgbClr val="DCE7E1"/>
                </a:solidFill>
                <a:latin typeface="Calibri" pitchFamily="34" charset="0"/>
                <a:ea typeface="Calibri" pitchFamily="34" charset="-122"/>
                <a:cs typeface="Calibri" pitchFamily="34" charset="-120"/>
              </a:rPr>
              <a:t>Every module’s quiz is also reachable directly from a central Quiz Centre, and every correct answer feeds a lightweight gamification layer that keeps students coming back to finish all ten labs.</a:t>
            </a:r>
            <a:endParaRPr lang="en-US" sz="1300" dirty="0"/>
          </a:p>
        </p:txBody>
      </p:sp>
      <p:sp>
        <p:nvSpPr>
          <p:cNvPr id="5" name="Shape 3"/>
          <p:cNvSpPr/>
          <p:nvPr/>
        </p:nvSpPr>
        <p:spPr>
          <a:xfrm>
            <a:off x="548640" y="2788920"/>
            <a:ext cx="5394960" cy="594360"/>
          </a:xfrm>
          <a:prstGeom prst="roundRect">
            <a:avLst>
              <a:gd name="adj" fmla="val 12308"/>
            </a:avLst>
          </a:prstGeom>
          <a:solidFill>
            <a:srgbClr val="17281F"/>
          </a:solidFill>
          <a:ln w="12700">
            <a:solidFill>
              <a:srgbClr val="2C4436"/>
            </a:solidFill>
            <a:prstDash val="solid"/>
          </a:ln>
        </p:spPr>
      </p:sp>
      <p:sp>
        <p:nvSpPr>
          <p:cNvPr id="6" name="Text 4"/>
          <p:cNvSpPr/>
          <p:nvPr/>
        </p:nvSpPr>
        <p:spPr>
          <a:xfrm>
            <a:off x="713232" y="2788920"/>
            <a:ext cx="1463040" cy="59436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XP</a:t>
            </a:r>
            <a:endParaRPr lang="en-US" sz="1250" dirty="0"/>
          </a:p>
        </p:txBody>
      </p:sp>
      <p:sp>
        <p:nvSpPr>
          <p:cNvPr id="7" name="Text 5"/>
          <p:cNvSpPr/>
          <p:nvPr/>
        </p:nvSpPr>
        <p:spPr>
          <a:xfrm>
            <a:off x="2148840" y="2788920"/>
            <a:ext cx="3657600" cy="594360"/>
          </a:xfrm>
          <a:prstGeom prst="rect">
            <a:avLst/>
          </a:prstGeom>
          <a:noFill/>
          <a:ln/>
        </p:spPr>
        <p:txBody>
          <a:bodyPr wrap="square" lIns="0" tIns="0" rIns="0" bIns="0" rtlCol="0" anchor="ctr"/>
          <a:lstStyle/>
          <a:p>
            <a:pPr indent="0" marL="0">
              <a:lnSpc>
                <a:spcPct val="115000"/>
              </a:lnSpc>
              <a:buNone/>
            </a:pPr>
            <a:r>
              <a:rPr lang="en-US" sz="1050" dirty="0">
                <a:solidFill>
                  <a:srgbClr val="A9BCB2"/>
                </a:solidFill>
                <a:latin typeface="Calibri" pitchFamily="34" charset="0"/>
                <a:ea typeface="Calibri" pitchFamily="34" charset="-122"/>
                <a:cs typeface="Calibri" pitchFamily="34" charset="-120"/>
              </a:rPr>
              <a:t>Earned from quiz answers and completed trials</a:t>
            </a:r>
            <a:endParaRPr lang="en-US" sz="1050" dirty="0"/>
          </a:p>
        </p:txBody>
      </p:sp>
      <p:sp>
        <p:nvSpPr>
          <p:cNvPr id="8" name="Shape 6"/>
          <p:cNvSpPr/>
          <p:nvPr/>
        </p:nvSpPr>
        <p:spPr>
          <a:xfrm>
            <a:off x="548640" y="3502152"/>
            <a:ext cx="5394960" cy="594360"/>
          </a:xfrm>
          <a:prstGeom prst="roundRect">
            <a:avLst>
              <a:gd name="adj" fmla="val 12308"/>
            </a:avLst>
          </a:prstGeom>
          <a:solidFill>
            <a:srgbClr val="17281F"/>
          </a:solidFill>
          <a:ln w="12700">
            <a:solidFill>
              <a:srgbClr val="2C4436"/>
            </a:solidFill>
            <a:prstDash val="solid"/>
          </a:ln>
        </p:spPr>
      </p:sp>
      <p:sp>
        <p:nvSpPr>
          <p:cNvPr id="9" name="Text 7"/>
          <p:cNvSpPr/>
          <p:nvPr/>
        </p:nvSpPr>
        <p:spPr>
          <a:xfrm>
            <a:off x="713232" y="3502152"/>
            <a:ext cx="1463040" cy="59436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Levels</a:t>
            </a:r>
            <a:endParaRPr lang="en-US" sz="1250" dirty="0"/>
          </a:p>
        </p:txBody>
      </p:sp>
      <p:sp>
        <p:nvSpPr>
          <p:cNvPr id="10" name="Text 8"/>
          <p:cNvSpPr/>
          <p:nvPr/>
        </p:nvSpPr>
        <p:spPr>
          <a:xfrm>
            <a:off x="2148840" y="3502152"/>
            <a:ext cx="3657600" cy="594360"/>
          </a:xfrm>
          <a:prstGeom prst="rect">
            <a:avLst/>
          </a:prstGeom>
          <a:noFill/>
          <a:ln/>
        </p:spPr>
        <p:txBody>
          <a:bodyPr wrap="square" lIns="0" tIns="0" rIns="0" bIns="0" rtlCol="0" anchor="ctr"/>
          <a:lstStyle/>
          <a:p>
            <a:pPr indent="0" marL="0">
              <a:lnSpc>
                <a:spcPct val="115000"/>
              </a:lnSpc>
              <a:buNone/>
            </a:pPr>
            <a:r>
              <a:rPr lang="en-US" sz="1050" dirty="0">
                <a:solidFill>
                  <a:srgbClr val="A9BCB2"/>
                </a:solidFill>
                <a:latin typeface="Calibri" pitchFamily="34" charset="0"/>
                <a:ea typeface="Calibri" pitchFamily="34" charset="-122"/>
                <a:cs typeface="Calibri" pitchFamily="34" charset="-120"/>
              </a:rPr>
              <a:t>Field Trainee through Chief Earth Scientist</a:t>
            </a:r>
            <a:endParaRPr lang="en-US" sz="1050" dirty="0"/>
          </a:p>
        </p:txBody>
      </p:sp>
      <p:sp>
        <p:nvSpPr>
          <p:cNvPr id="11" name="Shape 9"/>
          <p:cNvSpPr/>
          <p:nvPr/>
        </p:nvSpPr>
        <p:spPr>
          <a:xfrm>
            <a:off x="548640" y="4215384"/>
            <a:ext cx="5394960" cy="594360"/>
          </a:xfrm>
          <a:prstGeom prst="roundRect">
            <a:avLst>
              <a:gd name="adj" fmla="val 12308"/>
            </a:avLst>
          </a:prstGeom>
          <a:solidFill>
            <a:srgbClr val="17281F"/>
          </a:solidFill>
          <a:ln w="12700">
            <a:solidFill>
              <a:srgbClr val="2C4436"/>
            </a:solidFill>
            <a:prstDash val="solid"/>
          </a:ln>
        </p:spPr>
      </p:sp>
      <p:sp>
        <p:nvSpPr>
          <p:cNvPr id="12" name="Text 10"/>
          <p:cNvSpPr/>
          <p:nvPr/>
        </p:nvSpPr>
        <p:spPr>
          <a:xfrm>
            <a:off x="713232" y="4215384"/>
            <a:ext cx="1463040" cy="59436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Best Scores</a:t>
            </a:r>
            <a:endParaRPr lang="en-US" sz="1250" dirty="0"/>
          </a:p>
        </p:txBody>
      </p:sp>
      <p:sp>
        <p:nvSpPr>
          <p:cNvPr id="13" name="Text 11"/>
          <p:cNvSpPr/>
          <p:nvPr/>
        </p:nvSpPr>
        <p:spPr>
          <a:xfrm>
            <a:off x="2148840" y="4215384"/>
            <a:ext cx="3657600" cy="594360"/>
          </a:xfrm>
          <a:prstGeom prst="rect">
            <a:avLst/>
          </a:prstGeom>
          <a:noFill/>
          <a:ln/>
        </p:spPr>
        <p:txBody>
          <a:bodyPr wrap="square" lIns="0" tIns="0" rIns="0" bIns="0" rtlCol="0" anchor="ctr"/>
          <a:lstStyle/>
          <a:p>
            <a:pPr indent="0" marL="0">
              <a:lnSpc>
                <a:spcPct val="115000"/>
              </a:lnSpc>
              <a:buNone/>
            </a:pPr>
            <a:r>
              <a:rPr lang="en-US" sz="1050" dirty="0">
                <a:solidFill>
                  <a:srgbClr val="A9BCB2"/>
                </a:solidFill>
                <a:latin typeface="Calibri" pitchFamily="34" charset="0"/>
                <a:ea typeface="Calibri" pitchFamily="34" charset="-122"/>
                <a:cs typeface="Calibri" pitchFamily="34" charset="-120"/>
              </a:rPr>
              <a:t>Tracked per module and shown on each card</a:t>
            </a:r>
            <a:endParaRPr lang="en-US" sz="1050" dirty="0"/>
          </a:p>
        </p:txBody>
      </p:sp>
      <p:sp>
        <p:nvSpPr>
          <p:cNvPr id="14" name="Shape 12"/>
          <p:cNvSpPr/>
          <p:nvPr/>
        </p:nvSpPr>
        <p:spPr>
          <a:xfrm>
            <a:off x="548640" y="4928616"/>
            <a:ext cx="5394960" cy="594360"/>
          </a:xfrm>
          <a:prstGeom prst="roundRect">
            <a:avLst>
              <a:gd name="adj" fmla="val 12308"/>
            </a:avLst>
          </a:prstGeom>
          <a:solidFill>
            <a:srgbClr val="17281F"/>
          </a:solidFill>
          <a:ln w="12700">
            <a:solidFill>
              <a:srgbClr val="2C4436"/>
            </a:solidFill>
            <a:prstDash val="solid"/>
          </a:ln>
        </p:spPr>
      </p:sp>
      <p:sp>
        <p:nvSpPr>
          <p:cNvPr id="15" name="Text 13"/>
          <p:cNvSpPr/>
          <p:nvPr/>
        </p:nvSpPr>
        <p:spPr>
          <a:xfrm>
            <a:off x="713232" y="4928616"/>
            <a:ext cx="1463040" cy="59436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Completion Badges</a:t>
            </a:r>
            <a:endParaRPr lang="en-US" sz="1250" dirty="0"/>
          </a:p>
        </p:txBody>
      </p:sp>
      <p:sp>
        <p:nvSpPr>
          <p:cNvPr id="16" name="Text 14"/>
          <p:cNvSpPr/>
          <p:nvPr/>
        </p:nvSpPr>
        <p:spPr>
          <a:xfrm>
            <a:off x="2148840" y="4928616"/>
            <a:ext cx="3657600" cy="594360"/>
          </a:xfrm>
          <a:prstGeom prst="rect">
            <a:avLst/>
          </a:prstGeom>
          <a:noFill/>
          <a:ln/>
        </p:spPr>
        <p:txBody>
          <a:bodyPr wrap="square" lIns="0" tIns="0" rIns="0" bIns="0" rtlCol="0" anchor="ctr"/>
          <a:lstStyle/>
          <a:p>
            <a:pPr indent="0" marL="0">
              <a:lnSpc>
                <a:spcPct val="115000"/>
              </a:lnSpc>
              <a:buNone/>
            </a:pPr>
            <a:r>
              <a:rPr lang="en-US" sz="1050" dirty="0">
                <a:solidFill>
                  <a:srgbClr val="A9BCB2"/>
                </a:solidFill>
                <a:latin typeface="Calibri" pitchFamily="34" charset="0"/>
                <a:ea typeface="Calibri" pitchFamily="34" charset="-122"/>
                <a:cs typeface="Calibri" pitchFamily="34" charset="-120"/>
              </a:rPr>
              <a:t>“Completed” marker once a quiz is finished</a:t>
            </a:r>
            <a:endParaRPr lang="en-US" sz="1050" dirty="0"/>
          </a:p>
        </p:txBody>
      </p:sp>
      <p:sp>
        <p:nvSpPr>
          <p:cNvPr id="17" name="Shape 15"/>
          <p:cNvSpPr/>
          <p:nvPr/>
        </p:nvSpPr>
        <p:spPr>
          <a:xfrm>
            <a:off x="6131052" y="1376172"/>
            <a:ext cx="5568696" cy="3858768"/>
          </a:xfrm>
          <a:prstGeom prst="roundRect">
            <a:avLst>
              <a:gd name="adj" fmla="val 2133"/>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18" name="Image 0" descr="/home/claude/deck-assets/crop/section-quizcentre.png">    </p:cNvPr>
          <p:cNvPicPr>
            <a:picLocks noChangeAspect="1"/>
          </p:cNvPicPr>
          <p:nvPr/>
        </p:nvPicPr>
        <p:blipFill>
          <a:blip r:embed="rId1"/>
          <a:srcRect l="0" r="0" t="0" b="0"/>
          <a:stretch/>
        </p:blipFill>
        <p:spPr>
          <a:xfrm>
            <a:off x="6172200" y="1417320"/>
            <a:ext cx="5486400" cy="3776472"/>
          </a:xfrm>
          <a:prstGeom prst="rect">
            <a:avLst/>
          </a:prstGeom>
        </p:spPr>
      </p:pic>
      <p:sp>
        <p:nvSpPr>
          <p:cNvPr id="19" name="Text 1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25</a:t>
            </a:r>
            <a:endParaRPr lang="en-US" sz="1000" dirty="0"/>
          </a:p>
        </p:txBody>
      </p:sp>
      <p:sp>
        <p:nvSpPr>
          <p:cNvPr id="20" name="Text 17"/>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ABOUT</a:t>
            </a:r>
            <a:endParaRPr lang="en-US" sz="1250" dirty="0"/>
          </a:p>
        </p:txBody>
      </p:sp>
      <p:sp>
        <p:nvSpPr>
          <p:cNvPr id="3" name="Text 1"/>
          <p:cNvSpPr/>
          <p:nvPr/>
        </p:nvSpPr>
        <p:spPr>
          <a:xfrm>
            <a:off x="548640" y="777240"/>
            <a:ext cx="7315200" cy="54864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About the Developer</a:t>
            </a:r>
            <a:endParaRPr lang="en-US" sz="2800" dirty="0"/>
          </a:p>
        </p:txBody>
      </p:sp>
      <p:sp>
        <p:nvSpPr>
          <p:cNvPr id="4" name="Shape 2"/>
          <p:cNvSpPr/>
          <p:nvPr/>
        </p:nvSpPr>
        <p:spPr>
          <a:xfrm>
            <a:off x="548640" y="1554480"/>
            <a:ext cx="5394960" cy="4572000"/>
          </a:xfrm>
          <a:prstGeom prst="roundRect">
            <a:avLst>
              <a:gd name="adj" fmla="val 2000"/>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5" name="Image 0" descr="/home/claude/earth-lab/images/developer.jpg">    </p:cNvPr>
          <p:cNvPicPr>
            <a:picLocks noChangeAspect="1"/>
          </p:cNvPicPr>
          <p:nvPr/>
        </p:nvPicPr>
        <p:blipFill>
          <a:blip r:embed="rId1"/>
          <a:stretch>
            <a:fillRect/>
          </a:stretch>
        </p:blipFill>
        <p:spPr>
          <a:xfrm>
            <a:off x="868680" y="1874520"/>
            <a:ext cx="1371600" cy="1371600"/>
          </a:xfrm>
          <a:prstGeom prst="ellipse">
            <a:avLst/>
          </a:prstGeom>
        </p:spPr>
      </p:pic>
      <p:sp>
        <p:nvSpPr>
          <p:cNvPr id="6" name="Text 3"/>
          <p:cNvSpPr/>
          <p:nvPr/>
        </p:nvSpPr>
        <p:spPr>
          <a:xfrm>
            <a:off x="2423160" y="1965960"/>
            <a:ext cx="3291840" cy="1097280"/>
          </a:xfrm>
          <a:prstGeom prst="rect">
            <a:avLst/>
          </a:prstGeom>
          <a:noFill/>
          <a:ln/>
        </p:spPr>
        <p:txBody>
          <a:bodyPr wrap="square" lIns="0" tIns="0" rIns="0" bIns="0" rtlCol="0" anchor="t"/>
          <a:lstStyle/>
          <a:p>
            <a:pPr indent="0" marL="0">
              <a:lnSpc>
                <a:spcPct val="120000"/>
              </a:lnSpc>
              <a:buNone/>
            </a:pPr>
            <a:r>
              <a:rPr lang="en-US" sz="1700" b="1" dirty="0">
                <a:solidFill>
                  <a:srgbClr val="F7FAF9"/>
                </a:solidFill>
                <a:latin typeface="Calibri" pitchFamily="34" charset="0"/>
                <a:ea typeface="Calibri" pitchFamily="34" charset="-122"/>
                <a:cs typeface="Calibri" pitchFamily="34" charset="-120"/>
              </a:rPr>
              <a:t>Dr. Mateen Yousuf
</a:t>
            </a:r>
            <a:pPr indent="0" marL="0">
              <a:lnSpc>
                <a:spcPct val="120000"/>
              </a:lnSpc>
              <a:buNone/>
            </a:pPr>
            <a:r>
              <a:rPr lang="en-US" sz="1150" dirty="0">
                <a:solidFill>
                  <a:srgbClr val="A9BCB2"/>
                </a:solidFill>
                <a:latin typeface="Calibri" pitchFamily="34" charset="0"/>
                <a:ea typeface="Calibri" pitchFamily="34" charset="-122"/>
                <a:cs typeface="Calibri" pitchFamily="34" charset="-120"/>
              </a:rPr>
              <a:t>Teacher, School Education Department, Kashmir</a:t>
            </a:r>
            <a:endParaRPr lang="en-US" sz="1700" dirty="0"/>
          </a:p>
        </p:txBody>
      </p:sp>
      <p:sp>
        <p:nvSpPr>
          <p:cNvPr id="7" name="Text 4"/>
          <p:cNvSpPr/>
          <p:nvPr/>
        </p:nvSpPr>
        <p:spPr>
          <a:xfrm>
            <a:off x="868680" y="3429000"/>
            <a:ext cx="4754880" cy="1280160"/>
          </a:xfrm>
          <a:prstGeom prst="rect">
            <a:avLst/>
          </a:prstGeom>
          <a:noFill/>
          <a:ln/>
        </p:spPr>
        <p:txBody>
          <a:bodyPr wrap="square" rtlCol="0" anchor="ctr"/>
          <a:lstStyle/>
          <a:p>
            <a:pPr indent="0" marL="0">
              <a:lnSpc>
                <a:spcPct val="130000"/>
              </a:lnSpc>
              <a:buNone/>
            </a:pPr>
            <a:r>
              <a:rPr lang="en-US" sz="1150" dirty="0">
                <a:solidFill>
                  <a:srgbClr val="DCE7E1"/>
                </a:solidFill>
                <a:latin typeface="Calibri" pitchFamily="34" charset="0"/>
                <a:ea typeface="Calibri" pitchFamily="34" charset="-122"/>
                <a:cs typeface="Calibri" pitchFamily="34" charset="-120"/>
              </a:rPr>
              <a:t>Virtual Earth Science Laboratory was created to give students hands-on, inquiry-based access to Earth science phenomena that are normally impossible to observe directly — from the growth of a single mineral crystal to the movement of tectonic plates over millions of years.</a:t>
            </a:r>
            <a:endParaRPr lang="en-US" sz="1150" dirty="0"/>
          </a:p>
        </p:txBody>
      </p:sp>
      <p:sp>
        <p:nvSpPr>
          <p:cNvPr id="8" name="Text 5"/>
          <p:cNvSpPr/>
          <p:nvPr/>
        </p:nvSpPr>
        <p:spPr>
          <a:xfrm>
            <a:off x="868680" y="4709160"/>
            <a:ext cx="4754880" cy="1280160"/>
          </a:xfrm>
          <a:prstGeom prst="rect">
            <a:avLst/>
          </a:prstGeom>
          <a:noFill/>
          <a:ln/>
        </p:spPr>
        <p:txBody>
          <a:bodyPr wrap="square" rtlCol="0" anchor="ctr"/>
          <a:lstStyle/>
          <a:p>
            <a:pPr indent="0" marL="0">
              <a:lnSpc>
                <a:spcPct val="130000"/>
              </a:lnSpc>
              <a:buNone/>
            </a:pPr>
            <a:r>
              <a:rPr lang="en-US" sz="1150" dirty="0">
                <a:solidFill>
                  <a:srgbClr val="DCE7E1"/>
                </a:solidFill>
                <a:latin typeface="Calibri" pitchFamily="34" charset="0"/>
                <a:ea typeface="Calibri" pitchFamily="34" charset="-122"/>
                <a:cs typeface="Calibri" pitchFamily="34" charset="-120"/>
              </a:rPr>
              <a:t>It is built around experiential learning, evidence-based reasoning, environmental awareness and disaster-preparedness education, in line with NEP 2020 and NCF — and works entirely offline so it can reach classrooms without reliable internet access.</a:t>
            </a:r>
            <a:endParaRPr lang="en-US" sz="1150" dirty="0"/>
          </a:p>
        </p:txBody>
      </p:sp>
      <p:sp>
        <p:nvSpPr>
          <p:cNvPr id="9" name="Shape 6"/>
          <p:cNvSpPr/>
          <p:nvPr/>
        </p:nvSpPr>
        <p:spPr>
          <a:xfrm>
            <a:off x="6222492" y="1513332"/>
            <a:ext cx="5477256" cy="4654296"/>
          </a:xfrm>
          <a:prstGeom prst="roundRect">
            <a:avLst>
              <a:gd name="adj" fmla="val 1768"/>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10" name="Image 1" descr="/home/claude/deck-assets/crop/section-about.png">    </p:cNvPr>
          <p:cNvPicPr>
            <a:picLocks noChangeAspect="1"/>
          </p:cNvPicPr>
          <p:nvPr/>
        </p:nvPicPr>
        <p:blipFill>
          <a:blip r:embed="rId2"/>
          <a:srcRect l="0" r="0" t="0" b="0"/>
          <a:stretch/>
        </p:blipFill>
        <p:spPr>
          <a:xfrm>
            <a:off x="6263640" y="1554480"/>
            <a:ext cx="5394960" cy="4572000"/>
          </a:xfrm>
          <a:prstGeom prst="rect">
            <a:avLst/>
          </a:prstGeom>
        </p:spPr>
      </p:pic>
      <p:sp>
        <p:nvSpPr>
          <p:cNvPr id="11" name="Text 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26</a:t>
            </a:r>
            <a:endParaRPr lang="en-US" sz="1000" dirty="0"/>
          </a:p>
        </p:txBody>
      </p:sp>
      <p:sp>
        <p:nvSpPr>
          <p:cNvPr id="12" name="Text 8"/>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CURRICULUM FIT</a:t>
            </a:r>
            <a:endParaRPr lang="en-US" sz="1250" dirty="0"/>
          </a:p>
        </p:txBody>
      </p:sp>
      <p:sp>
        <p:nvSpPr>
          <p:cNvPr id="3" name="Text 1"/>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7FAF9"/>
                </a:solidFill>
                <a:latin typeface="Calibri" pitchFamily="34" charset="0"/>
                <a:ea typeface="Calibri" pitchFamily="34" charset="-122"/>
                <a:cs typeface="Calibri" pitchFamily="34" charset="-120"/>
              </a:rPr>
              <a:t>Aligned with NEP 2020 and NCF</a:t>
            </a:r>
            <a:endParaRPr lang="en-US" sz="2800" dirty="0"/>
          </a:p>
        </p:txBody>
      </p:sp>
      <p:sp>
        <p:nvSpPr>
          <p:cNvPr id="4" name="Text 2"/>
          <p:cNvSpPr/>
          <p:nvPr/>
        </p:nvSpPr>
        <p:spPr>
          <a:xfrm>
            <a:off x="548640" y="1463040"/>
            <a:ext cx="10607040" cy="640080"/>
          </a:xfrm>
          <a:prstGeom prst="rect">
            <a:avLst/>
          </a:prstGeom>
          <a:noFill/>
          <a:ln/>
        </p:spPr>
        <p:txBody>
          <a:bodyPr wrap="square" rtlCol="0" anchor="ctr"/>
          <a:lstStyle/>
          <a:p>
            <a:pPr indent="0" marL="0">
              <a:lnSpc>
                <a:spcPct val="130000"/>
              </a:lnSpc>
              <a:buNone/>
            </a:pPr>
            <a:r>
              <a:rPr lang="en-US" sz="1300" dirty="0">
                <a:solidFill>
                  <a:srgbClr val="A9BCB2"/>
                </a:solidFill>
                <a:latin typeface="Calibri" pitchFamily="34" charset="0"/>
                <a:ea typeface="Calibri" pitchFamily="34" charset="-122"/>
                <a:cs typeface="Calibri" pitchFamily="34" charset="-120"/>
              </a:rPr>
              <a:t>Every simulation is framed around competency-based, activity-driven learning — the same principles at the heart of India’s National Education Policy 2020 and the National Curriculum Framework.</a:t>
            </a:r>
            <a:endParaRPr lang="en-US" sz="1300" dirty="0"/>
          </a:p>
        </p:txBody>
      </p:sp>
      <p:sp>
        <p:nvSpPr>
          <p:cNvPr id="5" name="Shape 3"/>
          <p:cNvSpPr/>
          <p:nvPr/>
        </p:nvSpPr>
        <p:spPr>
          <a:xfrm>
            <a:off x="548640" y="2331720"/>
            <a:ext cx="3538728" cy="1325880"/>
          </a:xfrm>
          <a:prstGeom prst="roundRect">
            <a:avLst>
              <a:gd name="adj" fmla="val 6207"/>
            </a:avLst>
          </a:prstGeom>
          <a:solidFill>
            <a:srgbClr val="17281F"/>
          </a:solidFill>
          <a:ln w="12700">
            <a:solidFill>
              <a:srgbClr val="2C4436"/>
            </a:solidFill>
            <a:prstDash val="solid"/>
          </a:ln>
        </p:spPr>
      </p:sp>
      <p:sp>
        <p:nvSpPr>
          <p:cNvPr id="6" name="Text 4"/>
          <p:cNvSpPr/>
          <p:nvPr/>
        </p:nvSpPr>
        <p:spPr>
          <a:xfrm>
            <a:off x="731520" y="2459736"/>
            <a:ext cx="3172968" cy="41148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Competency-Based Learning</a:t>
            </a:r>
            <a:endParaRPr lang="en-US" sz="1250" dirty="0"/>
          </a:p>
        </p:txBody>
      </p:sp>
      <p:sp>
        <p:nvSpPr>
          <p:cNvPr id="7" name="Text 5"/>
          <p:cNvSpPr/>
          <p:nvPr/>
        </p:nvSpPr>
        <p:spPr>
          <a:xfrm>
            <a:off x="731520" y="2862072"/>
            <a:ext cx="3172968" cy="73152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Students demonstrate understanding by doing — running experiments, not memorising facts.</a:t>
            </a:r>
            <a:endParaRPr lang="en-US" sz="1000" dirty="0"/>
          </a:p>
        </p:txBody>
      </p:sp>
      <p:sp>
        <p:nvSpPr>
          <p:cNvPr id="8" name="Shape 6"/>
          <p:cNvSpPr/>
          <p:nvPr/>
        </p:nvSpPr>
        <p:spPr>
          <a:xfrm>
            <a:off x="4261104" y="2331720"/>
            <a:ext cx="3538728" cy="1325880"/>
          </a:xfrm>
          <a:prstGeom prst="roundRect">
            <a:avLst>
              <a:gd name="adj" fmla="val 6207"/>
            </a:avLst>
          </a:prstGeom>
          <a:solidFill>
            <a:srgbClr val="17281F"/>
          </a:solidFill>
          <a:ln w="12700">
            <a:solidFill>
              <a:srgbClr val="2C4436"/>
            </a:solidFill>
            <a:prstDash val="solid"/>
          </a:ln>
        </p:spPr>
      </p:sp>
      <p:sp>
        <p:nvSpPr>
          <p:cNvPr id="9" name="Text 7"/>
          <p:cNvSpPr/>
          <p:nvPr/>
        </p:nvSpPr>
        <p:spPr>
          <a:xfrm>
            <a:off x="4443984" y="2459736"/>
            <a:ext cx="3172968" cy="41148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Experiential &amp; Inquiry-Based</a:t>
            </a:r>
            <a:endParaRPr lang="en-US" sz="1250" dirty="0"/>
          </a:p>
        </p:txBody>
      </p:sp>
      <p:sp>
        <p:nvSpPr>
          <p:cNvPr id="10" name="Text 8"/>
          <p:cNvSpPr/>
          <p:nvPr/>
        </p:nvSpPr>
        <p:spPr>
          <a:xfrm>
            <a:off x="4443984" y="2862072"/>
            <a:ext cx="3172968" cy="73152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Every lab starts with a question and a variable to test, not a passage to read.</a:t>
            </a:r>
            <a:endParaRPr lang="en-US" sz="1000" dirty="0"/>
          </a:p>
        </p:txBody>
      </p:sp>
      <p:sp>
        <p:nvSpPr>
          <p:cNvPr id="11" name="Shape 9"/>
          <p:cNvSpPr/>
          <p:nvPr/>
        </p:nvSpPr>
        <p:spPr>
          <a:xfrm>
            <a:off x="7973568" y="2331720"/>
            <a:ext cx="3538728" cy="1325880"/>
          </a:xfrm>
          <a:prstGeom prst="roundRect">
            <a:avLst>
              <a:gd name="adj" fmla="val 6207"/>
            </a:avLst>
          </a:prstGeom>
          <a:solidFill>
            <a:srgbClr val="17281F"/>
          </a:solidFill>
          <a:ln w="12700">
            <a:solidFill>
              <a:srgbClr val="2C4436"/>
            </a:solidFill>
            <a:prstDash val="solid"/>
          </a:ln>
        </p:spPr>
      </p:sp>
      <p:sp>
        <p:nvSpPr>
          <p:cNvPr id="12" name="Text 10"/>
          <p:cNvSpPr/>
          <p:nvPr/>
        </p:nvSpPr>
        <p:spPr>
          <a:xfrm>
            <a:off x="8156448" y="2459736"/>
            <a:ext cx="3172968" cy="41148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Scientific Temper</a:t>
            </a:r>
            <a:endParaRPr lang="en-US" sz="1250" dirty="0"/>
          </a:p>
        </p:txBody>
      </p:sp>
      <p:sp>
        <p:nvSpPr>
          <p:cNvPr id="13" name="Text 11"/>
          <p:cNvSpPr/>
          <p:nvPr/>
        </p:nvSpPr>
        <p:spPr>
          <a:xfrm>
            <a:off x="8156448" y="2862072"/>
            <a:ext cx="3172968" cy="73152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Observation, evidence and reasoning are built into every quiz and data table.</a:t>
            </a:r>
            <a:endParaRPr lang="en-US" sz="1000" dirty="0"/>
          </a:p>
        </p:txBody>
      </p:sp>
      <p:sp>
        <p:nvSpPr>
          <p:cNvPr id="14" name="Shape 12"/>
          <p:cNvSpPr/>
          <p:nvPr/>
        </p:nvSpPr>
        <p:spPr>
          <a:xfrm>
            <a:off x="548640" y="3840480"/>
            <a:ext cx="3538728" cy="1325880"/>
          </a:xfrm>
          <a:prstGeom prst="roundRect">
            <a:avLst>
              <a:gd name="adj" fmla="val 6207"/>
            </a:avLst>
          </a:prstGeom>
          <a:solidFill>
            <a:srgbClr val="17281F"/>
          </a:solidFill>
          <a:ln w="12700">
            <a:solidFill>
              <a:srgbClr val="2C4436"/>
            </a:solidFill>
            <a:prstDash val="solid"/>
          </a:ln>
        </p:spPr>
      </p:sp>
      <p:sp>
        <p:nvSpPr>
          <p:cNvPr id="15" name="Text 13"/>
          <p:cNvSpPr/>
          <p:nvPr/>
        </p:nvSpPr>
        <p:spPr>
          <a:xfrm>
            <a:off x="731520" y="3968496"/>
            <a:ext cx="3172968" cy="41148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Disaster Preparedness</a:t>
            </a:r>
            <a:endParaRPr lang="en-US" sz="1250" dirty="0"/>
          </a:p>
        </p:txBody>
      </p:sp>
      <p:sp>
        <p:nvSpPr>
          <p:cNvPr id="16" name="Text 14"/>
          <p:cNvSpPr/>
          <p:nvPr/>
        </p:nvSpPr>
        <p:spPr>
          <a:xfrm>
            <a:off x="731520" y="4370832"/>
            <a:ext cx="3172968" cy="73152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Earthquake and volcano labs build real awareness of natural-hazard behaviour.</a:t>
            </a:r>
            <a:endParaRPr lang="en-US" sz="1000" dirty="0"/>
          </a:p>
        </p:txBody>
      </p:sp>
      <p:sp>
        <p:nvSpPr>
          <p:cNvPr id="17" name="Shape 15"/>
          <p:cNvSpPr/>
          <p:nvPr/>
        </p:nvSpPr>
        <p:spPr>
          <a:xfrm>
            <a:off x="4261104" y="3840480"/>
            <a:ext cx="3538728" cy="1325880"/>
          </a:xfrm>
          <a:prstGeom prst="roundRect">
            <a:avLst>
              <a:gd name="adj" fmla="val 6207"/>
            </a:avLst>
          </a:prstGeom>
          <a:solidFill>
            <a:srgbClr val="17281F"/>
          </a:solidFill>
          <a:ln w="12700">
            <a:solidFill>
              <a:srgbClr val="2C4436"/>
            </a:solidFill>
            <a:prstDash val="solid"/>
          </a:ln>
        </p:spPr>
      </p:sp>
      <p:sp>
        <p:nvSpPr>
          <p:cNvPr id="18" name="Text 16"/>
          <p:cNvSpPr/>
          <p:nvPr/>
        </p:nvSpPr>
        <p:spPr>
          <a:xfrm>
            <a:off x="4443984" y="3968496"/>
            <a:ext cx="3172968" cy="41148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Environmental Awareness</a:t>
            </a:r>
            <a:endParaRPr lang="en-US" sz="1250" dirty="0"/>
          </a:p>
        </p:txBody>
      </p:sp>
      <p:sp>
        <p:nvSpPr>
          <p:cNvPr id="19" name="Text 17"/>
          <p:cNvSpPr/>
          <p:nvPr/>
        </p:nvSpPr>
        <p:spPr>
          <a:xfrm>
            <a:off x="4443984" y="4370832"/>
            <a:ext cx="3172968" cy="73152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Erosion, weathering and soil labs connect directly to land and climate stewardship.</a:t>
            </a:r>
            <a:endParaRPr lang="en-US" sz="1000" dirty="0"/>
          </a:p>
        </p:txBody>
      </p:sp>
      <p:sp>
        <p:nvSpPr>
          <p:cNvPr id="20" name="Shape 18"/>
          <p:cNvSpPr/>
          <p:nvPr/>
        </p:nvSpPr>
        <p:spPr>
          <a:xfrm>
            <a:off x="7973568" y="3840480"/>
            <a:ext cx="3538728" cy="1325880"/>
          </a:xfrm>
          <a:prstGeom prst="roundRect">
            <a:avLst>
              <a:gd name="adj" fmla="val 6207"/>
            </a:avLst>
          </a:prstGeom>
          <a:solidFill>
            <a:srgbClr val="17281F"/>
          </a:solidFill>
          <a:ln w="12700">
            <a:solidFill>
              <a:srgbClr val="2C4436"/>
            </a:solidFill>
            <a:prstDash val="solid"/>
          </a:ln>
        </p:spPr>
      </p:sp>
      <p:sp>
        <p:nvSpPr>
          <p:cNvPr id="21" name="Text 19"/>
          <p:cNvSpPr/>
          <p:nvPr/>
        </p:nvSpPr>
        <p:spPr>
          <a:xfrm>
            <a:off x="8156448" y="3968496"/>
            <a:ext cx="3172968" cy="411480"/>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Classes VI–XII Coverage</a:t>
            </a:r>
            <a:endParaRPr lang="en-US" sz="1250" dirty="0"/>
          </a:p>
        </p:txBody>
      </p:sp>
      <p:sp>
        <p:nvSpPr>
          <p:cNvPr id="22" name="Text 20"/>
          <p:cNvSpPr/>
          <p:nvPr/>
        </p:nvSpPr>
        <p:spPr>
          <a:xfrm>
            <a:off x="8156448" y="4370832"/>
            <a:ext cx="3172968" cy="731520"/>
          </a:xfrm>
          <a:prstGeom prst="rect">
            <a:avLst/>
          </a:prstGeom>
          <a:noFill/>
          <a:ln/>
        </p:spPr>
        <p:txBody>
          <a:bodyPr wrap="square" lIns="0" tIns="0" rIns="0" bIns="0" rtlCol="0" anchor="ctr"/>
          <a:lstStyle/>
          <a:p>
            <a:pPr indent="0" marL="0">
              <a:lnSpc>
                <a:spcPct val="120000"/>
              </a:lnSpc>
              <a:buNone/>
            </a:pPr>
            <a:r>
              <a:rPr lang="en-US" sz="1000" dirty="0">
                <a:solidFill>
                  <a:srgbClr val="A9BCB2"/>
                </a:solidFill>
                <a:latin typeface="Calibri" pitchFamily="34" charset="0"/>
                <a:ea typeface="Calibri" pitchFamily="34" charset="-122"/>
                <a:cs typeface="Calibri" pitchFamily="34" charset="-120"/>
              </a:rPr>
              <a:t>Content scales from an introductory to an exam-revision level across one app.</a:t>
            </a:r>
            <a:endParaRPr lang="en-US" sz="1000" dirty="0"/>
          </a:p>
        </p:txBody>
      </p:sp>
      <p:sp>
        <p:nvSpPr>
          <p:cNvPr id="23" name="Text 2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27</a:t>
            </a:r>
            <a:endParaRPr lang="en-US" sz="1000" dirty="0"/>
          </a:p>
        </p:txBody>
      </p:sp>
      <p:sp>
        <p:nvSpPr>
          <p:cNvPr id="24" name="Text 22"/>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A14"/>
        </a:solidFill>
      </p:bgPr>
    </p:bg>
    <p:spTree>
      <p:nvGrpSpPr>
        <p:cNvPr id="1" name=""/>
        <p:cNvGrpSpPr/>
        <p:nvPr/>
      </p:nvGrpSpPr>
      <p:grpSpPr>
        <a:xfrm>
          <a:off x="0" y="0"/>
          <a:ext cx="0" cy="0"/>
          <a:chOff x="0" y="0"/>
          <a:chExt cx="0" cy="0"/>
        </a:xfrm>
      </p:grpSpPr>
      <p:sp>
        <p:nvSpPr>
          <p:cNvPr id="2" name="Text 0"/>
          <p:cNvSpPr/>
          <p:nvPr/>
        </p:nvSpPr>
        <p:spPr>
          <a:xfrm>
            <a:off x="548640" y="457200"/>
            <a:ext cx="9144000" cy="365760"/>
          </a:xfrm>
          <a:prstGeom prst="rect">
            <a:avLst/>
          </a:prstGeom>
          <a:noFill/>
          <a:ln/>
        </p:spPr>
        <p:txBody>
          <a:bodyPr wrap="square" rtlCol="0" anchor="ctr"/>
          <a:lstStyle/>
          <a:p>
            <a:pPr indent="0" marL="0">
              <a:buNone/>
            </a:pPr>
            <a:r>
              <a:rPr lang="en-US" sz="1250" b="1" spc="200" kern="0" dirty="0">
                <a:solidFill>
                  <a:srgbClr val="FFB300"/>
                </a:solidFill>
                <a:latin typeface="Calibri" pitchFamily="34" charset="0"/>
                <a:ea typeface="Calibri" pitchFamily="34" charset="-122"/>
                <a:cs typeface="Calibri" pitchFamily="34" charset="-120"/>
              </a:rPr>
              <a:t>GETTING STARTED</a:t>
            </a:r>
            <a:endParaRPr lang="en-US" sz="1250" dirty="0"/>
          </a:p>
        </p:txBody>
      </p:sp>
      <p:sp>
        <p:nvSpPr>
          <p:cNvPr id="3" name="Text 1"/>
          <p:cNvSpPr/>
          <p:nvPr/>
        </p:nvSpPr>
        <p:spPr>
          <a:xfrm>
            <a:off x="548640" y="777240"/>
            <a:ext cx="10058400" cy="822960"/>
          </a:xfrm>
          <a:prstGeom prst="rect">
            <a:avLst/>
          </a:prstGeom>
          <a:noFill/>
          <a:ln/>
        </p:spPr>
        <p:txBody>
          <a:bodyPr wrap="square" rtlCol="0" anchor="ctr"/>
          <a:lstStyle/>
          <a:p>
            <a:pPr indent="0" marL="0">
              <a:lnSpc>
                <a:spcPct val="110000"/>
              </a:lnSpc>
              <a:buNone/>
            </a:pPr>
            <a:r>
              <a:rPr lang="en-US" sz="2500" b="1" dirty="0">
                <a:solidFill>
                  <a:srgbClr val="F7FAF9"/>
                </a:solidFill>
                <a:latin typeface="Calibri" pitchFamily="34" charset="0"/>
                <a:ea typeface="Calibri" pitchFamily="34" charset="-122"/>
                <a:cs typeface="Calibri" pitchFamily="34" charset="-120"/>
              </a:rPr>
              <a:t>Install it once, use it anywhere — no internet needed</a:t>
            </a:r>
            <a:endParaRPr lang="en-US" sz="2500" dirty="0"/>
          </a:p>
        </p:txBody>
      </p:sp>
      <p:sp>
        <p:nvSpPr>
          <p:cNvPr id="4" name="Shape 2"/>
          <p:cNvSpPr/>
          <p:nvPr/>
        </p:nvSpPr>
        <p:spPr>
          <a:xfrm>
            <a:off x="548640" y="1920240"/>
            <a:ext cx="2651760" cy="2377440"/>
          </a:xfrm>
          <a:prstGeom prst="roundRect">
            <a:avLst>
              <a:gd name="adj" fmla="val 3846"/>
            </a:avLst>
          </a:prstGeom>
          <a:solidFill>
            <a:srgbClr val="17281F"/>
          </a:solidFill>
          <a:ln w="12700">
            <a:solidFill>
              <a:srgbClr val="2C4436"/>
            </a:solidFill>
            <a:prstDash val="solid"/>
          </a:ln>
        </p:spPr>
      </p:sp>
      <p:sp>
        <p:nvSpPr>
          <p:cNvPr id="5" name="Shape 3"/>
          <p:cNvSpPr/>
          <p:nvPr/>
        </p:nvSpPr>
        <p:spPr>
          <a:xfrm>
            <a:off x="1618488" y="2176272"/>
            <a:ext cx="512064" cy="512064"/>
          </a:xfrm>
          <a:prstGeom prst="ellipse">
            <a:avLst/>
          </a:prstGeom>
          <a:solidFill>
            <a:srgbClr val="1B3A2B"/>
          </a:solidFill>
          <a:ln w="19050">
            <a:solidFill>
              <a:srgbClr val="43A047"/>
            </a:solidFill>
            <a:prstDash val="solid"/>
          </a:ln>
        </p:spPr>
      </p:sp>
      <p:sp>
        <p:nvSpPr>
          <p:cNvPr id="6" name="Text 4"/>
          <p:cNvSpPr/>
          <p:nvPr/>
        </p:nvSpPr>
        <p:spPr>
          <a:xfrm>
            <a:off x="1618488" y="2176272"/>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31520" y="2880360"/>
            <a:ext cx="2286000" cy="548640"/>
          </a:xfrm>
          <a:prstGeom prst="rect">
            <a:avLst/>
          </a:prstGeom>
          <a:noFill/>
          <a:ln/>
        </p:spPr>
        <p:txBody>
          <a:bodyPr wrap="square" lIns="0" tIns="0" rIns="0" bIns="0" rtlCol="0" anchor="ctr"/>
          <a:lstStyle/>
          <a:p>
            <a:pPr algn="ctr" indent="0" marL="0">
              <a:lnSpc>
                <a:spcPct val="110000"/>
              </a:lnSpc>
              <a:buNone/>
            </a:pPr>
            <a:r>
              <a:rPr lang="en-US" sz="1250" b="1" dirty="0">
                <a:solidFill>
                  <a:srgbClr val="F7FAF9"/>
                </a:solidFill>
                <a:latin typeface="Calibri" pitchFamily="34" charset="0"/>
                <a:ea typeface="Calibri" pitchFamily="34" charset="-122"/>
                <a:cs typeface="Calibri" pitchFamily="34" charset="-120"/>
              </a:rPr>
              <a:t>Open the app</a:t>
            </a:r>
            <a:endParaRPr lang="en-US" sz="1250" dirty="0"/>
          </a:p>
        </p:txBody>
      </p:sp>
      <p:sp>
        <p:nvSpPr>
          <p:cNvPr id="8" name="Text 6"/>
          <p:cNvSpPr/>
          <p:nvPr/>
        </p:nvSpPr>
        <p:spPr>
          <a:xfrm>
            <a:off x="731520" y="3401568"/>
            <a:ext cx="2286000" cy="822960"/>
          </a:xfrm>
          <a:prstGeom prst="rect">
            <a:avLst/>
          </a:prstGeom>
          <a:noFill/>
          <a:ln/>
        </p:spPr>
        <p:txBody>
          <a:bodyPr wrap="square" lIns="0" tIns="0" rIns="0" bIns="0" rtlCol="0" anchor="ctr"/>
          <a:lstStyle/>
          <a:p>
            <a:pPr algn="ctr" indent="0" marL="0">
              <a:lnSpc>
                <a:spcPct val="122000"/>
              </a:lnSpc>
              <a:buNone/>
            </a:pPr>
            <a:r>
              <a:rPr lang="en-US" sz="1000" dirty="0">
                <a:solidFill>
                  <a:srgbClr val="A9BCB2"/>
                </a:solidFill>
                <a:latin typeface="Calibri" pitchFamily="34" charset="0"/>
                <a:ea typeface="Calibri" pitchFamily="34" charset="-122"/>
                <a:cs typeface="Calibri" pitchFamily="34" charset="-120"/>
              </a:rPr>
              <a:t>Launch index.html in any modern browser, or open the installed shortcut.</a:t>
            </a:r>
            <a:endParaRPr lang="en-US" sz="1000" dirty="0"/>
          </a:p>
        </p:txBody>
      </p:sp>
      <p:sp>
        <p:nvSpPr>
          <p:cNvPr id="9" name="Shape 7"/>
          <p:cNvSpPr/>
          <p:nvPr/>
        </p:nvSpPr>
        <p:spPr>
          <a:xfrm>
            <a:off x="3429000" y="1920240"/>
            <a:ext cx="2651760" cy="2377440"/>
          </a:xfrm>
          <a:prstGeom prst="roundRect">
            <a:avLst>
              <a:gd name="adj" fmla="val 3846"/>
            </a:avLst>
          </a:prstGeom>
          <a:solidFill>
            <a:srgbClr val="17281F"/>
          </a:solidFill>
          <a:ln w="12700">
            <a:solidFill>
              <a:srgbClr val="2C4436"/>
            </a:solidFill>
            <a:prstDash val="solid"/>
          </a:ln>
        </p:spPr>
      </p:sp>
      <p:sp>
        <p:nvSpPr>
          <p:cNvPr id="10" name="Shape 8"/>
          <p:cNvSpPr/>
          <p:nvPr/>
        </p:nvSpPr>
        <p:spPr>
          <a:xfrm>
            <a:off x="4498848" y="2176272"/>
            <a:ext cx="512064" cy="512064"/>
          </a:xfrm>
          <a:prstGeom prst="ellipse">
            <a:avLst/>
          </a:prstGeom>
          <a:solidFill>
            <a:srgbClr val="1B3A2B"/>
          </a:solidFill>
          <a:ln w="19050">
            <a:solidFill>
              <a:srgbClr val="43A047"/>
            </a:solidFill>
            <a:prstDash val="solid"/>
          </a:ln>
        </p:spPr>
      </p:sp>
      <p:sp>
        <p:nvSpPr>
          <p:cNvPr id="11" name="Text 9"/>
          <p:cNvSpPr/>
          <p:nvPr/>
        </p:nvSpPr>
        <p:spPr>
          <a:xfrm>
            <a:off x="4498848" y="2176272"/>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3611880" y="2880360"/>
            <a:ext cx="2286000" cy="548640"/>
          </a:xfrm>
          <a:prstGeom prst="rect">
            <a:avLst/>
          </a:prstGeom>
          <a:noFill/>
          <a:ln/>
        </p:spPr>
        <p:txBody>
          <a:bodyPr wrap="square" lIns="0" tIns="0" rIns="0" bIns="0" rtlCol="0" anchor="ctr"/>
          <a:lstStyle/>
          <a:p>
            <a:pPr algn="ctr" indent="0" marL="0">
              <a:lnSpc>
                <a:spcPct val="110000"/>
              </a:lnSpc>
              <a:buNone/>
            </a:pPr>
            <a:r>
              <a:rPr lang="en-US" sz="1250" b="1" dirty="0">
                <a:solidFill>
                  <a:srgbClr val="F7FAF9"/>
                </a:solidFill>
                <a:latin typeface="Calibri" pitchFamily="34" charset="0"/>
                <a:ea typeface="Calibri" pitchFamily="34" charset="-122"/>
                <a:cs typeface="Calibri" pitchFamily="34" charset="-120"/>
              </a:rPr>
              <a:t>Look for “Install App”</a:t>
            </a:r>
            <a:endParaRPr lang="en-US" sz="1250" dirty="0"/>
          </a:p>
        </p:txBody>
      </p:sp>
      <p:sp>
        <p:nvSpPr>
          <p:cNvPr id="13" name="Text 11"/>
          <p:cNvSpPr/>
          <p:nvPr/>
        </p:nvSpPr>
        <p:spPr>
          <a:xfrm>
            <a:off x="3611880" y="3401568"/>
            <a:ext cx="2286000" cy="822960"/>
          </a:xfrm>
          <a:prstGeom prst="rect">
            <a:avLst/>
          </a:prstGeom>
          <a:noFill/>
          <a:ln/>
        </p:spPr>
        <p:txBody>
          <a:bodyPr wrap="square" lIns="0" tIns="0" rIns="0" bIns="0" rtlCol="0" anchor="ctr"/>
          <a:lstStyle/>
          <a:p>
            <a:pPr algn="ctr" indent="0" marL="0">
              <a:lnSpc>
                <a:spcPct val="122000"/>
              </a:lnSpc>
              <a:buNone/>
            </a:pPr>
            <a:r>
              <a:rPr lang="en-US" sz="1000" dirty="0">
                <a:solidFill>
                  <a:srgbClr val="A9BCB2"/>
                </a:solidFill>
                <a:latin typeface="Calibri" pitchFamily="34" charset="0"/>
                <a:ea typeface="Calibri" pitchFamily="34" charset="-122"/>
                <a:cs typeface="Calibri" pitchFamily="34" charset="-120"/>
              </a:rPr>
              <a:t>In Settings, or via the browser’s own install/add-to-home-screen prompt.</a:t>
            </a:r>
            <a:endParaRPr lang="en-US" sz="1000" dirty="0"/>
          </a:p>
        </p:txBody>
      </p:sp>
      <p:sp>
        <p:nvSpPr>
          <p:cNvPr id="14" name="Shape 12"/>
          <p:cNvSpPr/>
          <p:nvPr/>
        </p:nvSpPr>
        <p:spPr>
          <a:xfrm>
            <a:off x="6309360" y="1920240"/>
            <a:ext cx="2651760" cy="2377440"/>
          </a:xfrm>
          <a:prstGeom prst="roundRect">
            <a:avLst>
              <a:gd name="adj" fmla="val 3846"/>
            </a:avLst>
          </a:prstGeom>
          <a:solidFill>
            <a:srgbClr val="17281F"/>
          </a:solidFill>
          <a:ln w="12700">
            <a:solidFill>
              <a:srgbClr val="2C4436"/>
            </a:solidFill>
            <a:prstDash val="solid"/>
          </a:ln>
        </p:spPr>
      </p:sp>
      <p:sp>
        <p:nvSpPr>
          <p:cNvPr id="15" name="Shape 13"/>
          <p:cNvSpPr/>
          <p:nvPr/>
        </p:nvSpPr>
        <p:spPr>
          <a:xfrm>
            <a:off x="7379208" y="2176272"/>
            <a:ext cx="512064" cy="512064"/>
          </a:xfrm>
          <a:prstGeom prst="ellipse">
            <a:avLst/>
          </a:prstGeom>
          <a:solidFill>
            <a:srgbClr val="1B3A2B"/>
          </a:solidFill>
          <a:ln w="19050">
            <a:solidFill>
              <a:srgbClr val="43A047"/>
            </a:solidFill>
            <a:prstDash val="solid"/>
          </a:ln>
        </p:spPr>
      </p:sp>
      <p:sp>
        <p:nvSpPr>
          <p:cNvPr id="16" name="Text 14"/>
          <p:cNvSpPr/>
          <p:nvPr/>
        </p:nvSpPr>
        <p:spPr>
          <a:xfrm>
            <a:off x="7379208" y="2176272"/>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6492240" y="2880360"/>
            <a:ext cx="2286000" cy="548640"/>
          </a:xfrm>
          <a:prstGeom prst="rect">
            <a:avLst/>
          </a:prstGeom>
          <a:noFill/>
          <a:ln/>
        </p:spPr>
        <p:txBody>
          <a:bodyPr wrap="square" lIns="0" tIns="0" rIns="0" bIns="0" rtlCol="0" anchor="ctr"/>
          <a:lstStyle/>
          <a:p>
            <a:pPr algn="ctr" indent="0" marL="0">
              <a:lnSpc>
                <a:spcPct val="110000"/>
              </a:lnSpc>
              <a:buNone/>
            </a:pPr>
            <a:r>
              <a:rPr lang="en-US" sz="1250" b="1" dirty="0">
                <a:solidFill>
                  <a:srgbClr val="F7FAF9"/>
                </a:solidFill>
                <a:latin typeface="Calibri" pitchFamily="34" charset="0"/>
                <a:ea typeface="Calibri" pitchFamily="34" charset="-122"/>
                <a:cs typeface="Calibri" pitchFamily="34" charset="-120"/>
              </a:rPr>
              <a:t>Add to home screen</a:t>
            </a:r>
            <a:endParaRPr lang="en-US" sz="1250" dirty="0"/>
          </a:p>
        </p:txBody>
      </p:sp>
      <p:sp>
        <p:nvSpPr>
          <p:cNvPr id="18" name="Text 16"/>
          <p:cNvSpPr/>
          <p:nvPr/>
        </p:nvSpPr>
        <p:spPr>
          <a:xfrm>
            <a:off x="6492240" y="3401568"/>
            <a:ext cx="2286000" cy="822960"/>
          </a:xfrm>
          <a:prstGeom prst="rect">
            <a:avLst/>
          </a:prstGeom>
          <a:noFill/>
          <a:ln/>
        </p:spPr>
        <p:txBody>
          <a:bodyPr wrap="square" lIns="0" tIns="0" rIns="0" bIns="0" rtlCol="0" anchor="ctr"/>
          <a:lstStyle/>
          <a:p>
            <a:pPr algn="ctr" indent="0" marL="0">
              <a:lnSpc>
                <a:spcPct val="122000"/>
              </a:lnSpc>
              <a:buNone/>
            </a:pPr>
            <a:r>
              <a:rPr lang="en-US" sz="1000" dirty="0">
                <a:solidFill>
                  <a:srgbClr val="A9BCB2"/>
                </a:solidFill>
                <a:latin typeface="Calibri" pitchFamily="34" charset="0"/>
                <a:ea typeface="Calibri" pitchFamily="34" charset="-122"/>
                <a:cs typeface="Calibri" pitchFamily="34" charset="-120"/>
              </a:rPr>
              <a:t>One tap creates a real app icon — no browser address bar, no app store.</a:t>
            </a:r>
            <a:endParaRPr lang="en-US" sz="1000" dirty="0"/>
          </a:p>
        </p:txBody>
      </p:sp>
      <p:sp>
        <p:nvSpPr>
          <p:cNvPr id="19" name="Shape 17"/>
          <p:cNvSpPr/>
          <p:nvPr/>
        </p:nvSpPr>
        <p:spPr>
          <a:xfrm>
            <a:off x="9189720" y="1920240"/>
            <a:ext cx="2651760" cy="2377440"/>
          </a:xfrm>
          <a:prstGeom prst="roundRect">
            <a:avLst>
              <a:gd name="adj" fmla="val 3846"/>
            </a:avLst>
          </a:prstGeom>
          <a:solidFill>
            <a:srgbClr val="17281F"/>
          </a:solidFill>
          <a:ln w="12700">
            <a:solidFill>
              <a:srgbClr val="2C4436"/>
            </a:solidFill>
            <a:prstDash val="solid"/>
          </a:ln>
        </p:spPr>
      </p:sp>
      <p:sp>
        <p:nvSpPr>
          <p:cNvPr id="20" name="Shape 18"/>
          <p:cNvSpPr/>
          <p:nvPr/>
        </p:nvSpPr>
        <p:spPr>
          <a:xfrm>
            <a:off x="10259568" y="2176272"/>
            <a:ext cx="512064" cy="512064"/>
          </a:xfrm>
          <a:prstGeom prst="ellipse">
            <a:avLst/>
          </a:prstGeom>
          <a:solidFill>
            <a:srgbClr val="1B3A2B"/>
          </a:solidFill>
          <a:ln w="19050">
            <a:solidFill>
              <a:srgbClr val="43A047"/>
            </a:solidFill>
            <a:prstDash val="solid"/>
          </a:ln>
        </p:spPr>
      </p:sp>
      <p:sp>
        <p:nvSpPr>
          <p:cNvPr id="21" name="Text 19"/>
          <p:cNvSpPr/>
          <p:nvPr/>
        </p:nvSpPr>
        <p:spPr>
          <a:xfrm>
            <a:off x="10259568" y="2176272"/>
            <a:ext cx="512064" cy="512064"/>
          </a:xfrm>
          <a:prstGeom prst="rect">
            <a:avLst/>
          </a:prstGeom>
          <a:noFill/>
          <a:ln/>
        </p:spPr>
        <p:txBody>
          <a:bodyPr wrap="square" lIns="0" tIns="0" rIns="0" bIns="0" rtlCol="0" anchor="ctr"/>
          <a:lstStyle/>
          <a:p>
            <a:pPr algn="ctr" indent="0" marL="0">
              <a:buNone/>
            </a:pPr>
            <a:r>
              <a:rPr lang="en-US" sz="1600" b="1" dirty="0">
                <a:solidFill>
                  <a:srgbClr val="FFB300"/>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9372600" y="2880360"/>
            <a:ext cx="2286000" cy="548640"/>
          </a:xfrm>
          <a:prstGeom prst="rect">
            <a:avLst/>
          </a:prstGeom>
          <a:noFill/>
          <a:ln/>
        </p:spPr>
        <p:txBody>
          <a:bodyPr wrap="square" lIns="0" tIns="0" rIns="0" bIns="0" rtlCol="0" anchor="ctr"/>
          <a:lstStyle/>
          <a:p>
            <a:pPr algn="ctr" indent="0" marL="0">
              <a:lnSpc>
                <a:spcPct val="110000"/>
              </a:lnSpc>
              <a:buNone/>
            </a:pPr>
            <a:r>
              <a:rPr lang="en-US" sz="1250" b="1" dirty="0">
                <a:solidFill>
                  <a:srgbClr val="F7FAF9"/>
                </a:solidFill>
                <a:latin typeface="Calibri" pitchFamily="34" charset="0"/>
                <a:ea typeface="Calibri" pitchFamily="34" charset="-122"/>
                <a:cs typeface="Calibri" pitchFamily="34" charset="-120"/>
              </a:rPr>
              <a:t>Turn off the network</a:t>
            </a:r>
            <a:endParaRPr lang="en-US" sz="1250" dirty="0"/>
          </a:p>
        </p:txBody>
      </p:sp>
      <p:sp>
        <p:nvSpPr>
          <p:cNvPr id="23" name="Text 21"/>
          <p:cNvSpPr/>
          <p:nvPr/>
        </p:nvSpPr>
        <p:spPr>
          <a:xfrm>
            <a:off x="9372600" y="3401568"/>
            <a:ext cx="2286000" cy="822960"/>
          </a:xfrm>
          <a:prstGeom prst="rect">
            <a:avLst/>
          </a:prstGeom>
          <a:noFill/>
          <a:ln/>
        </p:spPr>
        <p:txBody>
          <a:bodyPr wrap="square" lIns="0" tIns="0" rIns="0" bIns="0" rtlCol="0" anchor="ctr"/>
          <a:lstStyle/>
          <a:p>
            <a:pPr algn="ctr" indent="0" marL="0">
              <a:lnSpc>
                <a:spcPct val="122000"/>
              </a:lnSpc>
              <a:buNone/>
            </a:pPr>
            <a:r>
              <a:rPr lang="en-US" sz="1000" dirty="0">
                <a:solidFill>
                  <a:srgbClr val="A9BCB2"/>
                </a:solidFill>
                <a:latin typeface="Calibri" pitchFamily="34" charset="0"/>
                <a:ea typeface="Calibri" pitchFamily="34" charset="-122"/>
                <a:cs typeface="Calibri" pitchFamily="34" charset="-120"/>
              </a:rPr>
              <a:t>Every simulation, quiz, chart and reference page keeps working offline.</a:t>
            </a:r>
            <a:endParaRPr lang="en-US" sz="1000" dirty="0"/>
          </a:p>
        </p:txBody>
      </p:sp>
      <p:sp>
        <p:nvSpPr>
          <p:cNvPr id="24" name="Shape 22"/>
          <p:cNvSpPr/>
          <p:nvPr/>
        </p:nvSpPr>
        <p:spPr>
          <a:xfrm>
            <a:off x="548640" y="4709160"/>
            <a:ext cx="10881360" cy="1417320"/>
          </a:xfrm>
          <a:prstGeom prst="roundRect">
            <a:avLst>
              <a:gd name="adj" fmla="val 6452"/>
            </a:avLst>
          </a:prstGeom>
          <a:solidFill>
            <a:srgbClr val="1B3A2B"/>
          </a:solidFill>
          <a:ln w="12700">
            <a:solidFill>
              <a:srgbClr val="43A047"/>
            </a:solidFill>
            <a:prstDash val="solid"/>
          </a:ln>
        </p:spPr>
      </p:sp>
      <p:sp>
        <p:nvSpPr>
          <p:cNvPr id="25" name="Text 23"/>
          <p:cNvSpPr/>
          <p:nvPr/>
        </p:nvSpPr>
        <p:spPr>
          <a:xfrm>
            <a:off x="822960" y="4892040"/>
            <a:ext cx="10332720" cy="320040"/>
          </a:xfrm>
          <a:prstGeom prst="rect">
            <a:avLst/>
          </a:prstGeom>
          <a:noFill/>
          <a:ln/>
        </p:spPr>
        <p:txBody>
          <a:bodyPr wrap="square" lIns="0" tIns="0" rIns="0" bIns="0" rtlCol="0" anchor="ctr"/>
          <a:lstStyle/>
          <a:p>
            <a:pPr indent="0" marL="0">
              <a:buNone/>
            </a:pPr>
            <a:r>
              <a:rPr lang="en-US" sz="1300" b="1" dirty="0">
                <a:solidFill>
                  <a:srgbClr val="FFB300"/>
                </a:solidFill>
                <a:latin typeface="Calibri" pitchFamily="34" charset="0"/>
                <a:ea typeface="Calibri" pitchFamily="34" charset="-122"/>
                <a:cs typeface="Calibri" pitchFamily="34" charset="-120"/>
              </a:rPr>
              <a:t>Why this matters for Kashmir’s classrooms</a:t>
            </a:r>
            <a:endParaRPr lang="en-US" sz="1300" dirty="0"/>
          </a:p>
        </p:txBody>
      </p:sp>
      <p:sp>
        <p:nvSpPr>
          <p:cNvPr id="26" name="Text 24"/>
          <p:cNvSpPr/>
          <p:nvPr/>
        </p:nvSpPr>
        <p:spPr>
          <a:xfrm>
            <a:off x="822960" y="5230368"/>
            <a:ext cx="10332720" cy="822960"/>
          </a:xfrm>
          <a:prstGeom prst="rect">
            <a:avLst/>
          </a:prstGeom>
          <a:noFill/>
          <a:ln/>
        </p:spPr>
        <p:txBody>
          <a:bodyPr wrap="square" lIns="0" tIns="0" rIns="0" bIns="0" rtlCol="0" anchor="ctr"/>
          <a:lstStyle/>
          <a:p>
            <a:pPr indent="0" marL="0">
              <a:lnSpc>
                <a:spcPct val="130000"/>
              </a:lnSpc>
              <a:buNone/>
            </a:pPr>
            <a:r>
              <a:rPr lang="en-US" sz="1200" dirty="0">
                <a:solidFill>
                  <a:srgbClr val="DCE7E1"/>
                </a:solidFill>
                <a:latin typeface="Calibri" pitchFamily="34" charset="0"/>
                <a:ea typeface="Calibri" pitchFamily="34" charset="-122"/>
                <a:cs typeface="Calibri" pitchFamily="34" charset="-120"/>
              </a:rPr>
              <a:t>Built with zero backend and zero cloud dependency on purpose — once installed, the entire laboratory keeps working through connectivity gaps, in smart classrooms, and on shared devices with no data cost.</a:t>
            </a:r>
            <a:endParaRPr lang="en-US" sz="1200" dirty="0"/>
          </a:p>
        </p:txBody>
      </p:sp>
      <p:sp>
        <p:nvSpPr>
          <p:cNvPr id="27" name="Text 2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75897F"/>
                </a:solidFill>
                <a:latin typeface="Calibri" pitchFamily="34" charset="0"/>
                <a:ea typeface="Calibri" pitchFamily="34" charset="-122"/>
                <a:cs typeface="Calibri" pitchFamily="34" charset="-120"/>
              </a:rPr>
              <a:t>28</a:t>
            </a:r>
            <a:endParaRPr lang="en-US" sz="1000" dirty="0"/>
          </a:p>
        </p:txBody>
      </p:sp>
      <p:sp>
        <p:nvSpPr>
          <p:cNvPr id="28" name="Text 26"/>
          <p:cNvSpPr/>
          <p:nvPr/>
        </p:nvSpPr>
        <p:spPr>
          <a:xfrm>
            <a:off x="548640" y="6400800"/>
            <a:ext cx="5486400" cy="274320"/>
          </a:xfrm>
          <a:prstGeom prst="rect">
            <a:avLst/>
          </a:prstGeom>
          <a:noFill/>
          <a:ln/>
        </p:spPr>
        <p:txBody>
          <a:bodyPr wrap="square" rtlCol="0" anchor="ctr"/>
          <a:lstStyle/>
          <a:p>
            <a:pPr indent="0" marL="0">
              <a:buNone/>
            </a:pPr>
            <a:r>
              <a:rPr lang="en-US" sz="850" spc="100" kern="0" dirty="0">
                <a:solidFill>
                  <a:srgbClr val="75897F"/>
                </a:solidFill>
                <a:latin typeface="Calibri" pitchFamily="34" charset="0"/>
                <a:ea typeface="Calibri" pitchFamily="34" charset="-122"/>
                <a:cs typeface="Calibri" pitchFamily="34" charset="-120"/>
              </a:rPr>
              <a:t>VIRTUAL EARTH SCIENCE LABORATORY</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286000"/>
            <a:ext cx="8229600" cy="1005840"/>
          </a:xfrm>
          <a:prstGeom prst="rect">
            <a:avLst/>
          </a:prstGeom>
          <a:noFill/>
          <a:ln/>
        </p:spPr>
        <p:txBody>
          <a:bodyPr wrap="square" rtlCol="0" anchor="ctr"/>
          <a:lstStyle/>
          <a:p>
            <a:pPr indent="0" marL="0">
              <a:buNone/>
            </a:pPr>
            <a:r>
              <a:rPr lang="en-US" sz="4600" b="1" dirty="0">
                <a:solidFill>
                  <a:srgbClr val="F7FAF9"/>
                </a:solidFill>
                <a:latin typeface="Calibri" pitchFamily="34" charset="0"/>
                <a:ea typeface="Calibri" pitchFamily="34" charset="-122"/>
                <a:cs typeface="Calibri" pitchFamily="34" charset="-120"/>
              </a:rPr>
              <a:t>Thank You</a:t>
            </a:r>
            <a:endParaRPr lang="en-US" sz="4600" dirty="0"/>
          </a:p>
        </p:txBody>
      </p:sp>
      <p:sp>
        <p:nvSpPr>
          <p:cNvPr id="3" name="Text 1"/>
          <p:cNvSpPr/>
          <p:nvPr/>
        </p:nvSpPr>
        <p:spPr>
          <a:xfrm>
            <a:off x="658368" y="3337560"/>
            <a:ext cx="7772400" cy="731520"/>
          </a:xfrm>
          <a:prstGeom prst="rect">
            <a:avLst/>
          </a:prstGeom>
          <a:noFill/>
          <a:ln/>
        </p:spPr>
        <p:txBody>
          <a:bodyPr wrap="square" rtlCol="0" anchor="ctr"/>
          <a:lstStyle/>
          <a:p>
            <a:pPr indent="0" marL="0">
              <a:lnSpc>
                <a:spcPct val="130000"/>
              </a:lnSpc>
              <a:buNone/>
            </a:pPr>
            <a:r>
              <a:rPr lang="en-US" sz="1500" dirty="0">
                <a:solidFill>
                  <a:srgbClr val="A9BCB2"/>
                </a:solidFill>
                <a:latin typeface="Calibri" pitchFamily="34" charset="0"/>
                <a:ea typeface="Calibri" pitchFamily="34" charset="-122"/>
                <a:cs typeface="Calibri" pitchFamily="34" charset="-120"/>
              </a:rPr>
              <a:t>Explore Earth’s dynamic systems — rocks, soil, hazards and 4.6 billion years of history — one variable at a time.</a:t>
            </a:r>
            <a:endParaRPr lang="en-US" sz="1500" dirty="0"/>
          </a:p>
        </p:txBody>
      </p:sp>
      <p:sp>
        <p:nvSpPr>
          <p:cNvPr id="4" name="Shape 2"/>
          <p:cNvSpPr/>
          <p:nvPr/>
        </p:nvSpPr>
        <p:spPr>
          <a:xfrm>
            <a:off x="640080" y="4343400"/>
            <a:ext cx="6035040" cy="1005840"/>
          </a:xfrm>
          <a:prstGeom prst="roundRect">
            <a:avLst>
              <a:gd name="adj" fmla="val 9091"/>
            </a:avLst>
          </a:prstGeom>
          <a:solidFill>
            <a:srgbClr val="17281F"/>
          </a:solidFill>
          <a:ln w="12700">
            <a:solidFill>
              <a:srgbClr val="2C4436"/>
            </a:solidFill>
            <a:prstDash val="solid"/>
          </a:ln>
          <a:effectLst>
            <a:outerShdw sx="100000" sy="100000" kx="0" ky="0" algn="bl" rotWithShape="0" blurRad="177800" dist="63500" dir="5400000">
              <a:srgbClr val="000000">
                <a:alpha val="45000"/>
              </a:srgbClr>
            </a:outerShdw>
          </a:effectLst>
        </p:spPr>
      </p:sp>
      <p:pic>
        <p:nvPicPr>
          <p:cNvPr id="5" name="Image 0" descr="/home/claude/earth-lab/images/developer.jpg">    </p:cNvPr>
          <p:cNvPicPr>
            <a:picLocks noChangeAspect="1"/>
          </p:cNvPicPr>
          <p:nvPr/>
        </p:nvPicPr>
        <p:blipFill>
          <a:blip r:embed="rId2"/>
          <a:stretch>
            <a:fillRect/>
          </a:stretch>
        </p:blipFill>
        <p:spPr>
          <a:xfrm>
            <a:off x="841248" y="4526280"/>
            <a:ext cx="640080" cy="640080"/>
          </a:xfrm>
          <a:prstGeom prst="ellipse">
            <a:avLst/>
          </a:prstGeom>
        </p:spPr>
      </p:pic>
      <p:sp>
        <p:nvSpPr>
          <p:cNvPr id="6" name="Text 3"/>
          <p:cNvSpPr/>
          <p:nvPr/>
        </p:nvSpPr>
        <p:spPr>
          <a:xfrm>
            <a:off x="1664208" y="4498848"/>
            <a:ext cx="4846320" cy="685800"/>
          </a:xfrm>
          <a:prstGeom prst="rect">
            <a:avLst/>
          </a:prstGeom>
          <a:noFill/>
          <a:ln/>
        </p:spPr>
        <p:txBody>
          <a:bodyPr wrap="square" lIns="0" tIns="0" rIns="0" bIns="0" rtlCol="0" anchor="ctr"/>
          <a:lstStyle/>
          <a:p>
            <a:pPr indent="0" marL="0">
              <a:lnSpc>
                <a:spcPct val="120000"/>
              </a:lnSpc>
              <a:buNone/>
            </a:pPr>
            <a:r>
              <a:rPr lang="en-US" sz="1400" b="1" dirty="0">
                <a:solidFill>
                  <a:srgbClr val="F7FAF9"/>
                </a:solidFill>
                <a:latin typeface="Calibri" pitchFamily="34" charset="0"/>
                <a:ea typeface="Calibri" pitchFamily="34" charset="-122"/>
                <a:cs typeface="Calibri" pitchFamily="34" charset="-120"/>
              </a:rPr>
              <a:t>Virtual Earth Science Laboratory
</a:t>
            </a:r>
            <a:pPr indent="0" marL="0">
              <a:lnSpc>
                <a:spcPct val="120000"/>
              </a:lnSpc>
              <a:buNone/>
            </a:pPr>
            <a:r>
              <a:rPr lang="en-US" sz="1050" dirty="0">
                <a:solidFill>
                  <a:srgbClr val="A9BCB2"/>
                </a:solidFill>
                <a:latin typeface="Calibri" pitchFamily="34" charset="0"/>
                <a:ea typeface="Calibri" pitchFamily="34" charset="-122"/>
                <a:cs typeface="Calibri" pitchFamily="34" charset="-120"/>
              </a:rPr>
              <a:t>Created by Dr. Mateen Yousuf, Teacher, School Education Department, Kashmir</a:t>
            </a:r>
            <a:endParaRPr lang="en-US" sz="1400" dirty="0"/>
          </a:p>
        </p:txBody>
      </p:sp>
      <p:sp>
        <p:nvSpPr>
          <p:cNvPr id="7" name="Text 4"/>
          <p:cNvSpPr/>
          <p:nvPr/>
        </p:nvSpPr>
        <p:spPr>
          <a:xfrm>
            <a:off x="658368" y="5623560"/>
            <a:ext cx="7315200" cy="365760"/>
          </a:xfrm>
          <a:prstGeom prst="rect">
            <a:avLst/>
          </a:prstGeom>
          <a:noFill/>
          <a:ln/>
        </p:spPr>
        <p:txBody>
          <a:bodyPr wrap="square" rtlCol="0" anchor="ctr"/>
          <a:lstStyle/>
          <a:p>
            <a:pPr indent="0" marL="0">
              <a:buNone/>
            </a:pPr>
            <a:r>
              <a:rPr lang="en-US" sz="1150" b="1" spc="100" kern="0" dirty="0">
                <a:solidFill>
                  <a:srgbClr val="FFB300"/>
                </a:solidFill>
                <a:latin typeface="Calibri" pitchFamily="34" charset="0"/>
                <a:ea typeface="Calibri" pitchFamily="34" charset="-122"/>
                <a:cs typeface="Calibri" pitchFamily="34" charset="-120"/>
              </a:rPr>
              <a:t>100% Offline  ·  10 Simulations  ·  Classes VI–XII  ·  NEP 2020 Ready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School Education Department, Kashmir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Earth Science Laboratory</dc:title>
  <dc:subject>PptxGenJS Presentation</dc:subject>
  <dc:creator>Dr. Mateen Yousuf</dc:creator>
  <cp:lastModifiedBy>Dr. Mateen Yousuf</cp:lastModifiedBy>
  <cp:revision>1</cp:revision>
  <dcterms:created xsi:type="dcterms:W3CDTF">2026-08-08T01:43:48Z</dcterms:created>
  <dcterms:modified xsi:type="dcterms:W3CDTF">2026-08-08T01:43:48Z</dcterms:modified>
</cp:coreProperties>
</file>