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image" Target="../media/image-7-8.jpg"/><Relationship Id="rId9" Type="http://schemas.openxmlformats.org/officeDocument/2006/relationships/image" Target="../media/image-7-9.jpg"/><Relationship Id="rId10" Type="http://schemas.openxmlformats.org/officeDocument/2006/relationships/image" Target="../media/image-7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206240"/>
            <a:ext cx="3840480" cy="3840480"/>
          </a:xfrm>
          <a:prstGeom prst="ellipse">
            <a:avLst/>
          </a:prstGeom>
          <a:solidFill>
            <a:srgbClr val="0F5F4A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108960" cy="3108960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77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OFFLINE PROGRESSIVE WEB 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Biology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Life Through Interactive Virtual Simulations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6035040" cy="1051560"/>
          </a:xfrm>
          <a:prstGeom prst="roundRect">
            <a:avLst>
              <a:gd name="adj" fmla="val 8696"/>
            </a:avLst>
          </a:prstGeom>
          <a:solidFill>
            <a:srgbClr val="112943"/>
          </a:solidFill>
          <a:ln w="12700">
            <a:solidFill>
              <a:srgbClr val="2C4A6B"/>
            </a:solidFill>
            <a:prstDash val="solid"/>
          </a:ln>
        </p:spPr>
      </p:sp>
      <p:pic>
        <p:nvPicPr>
          <p:cNvPr id="9" name="Image 0" descr="/home/claude/deck_build/img/developer_squa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16552"/>
            <a:ext cx="731520" cy="731520"/>
          </a:xfrm>
          <a:prstGeom prst="ellipse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43708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BY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73736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Mateen Yousuf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73736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· School Education Department, Kashmir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VI–XII  ·  Teachers  ·  DIET Faculty  ·  Science Clubs  ·  100% Offline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55280" y="1051560"/>
            <a:ext cx="3703320" cy="4892040"/>
          </a:xfrm>
          <a:prstGeom prst="roundRect">
            <a:avLst>
              <a:gd name="adj" fmla="val 2963"/>
            </a:avLst>
          </a:prstGeom>
          <a:solidFill>
            <a:srgbClr val="0A1420"/>
          </a:solidFill>
          <a:ln w="19050">
            <a:solidFill>
              <a:srgbClr val="2C4A6B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5" name="Image 1" descr="/home/claude/deck_build/img/00_splas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4152" y="1170432"/>
            <a:ext cx="3465576" cy="2167128"/>
          </a:xfrm>
          <a:prstGeom prst="rect">
            <a:avLst/>
          </a:prstGeom>
        </p:spPr>
      </p:pic>
      <p:pic>
        <p:nvPicPr>
          <p:cNvPr id="16" name="Image 2" descr="/home/claude/deck_build/img/01_hom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74152" y="3429000"/>
            <a:ext cx="3465576" cy="21671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56692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  →  Home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Virtual Biology Laboratory?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offline Progressive Web App (PWA) that turns biology learning from passive memorisation into active, hands-on exploration — a complete virtual laboratory that fits in a browser tab, on any laptop, tablet, or classroom smart board, with zero internet connection required.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17296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A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3995928"/>
            <a:ext cx="1362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Simulations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0280" y="306324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40280" y="317296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📴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40280" y="36118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13432" y="3995928"/>
            <a:ext cx="1362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31920" y="306324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317296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31920" y="36118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 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005072" y="3995928"/>
            <a:ext cx="1362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Learning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23560" y="306324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23560" y="317296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23560" y="36118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96712" y="3995928"/>
            <a:ext cx="1362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Anywhere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89204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Classes VI–XII, teachers, DIET faculty, B.Ed. colleges &amp; science clubs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Recreates biological structures &amp; processes with high scientific accuracy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manipulate variables, run experiments, and predict outcomes safely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developed by Dr. Mateen Yousuf, School Education Dept., Kashmir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63256" y="1453896"/>
            <a:ext cx="3950208" cy="518464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24" name="Image 0" descr="/home/claude/deck_build/img/01_ho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508760"/>
            <a:ext cx="3840480" cy="50749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a 'Premium' Virtual Lab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10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186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Interactivity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8620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is a real experiment — not a video or animation viewer.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828800"/>
            <a:ext cx="566928" cy="566928"/>
          </a:xfrm>
          <a:prstGeom prst="ellipse">
            <a:avLst/>
          </a:prstGeom>
          <a:solidFill>
            <a:srgbClr val="43A047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810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🎚️</a:t>
            </a:r>
            <a:endParaRPr lang="en-US" sz="186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Adjustable Variables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0" y="28620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&amp; controls for light, temperature, exercise, genotype and more.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38160" y="1600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1828800"/>
            <a:ext cx="566928" cy="566928"/>
          </a:xfrm>
          <a:prstGeom prst="ellipse">
            <a:avLst/>
          </a:prstGeom>
          <a:solidFill>
            <a:srgbClr val="26C6DA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1810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60" dirty="0"/>
          </a:p>
        </p:txBody>
      </p:sp>
      <p:sp>
        <p:nvSpPr>
          <p:cNvPr id="18" name="Text 16"/>
          <p:cNvSpPr/>
          <p:nvPr/>
        </p:nvSpPr>
        <p:spPr>
          <a:xfrm>
            <a:off x="836676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 &amp; Graphs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66760" y="28620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rate curves, population graphs and vitals as you experiment.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977640"/>
            <a:ext cx="566928" cy="566928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959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1860" dirty="0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10-Question Quizzes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77240" y="501091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simulation ends with an adaptive mini quiz and instant feedback.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43400" y="3749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977640"/>
            <a:ext cx="566928" cy="566928"/>
          </a:xfrm>
          <a:prstGeom prst="ellipse">
            <a:avLst/>
          </a:prstGeom>
          <a:solidFill>
            <a:srgbClr val="8E24AA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3959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1860" dirty="0"/>
          </a:p>
        </p:txBody>
      </p:sp>
      <p:sp>
        <p:nvSpPr>
          <p:cNvPr id="28" name="Text 26"/>
          <p:cNvSpPr/>
          <p:nvPr/>
        </p:nvSpPr>
        <p:spPr>
          <a:xfrm>
            <a:off x="4572000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XP, Ranks &amp; Badges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72000" y="501091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XP, build streaks, and unlock achievement badges as you explore.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138160" y="3749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66760" y="3977640"/>
            <a:ext cx="566928" cy="566928"/>
          </a:xfrm>
          <a:prstGeom prst="ellipse">
            <a:avLst/>
          </a:prstGeom>
          <a:solidFill>
            <a:srgbClr val="E53935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66760" y="3959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📴</a:t>
            </a:r>
            <a:endParaRPr lang="en-US" sz="1860" dirty="0"/>
          </a:p>
        </p:txBody>
      </p:sp>
      <p:sp>
        <p:nvSpPr>
          <p:cNvPr id="33" name="Text 31"/>
          <p:cNvSpPr/>
          <p:nvPr/>
        </p:nvSpPr>
        <p:spPr>
          <a:xfrm>
            <a:off x="8366760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Installable &amp; Offline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66760" y="501091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like a native app on Android/desktop; works with zero internet.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6C6DA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&amp; Technology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vanilla HTML5, CSS3 &amp; JavaScript (ES6+) — no frameworks, no backend, no external APIs. Every simulation, quiz and animation runs entirely client-side.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121408" cy="438912"/>
          </a:xfrm>
          <a:prstGeom prst="roundRect">
            <a:avLst>
              <a:gd name="adj" fmla="val 50000"/>
            </a:avLst>
          </a:prstGeom>
          <a:solidFill>
            <a:srgbClr val="132A41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23160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34640" y="2423160"/>
            <a:ext cx="2121408" cy="438912"/>
          </a:xfrm>
          <a:prstGeom prst="roundRect">
            <a:avLst>
              <a:gd name="adj" fmla="val 50000"/>
            </a:avLst>
          </a:prstGeom>
          <a:solidFill>
            <a:srgbClr val="132A41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423160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· Glassmorphism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0" y="2423160"/>
            <a:ext cx="2121408" cy="438912"/>
          </a:xfrm>
          <a:prstGeom prst="roundRect">
            <a:avLst>
              <a:gd name="adj" fmla="val 50000"/>
            </a:avLst>
          </a:prstGeom>
          <a:solidFill>
            <a:srgbClr val="132A41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423160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ES6+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2121408" cy="438912"/>
          </a:xfrm>
          <a:prstGeom prst="roundRect">
            <a:avLst>
              <a:gd name="adj" fmla="val 50000"/>
            </a:avLst>
          </a:prstGeom>
          <a:solidFill>
            <a:srgbClr val="132A41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90088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(Offline)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34640" y="2990088"/>
            <a:ext cx="2121408" cy="438912"/>
          </a:xfrm>
          <a:prstGeom prst="roundRect">
            <a:avLst>
              <a:gd name="adj" fmla="val 50000"/>
            </a:avLst>
          </a:prstGeom>
          <a:solidFill>
            <a:srgbClr val="132A41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990088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Manifest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0" y="2990088"/>
            <a:ext cx="2121408" cy="438912"/>
          </a:xfrm>
          <a:prstGeom prst="roundRect">
            <a:avLst>
              <a:gd name="adj" fmla="val 50000"/>
            </a:avLst>
          </a:prstGeom>
          <a:solidFill>
            <a:srgbClr val="132A41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990088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Progress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24528"/>
            <a:ext cx="1133856" cy="1133856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41324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47088" y="4224528"/>
            <a:ext cx="1133856" cy="1133856"/>
          </a:xfrm>
          <a:prstGeom prst="roundRect">
            <a:avLst>
              <a:gd name="adj" fmla="val 12903"/>
            </a:avLst>
          </a:prstGeom>
          <a:solidFill>
            <a:srgbClr val="1976D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47088" y="541324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Blue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45536" y="4224528"/>
            <a:ext cx="1133856" cy="1133856"/>
          </a:xfrm>
          <a:prstGeom prst="roundRect">
            <a:avLst>
              <a:gd name="adj" fmla="val 12903"/>
            </a:avLst>
          </a:prstGeom>
          <a:solidFill>
            <a:srgbClr val="26C6D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45536" y="541324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43984" y="4224528"/>
            <a:ext cx="1133856" cy="1133856"/>
          </a:xfrm>
          <a:prstGeom prst="roundRect">
            <a:avLst>
              <a:gd name="adj" fmla="val 12903"/>
            </a:avLst>
          </a:prstGeom>
          <a:solidFill>
            <a:srgbClr val="43A0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3984" y="541324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Green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42432" y="4224528"/>
            <a:ext cx="1133856" cy="1133856"/>
          </a:xfrm>
          <a:prstGeom prst="roundRect">
            <a:avLst>
              <a:gd name="adj" fmla="val 12903"/>
            </a:avLst>
          </a:prstGeom>
          <a:solidFill>
            <a:srgbClr val="FFB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2432" y="541324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035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OFFLINE-FIRST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login. No ads. No data leaves the device.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63256" y="1362456"/>
            <a:ext cx="3950208" cy="518464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31" name="Image 0" descr="/home/claude/deck_build/img/00_splas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417320"/>
            <a:ext cx="3840480" cy="50749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— Getting Started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2104" y="2203704"/>
            <a:ext cx="0" cy="512064"/>
          </a:xfrm>
          <a:prstGeom prst="line">
            <a:avLst/>
          </a:prstGeom>
          <a:noFill/>
          <a:ln w="25400">
            <a:solidFill>
              <a:srgbClr val="E3E8E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371600" y="15819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App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371600" y="1929384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index.html in any browser, or install it as an app on Android / desktop for a native, offline experience.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566928" cy="566928"/>
          </a:xfrm>
          <a:prstGeom prst="ellipse">
            <a:avLst/>
          </a:prstGeom>
          <a:solidFill>
            <a:srgbClr val="43A047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770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2104" y="3374136"/>
            <a:ext cx="0" cy="512064"/>
          </a:xfrm>
          <a:prstGeom prst="line">
            <a:avLst/>
          </a:prstGeom>
          <a:noFill/>
          <a:ln w="25400">
            <a:solidFill>
              <a:srgbClr val="E3E8E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371600" y="27523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the Laboratory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71600" y="3099816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animated splash screen, tap “Enter Laboratory” to reach your personal Home Dashboard.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41064"/>
            <a:ext cx="566928" cy="566928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9410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2104" y="4544568"/>
            <a:ext cx="0" cy="512064"/>
          </a:xfrm>
          <a:prstGeom prst="line">
            <a:avLst/>
          </a:prstGeom>
          <a:noFill/>
          <a:ln w="25400">
            <a:solidFill>
              <a:srgbClr val="E3E8E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371600" y="39227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Simulation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71600" y="427024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10 simulation cards, use Search, or continue from Bookmarks — each shows your live progress %.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11496"/>
            <a:ext cx="566928" cy="566928"/>
          </a:xfrm>
          <a:prstGeom prst="ellipse">
            <a:avLst/>
          </a:prstGeom>
          <a:solidFill>
            <a:srgbClr val="8E24AA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5111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50932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Explore, Quiz &amp; Earn XP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371600" y="54406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variables, log observations, complete the 10-question quiz, and watch your XP, streak &amp; rank grow.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06056" y="1453896"/>
            <a:ext cx="4407408" cy="2795778"/>
          </a:xfrm>
          <a:prstGeom prst="roundRect">
            <a:avLst>
              <a:gd name="adj" fmla="val 261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25" name="Image 0" descr="/home/claude/deck_build/img/01_ho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1508760"/>
            <a:ext cx="4297680" cy="26860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60920" y="5074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 — search, stats &amp; all 10 simulation cards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— Inside Every Simulation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10 labs shares the same layout, so once you learn one, you know them all.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91109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Visualization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220370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animated SVG stage reacts instantly to your inputs.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384048" cy="38404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75234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30449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Play, Pause, Reset, Step, Randomize — run the experiment your way.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384048" cy="38404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5935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Adjustable Variables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&amp; dropdowns let you change the conditions being tested.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rgbClr val="8E24A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89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4348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Panels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1560" y="47274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background, real-life uses, misconceptions, facts &amp; summary.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330952"/>
            <a:ext cx="384048" cy="38404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330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52760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 Log + Quiz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51560" y="55686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results in a live table, then take the 10-question mini quiz.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1362456"/>
            <a:ext cx="5641848" cy="3567303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27" name="Image 0" descr="/home/claude/deck_build/img/02_photosynthesis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417320"/>
            <a:ext cx="5532120" cy="3457575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831836" y="3007805"/>
            <a:ext cx="329184" cy="329184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831836" y="300780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946697" y="4287107"/>
            <a:ext cx="329184" cy="329184"/>
          </a:xfrm>
          <a:prstGeom prst="ellipse">
            <a:avLst/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946697" y="4287107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763860" y="2212562"/>
            <a:ext cx="329184" cy="329184"/>
          </a:xfrm>
          <a:prstGeom prst="ellipse">
            <a:avLst/>
          </a:prstGeom>
          <a:solidFill>
            <a:srgbClr val="FFB3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10763860" y="221256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0763860" y="3561017"/>
            <a:ext cx="329184" cy="329184"/>
          </a:xfrm>
          <a:prstGeom prst="ellipse">
            <a:avLst/>
          </a:prstGeom>
          <a:solidFill>
            <a:srgbClr val="8E24A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10763860" y="3561017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172200" y="4984623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Photosynthesis Laboratory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6C6DA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LIBRARY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 Premium Biology Simulations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048256" cy="2377440"/>
          </a:xfrm>
          <a:prstGeom prst="roundRect">
            <a:avLst>
              <a:gd name="adj" fmla="val 3571"/>
            </a:avLst>
          </a:prstGeom>
          <a:solidFill>
            <a:srgbClr val="112943"/>
          </a:solidFill>
          <a:ln w="12700">
            <a:solidFill>
              <a:srgbClr val="23415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6" name="Image 0" descr="/home/claude/deck_build/img/01_cell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1673352"/>
            <a:ext cx="1901952" cy="1280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" y="3026664"/>
            <a:ext cx="310896" cy="310896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" y="2999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78408" y="299923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Structure Explorer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2752344" y="1600200"/>
            <a:ext cx="2048256" cy="2377440"/>
          </a:xfrm>
          <a:prstGeom prst="roundRect">
            <a:avLst>
              <a:gd name="adj" fmla="val 3571"/>
            </a:avLst>
          </a:prstGeom>
          <a:solidFill>
            <a:srgbClr val="112943"/>
          </a:solidFill>
          <a:ln w="12700">
            <a:solidFill>
              <a:srgbClr val="23415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1" name="Image 1" descr="/home/claude/deck_build/img/02_photosynthesis_top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25496" y="1673352"/>
            <a:ext cx="1901952" cy="12801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62072" y="3026664"/>
            <a:ext cx="310896" cy="310896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3" name="Text 9"/>
          <p:cNvSpPr/>
          <p:nvPr/>
        </p:nvSpPr>
        <p:spPr>
          <a:xfrm>
            <a:off x="2862072" y="2999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227832" y="299923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 Laboratory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5001768" y="1600200"/>
            <a:ext cx="2048256" cy="2377440"/>
          </a:xfrm>
          <a:prstGeom prst="roundRect">
            <a:avLst>
              <a:gd name="adj" fmla="val 3571"/>
            </a:avLst>
          </a:prstGeom>
          <a:solidFill>
            <a:srgbClr val="112943"/>
          </a:solidFill>
          <a:ln w="12700">
            <a:solidFill>
              <a:srgbClr val="23415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6" name="Image 2" descr="/home/claude/deck_build/img/03_digestive_to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74920" y="1673352"/>
            <a:ext cx="1901952" cy="12801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111496" y="3026664"/>
            <a:ext cx="310896" cy="310896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18" name="Text 13"/>
          <p:cNvSpPr/>
          <p:nvPr/>
        </p:nvSpPr>
        <p:spPr>
          <a:xfrm>
            <a:off x="5111496" y="2999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77256" y="299923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Digestive System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7251192" y="1600200"/>
            <a:ext cx="2048256" cy="2377440"/>
          </a:xfrm>
          <a:prstGeom prst="roundRect">
            <a:avLst>
              <a:gd name="adj" fmla="val 3571"/>
            </a:avLst>
          </a:prstGeom>
          <a:solidFill>
            <a:srgbClr val="112943"/>
          </a:solidFill>
          <a:ln w="12700">
            <a:solidFill>
              <a:srgbClr val="23415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21" name="Image 3" descr="/home/claude/deck_build/img/04_respiratory_top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24344" y="1673352"/>
            <a:ext cx="1901952" cy="128016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360920" y="3026664"/>
            <a:ext cx="310896" cy="310896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23" name="Text 17"/>
          <p:cNvSpPr/>
          <p:nvPr/>
        </p:nvSpPr>
        <p:spPr>
          <a:xfrm>
            <a:off x="7360920" y="2999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726680" y="299923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System Lab</a:t>
            </a:r>
            <a:endParaRPr lang="en-US" sz="930" dirty="0"/>
          </a:p>
        </p:txBody>
      </p:sp>
      <p:sp>
        <p:nvSpPr>
          <p:cNvPr id="25" name="Shape 19"/>
          <p:cNvSpPr/>
          <p:nvPr/>
        </p:nvSpPr>
        <p:spPr>
          <a:xfrm>
            <a:off x="9500616" y="1600200"/>
            <a:ext cx="2048256" cy="2377440"/>
          </a:xfrm>
          <a:prstGeom prst="roundRect">
            <a:avLst>
              <a:gd name="adj" fmla="val 3571"/>
            </a:avLst>
          </a:prstGeom>
          <a:solidFill>
            <a:srgbClr val="112943"/>
          </a:solidFill>
          <a:ln w="12700">
            <a:solidFill>
              <a:srgbClr val="23415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26" name="Image 4" descr="/home/claude/deck_build/img/05_circulatory_top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73768" y="1673352"/>
            <a:ext cx="1901952" cy="12801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610344" y="3026664"/>
            <a:ext cx="310896" cy="310896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8" name="Text 21"/>
          <p:cNvSpPr/>
          <p:nvPr/>
        </p:nvSpPr>
        <p:spPr>
          <a:xfrm>
            <a:off x="9610344" y="2999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9976104" y="299923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Circulatory System</a:t>
            </a:r>
            <a:endParaRPr lang="en-US" sz="930" dirty="0"/>
          </a:p>
        </p:txBody>
      </p:sp>
      <p:sp>
        <p:nvSpPr>
          <p:cNvPr id="30" name="Shape 23"/>
          <p:cNvSpPr/>
          <p:nvPr/>
        </p:nvSpPr>
        <p:spPr>
          <a:xfrm>
            <a:off x="502920" y="4206240"/>
            <a:ext cx="2048256" cy="2377440"/>
          </a:xfrm>
          <a:prstGeom prst="roundRect">
            <a:avLst>
              <a:gd name="adj" fmla="val 3571"/>
            </a:avLst>
          </a:prstGeom>
          <a:solidFill>
            <a:srgbClr val="112943"/>
          </a:solidFill>
          <a:ln w="12700">
            <a:solidFill>
              <a:srgbClr val="23415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31" name="Image 5" descr="/home/claude/deck_build/img/06_nervous_top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76072" y="4279392"/>
            <a:ext cx="1901952" cy="128016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12648" y="5632704"/>
            <a:ext cx="310896" cy="310896"/>
          </a:xfrm>
          <a:prstGeom prst="ellipse">
            <a:avLst/>
          </a:prstGeom>
          <a:solidFill>
            <a:srgbClr val="8E24AA"/>
          </a:solidFill>
          <a:ln/>
        </p:spPr>
      </p:sp>
      <p:sp>
        <p:nvSpPr>
          <p:cNvPr id="33" name="Text 25"/>
          <p:cNvSpPr/>
          <p:nvPr/>
        </p:nvSpPr>
        <p:spPr>
          <a:xfrm>
            <a:off x="612648" y="5605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978408" y="56052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System Explorer</a:t>
            </a:r>
            <a:endParaRPr lang="en-US" sz="930" dirty="0"/>
          </a:p>
        </p:txBody>
      </p:sp>
      <p:sp>
        <p:nvSpPr>
          <p:cNvPr id="35" name="Shape 27"/>
          <p:cNvSpPr/>
          <p:nvPr/>
        </p:nvSpPr>
        <p:spPr>
          <a:xfrm>
            <a:off x="2752344" y="4206240"/>
            <a:ext cx="2048256" cy="2377440"/>
          </a:xfrm>
          <a:prstGeom prst="roundRect">
            <a:avLst>
              <a:gd name="adj" fmla="val 3571"/>
            </a:avLst>
          </a:prstGeom>
          <a:solidFill>
            <a:srgbClr val="112943"/>
          </a:solidFill>
          <a:ln w="12700">
            <a:solidFill>
              <a:srgbClr val="23415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36" name="Image 6" descr="/home/claude/deck_build/img/07_planttransport_top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825496" y="4279392"/>
            <a:ext cx="1901952" cy="128016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862072" y="5632704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29"/>
          <p:cNvSpPr/>
          <p:nvPr/>
        </p:nvSpPr>
        <p:spPr>
          <a:xfrm>
            <a:off x="2862072" y="5605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3227832" y="56052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Transport System</a:t>
            </a:r>
            <a:endParaRPr lang="en-US" sz="930" dirty="0"/>
          </a:p>
        </p:txBody>
      </p:sp>
      <p:sp>
        <p:nvSpPr>
          <p:cNvPr id="40" name="Shape 31"/>
          <p:cNvSpPr/>
          <p:nvPr/>
        </p:nvSpPr>
        <p:spPr>
          <a:xfrm>
            <a:off x="5001768" y="4206240"/>
            <a:ext cx="2048256" cy="2377440"/>
          </a:xfrm>
          <a:prstGeom prst="roundRect">
            <a:avLst>
              <a:gd name="adj" fmla="val 3571"/>
            </a:avLst>
          </a:prstGeom>
          <a:solidFill>
            <a:srgbClr val="112943"/>
          </a:solidFill>
          <a:ln w="12700">
            <a:solidFill>
              <a:srgbClr val="23415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41" name="Image 7" descr="/home/claude/deck_build/img/08_genetics_top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074920" y="4279392"/>
            <a:ext cx="1901952" cy="1280160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5111496" y="5632704"/>
            <a:ext cx="310896" cy="31089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3" name="Text 33"/>
          <p:cNvSpPr/>
          <p:nvPr/>
        </p:nvSpPr>
        <p:spPr>
          <a:xfrm>
            <a:off x="5111496" y="5605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5477256" y="56052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 &amp; Heredity Lab</a:t>
            </a:r>
            <a:endParaRPr lang="en-US" sz="930" dirty="0"/>
          </a:p>
        </p:txBody>
      </p:sp>
      <p:sp>
        <p:nvSpPr>
          <p:cNvPr id="45" name="Shape 35"/>
          <p:cNvSpPr/>
          <p:nvPr/>
        </p:nvSpPr>
        <p:spPr>
          <a:xfrm>
            <a:off x="7251192" y="4206240"/>
            <a:ext cx="2048256" cy="2377440"/>
          </a:xfrm>
          <a:prstGeom prst="roundRect">
            <a:avLst>
              <a:gd name="adj" fmla="val 3571"/>
            </a:avLst>
          </a:prstGeom>
          <a:solidFill>
            <a:srgbClr val="112943"/>
          </a:solidFill>
          <a:ln w="12700">
            <a:solidFill>
              <a:srgbClr val="23415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46" name="Image 8" descr="/home/claude/deck_build/img/09_ecosystem_top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324344" y="4279392"/>
            <a:ext cx="1901952" cy="1280160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7360920" y="5632704"/>
            <a:ext cx="310896" cy="310896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48" name="Text 37"/>
          <p:cNvSpPr/>
          <p:nvPr/>
        </p:nvSpPr>
        <p:spPr>
          <a:xfrm>
            <a:off x="7360920" y="5605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7726680" y="56052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&amp; Food Chain Simulator</a:t>
            </a:r>
            <a:endParaRPr lang="en-US" sz="930" dirty="0"/>
          </a:p>
        </p:txBody>
      </p:sp>
      <p:sp>
        <p:nvSpPr>
          <p:cNvPr id="50" name="Shape 39"/>
          <p:cNvSpPr/>
          <p:nvPr/>
        </p:nvSpPr>
        <p:spPr>
          <a:xfrm>
            <a:off x="9500616" y="4206240"/>
            <a:ext cx="2048256" cy="2377440"/>
          </a:xfrm>
          <a:prstGeom prst="roundRect">
            <a:avLst>
              <a:gd name="adj" fmla="val 3571"/>
            </a:avLst>
          </a:prstGeom>
          <a:solidFill>
            <a:srgbClr val="112943"/>
          </a:solidFill>
          <a:ln w="12700">
            <a:solidFill>
              <a:srgbClr val="23415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51" name="Image 9" descr="/home/claude/deck_build/img/10_reproduction_top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573768" y="4279392"/>
            <a:ext cx="1901952" cy="1280160"/>
          </a:xfrm>
          <a:prstGeom prst="rect">
            <a:avLst/>
          </a:prstGeom>
        </p:spPr>
      </p:pic>
      <p:sp>
        <p:nvSpPr>
          <p:cNvPr id="52" name="Shape 40"/>
          <p:cNvSpPr/>
          <p:nvPr/>
        </p:nvSpPr>
        <p:spPr>
          <a:xfrm>
            <a:off x="9610344" y="5632704"/>
            <a:ext cx="310896" cy="310896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53" name="Text 41"/>
          <p:cNvSpPr/>
          <p:nvPr/>
        </p:nvSpPr>
        <p:spPr>
          <a:xfrm>
            <a:off x="9610344" y="5605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54" name="Text 42"/>
          <p:cNvSpPr/>
          <p:nvPr/>
        </p:nvSpPr>
        <p:spPr>
          <a:xfrm>
            <a:off x="9976104" y="56052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Reproduction &amp; Development</a:t>
            </a:r>
            <a:endParaRPr lang="en-US" sz="930" dirty="0"/>
          </a:p>
        </p:txBody>
      </p:sp>
      <p:sp>
        <p:nvSpPr>
          <p:cNvPr id="55" name="Text 4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56" name="Text 4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58368" cy="658368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332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🔬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1371600" y="1078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Structure Explorer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&amp; explore animal and plant cells, organelle by organelle.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HIGHLIGHTS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257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organelle for its structure &amp; function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Animal Cell and Plant Cell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Compare mode highlights key differences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log tracks every organelle explored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08776" y="136245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0" name="Image 0" descr="/home/claude/deck_build/img/01_cell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417320"/>
            <a:ext cx="5349240" cy="33432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63640" y="4897755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01 of 10 — every module includes a live visualization, adjustable variables, observation log &amp; 10-question quiz.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3640" y="2926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6263640" y="1051560"/>
            <a:ext cx="658368" cy="658368"/>
          </a:xfrm>
          <a:prstGeom prst="ellipse">
            <a:avLst/>
          </a:prstGeom>
          <a:solidFill>
            <a:srgbClr val="43A047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63640" y="10332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🌿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7086600" y="1078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Photosynthesis Laboratory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263640" y="18745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light, CO₂, water &amp; temperature to drive glucose production.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63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HIGHLIGHTS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63640" y="2926080"/>
            <a:ext cx="5257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live-adjustable variables with instant visual feedback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chloroplast with rising O₂ bubbles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rate-vs-time graph plots every change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the Law of Limiting Factors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3776" y="136245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0" name="Image 0" descr="/home/claude/deck_build/img/02_photosynthesis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349240" cy="33432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897755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02 of 10 — every module includes a live visualization, adjustable variables, observation log &amp; 10-question quiz.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58368" cy="658368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332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🍽️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1371600" y="1078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Digestive System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food from mouth to rectum and watch nutrients get absorbed.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HIGHLIGHTS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257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journey through 6 organs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food type, fibre, fat &amp; water intake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outcomes like constipation risk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Play, Step Forward/Back controls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08776" y="136245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0" name="Image 0" descr="/home/claude/deck_build/img/03_digestive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417320"/>
            <a:ext cx="5349240" cy="33432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63640" y="4897755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03 of 10 — every module includes a live visualization, adjustable variables, observation log &amp; 10-question quiz.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3640" y="2926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6263640" y="1051560"/>
            <a:ext cx="658368" cy="658368"/>
          </a:xfrm>
          <a:prstGeom prst="ellipse">
            <a:avLst/>
          </a:prstGeom>
          <a:solidFill>
            <a:srgbClr val="26C6DA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63640" y="10332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🫁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7086600" y="1078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Respiratory System Lab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263640" y="18745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Breathe, exercise, and change altitude to see gas exchange respond.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63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HIGHLIGHTS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63640" y="2926080"/>
            <a:ext cx="5257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lungs inhale &amp; exhale in real time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intensity, altitude &amp; air quality sliders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breathing-rate &amp; SpO₂ graph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gas exchange at the alveoli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3776" y="136245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0" name="Image 0" descr="/home/claude/deck_build/img/04_respiratory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349240" cy="33432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897755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04 of 10 — every module includes a live visualization, adjustable variables, observation log &amp; 10-question quiz.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58368" cy="658368"/>
          </a:xfrm>
          <a:prstGeom prst="ellipse">
            <a:avLst/>
          </a:prstGeom>
          <a:solidFill>
            <a:srgbClr val="E53935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332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❤️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1371600" y="1078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Circulatory System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heart, control vessels and watch double circulation flow.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HIGHLIGHTS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257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Beating-heart animation with flowing blood particles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“Start Exercise” dynamically raises heart rate &amp; BP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Vessel-diameter slider affects blood pressure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heart-rate graph over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08776" y="136245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0" name="Image 0" descr="/home/claude/deck_build/img/05_circulatory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417320"/>
            <a:ext cx="5349240" cy="33432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63640" y="4897755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05 of 10 — every module includes a live visualization, adjustable variables, observation log &amp; 10-question quiz.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3640" y="2926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6263640" y="1051560"/>
            <a:ext cx="658368" cy="658368"/>
          </a:xfrm>
          <a:prstGeom prst="ellipse">
            <a:avLst/>
          </a:prstGeom>
          <a:solidFill>
            <a:srgbClr val="8E24AA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63640" y="10332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7086600" y="1078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Nervous System Explorer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263640" y="18745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reflex arc and trace the nerve impulse in real time.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63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HIGHLIGHTS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63640" y="2926080"/>
            <a:ext cx="5257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 nerve impulse along an animated neuron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interactive reflex-arc walkthrough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reaction-time click test with results log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stimulus intensity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3776" y="136245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0" name="Image 0" descr="/home/claude/deck_build/img/06_nervous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349240" cy="33432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897755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06 of 10 — every module includes a live visualization, adjustable variables, observation log &amp; 10-question quiz.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58368" cy="65836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332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1371600" y="1078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Transport System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water and food move through xylem &amp; phloem under changing conditions.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HIGHLIGHTS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257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xylem (water) &amp; phloem (food) flow animation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 light &amp; water sliders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wilting when water loss exceeds uptake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transpiration-rate graph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08776" y="136245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0" name="Image 0" descr="/home/claude/deck_build/img/07_planttransport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417320"/>
            <a:ext cx="5349240" cy="33432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63640" y="4897755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07 of 10 — every module includes a live visualization, adjustable variables, observation log &amp; 10-question quiz.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3640" y="2926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6263640" y="1051560"/>
            <a:ext cx="658368" cy="658368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63640" y="10332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🧬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7086600" y="1078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Genetics &amp; Heredity Lab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263640" y="18745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parents, build Punnett squares, and predict offspring traits.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63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HIGHLIGHTS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63640" y="2926080"/>
            <a:ext cx="5257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working Punnett-square generator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trait (height / colour / seed) &amp; parent genotypes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genotype &amp; phenotype ratio predictions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log records every experiment performed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3776" y="136245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0" name="Image 0" descr="/home/claude/deck_build/img/08_genetics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349240" cy="33432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897755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08 of 10 — every module includes a live visualization, adjustable variables, observation log &amp; 10-question quiz.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58368" cy="658368"/>
          </a:xfrm>
          <a:prstGeom prst="ellipse">
            <a:avLst/>
          </a:prstGeom>
          <a:solidFill>
            <a:srgbClr val="00897B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332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1371600" y="1078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&amp; Food Chain Simulator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food web and see how climate &amp; pollution shift the balance.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HIGHLIGHTS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257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producers, herbivores, carnivores, omnivores &amp; decomposers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temperature &amp; pollution sliders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“Simulate 1 Season” evolves every population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multi-species population graph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08776" y="136245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0" name="Image 0" descr="/home/claude/deck_build/img/09_ecosystem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417320"/>
            <a:ext cx="5349240" cy="33432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63640" y="4897755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09 of 10 — every module includes a live visualization, adjustable variables, observation log &amp; 10-question quiz.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3640" y="2926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6263640" y="1051560"/>
            <a:ext cx="658368" cy="658368"/>
          </a:xfrm>
          <a:prstGeom prst="ellipse">
            <a:avLst/>
          </a:prstGeom>
          <a:solidFill>
            <a:srgbClr val="5C6BC0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63640" y="10332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👶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7086600" y="1078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Reproduction &amp; Development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263640" y="18745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fertilisation and the stages of foetal growth respectfully.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63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HIGHLIGHTS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63640" y="2926080"/>
            <a:ext cx="5257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Respectful, non-graphic, NCERT-aligned content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interactive prenatal development timeline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labelled male &amp; female reproductive diagrams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scientific explanations throughout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3776" y="136245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0" name="Image 0" descr="/home/claude/deck_build/img/10_reproduction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349240" cy="33432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897755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10 of 10 — every module includes a live visualization, adjustable variables, observation log &amp; 10-question quiz.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SIMULATIONS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Study Tools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learning ecosystem surrounds the 10 labs — reference material, review and self-testing, all working offline.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7" name="Image 0" descr="/home/claude/deck_build/img/90_handboo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2084832"/>
            <a:ext cx="2331720" cy="14573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64408" y="2121408"/>
            <a:ext cx="457200" cy="457200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6440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📘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64408" y="26700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Biology Handbook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264408" y="31089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Quick-reference notes on organelles, organ systems, plant tissues, genetics &amp; classification.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72200" y="19202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3" name="Image 1" descr="/home/claude/deck_build/img/91_anatom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36792" y="2084832"/>
            <a:ext cx="2331720" cy="14573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887968" y="2121408"/>
            <a:ext cx="457200" cy="457200"/>
          </a:xfrm>
          <a:prstGeom prst="ellipse">
            <a:avLst/>
          </a:prstGeom>
          <a:solidFill>
            <a:srgbClr val="E53935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88796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🫀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887968" y="26700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Human Anatomy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8887968" y="31089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explorer covering all 8 organ systems with organ-level detail.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42519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19" name="Image 2" descr="/home/claude/deck_build/img/92_glossar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4416552"/>
            <a:ext cx="2331720" cy="145732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264408" y="4453128"/>
            <a:ext cx="457200" cy="457200"/>
          </a:xfrm>
          <a:prstGeom prst="ellipse">
            <a:avLst/>
          </a:prstGeom>
          <a:solidFill>
            <a:srgbClr val="43A047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3264408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🔤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3264408" y="50017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Illustrated Glossary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3264408" y="5440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A–Z biology terms with pronunciation, definitions &amp; real examples.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172200" y="42519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25" name="Image 3" descr="/home/claude/deck_build/img/93_quizcentr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36792" y="4416552"/>
            <a:ext cx="2331720" cy="145732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887968" y="4453128"/>
            <a:ext cx="457200" cy="457200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8887968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887968" y="50017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Centre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887968" y="5440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hub to review scores and retake any simulation's 10-question quiz.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CREDITS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Gamification, Achievements &amp; the Developer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tracked locally and celebrated — every simulation and quiz contributes to XP, streaks, ranks and unlockable badges.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32A41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4028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24028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Beginner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32A41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5234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75234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Explorer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32A41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26440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26440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Researcher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7647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32A41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77647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77647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Biologist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Badges include First Steps, Quiz Taker, Lab Regular, Rising Explorer &amp; Master Biologist.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112943"/>
          </a:solidFill>
          <a:ln w="12700">
            <a:solidFill>
              <a:srgbClr val="2C4A6B"/>
            </a:solidFill>
            <a:prstDash val="solid"/>
          </a:ln>
        </p:spPr>
      </p:sp>
      <p:pic>
        <p:nvPicPr>
          <p:cNvPr id="20" name="Image 0" descr="/home/claude/deck_build/img/developer_squa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257800"/>
            <a:ext cx="1051560" cy="1051560"/>
          </a:xfrm>
          <a:prstGeom prst="ellipse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965960" y="52303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965960" y="5440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Mateen Yousuf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965960" y="57424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Teacher, School Education Department, Kashmir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 2020 aligned · Competency-Based Learning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17336" y="1362456"/>
            <a:ext cx="5641848" cy="3567303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8000"/>
              </a:srgbClr>
            </a:outerShdw>
          </a:effectLst>
        </p:spPr>
      </p:sp>
      <p:pic>
        <p:nvPicPr>
          <p:cNvPr id="25" name="Image 1" descr="/home/claude/deck_build/img/94_achievement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417320"/>
            <a:ext cx="5532120" cy="345757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F5F4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🧬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Biology Laboratory — Explore Life Through Interactive Virtual Simulations</a:t>
            </a:r>
            <a:endParaRPr lang="en-US" sz="1500" dirty="0"/>
          </a:p>
        </p:txBody>
      </p:sp>
      <p:pic>
        <p:nvPicPr>
          <p:cNvPr id="7" name="Image 0" descr="/home/claude/deck_build/img/developer_squa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3977640"/>
            <a:ext cx="1005840" cy="100584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Mateen Yousuf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0" y="541324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· School Education Department, Kashmir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Simulations  ·  100% Offline PWA  ·  Installable  ·  NEP 2020 Aligned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2026-08-08T00:28:10Z</dcterms:created>
  <dcterms:modified xsi:type="dcterms:W3CDTF">2026-08-08T00:28:10Z</dcterms:modified>
</cp:coreProperties>
</file>