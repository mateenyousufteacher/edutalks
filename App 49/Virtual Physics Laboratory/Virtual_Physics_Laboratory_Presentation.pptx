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976D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26C6DA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914400"/>
            <a:ext cx="914400" cy="91440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icons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152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SIMULATIONS SERIES  ·  MASTER TEMPLATE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Physics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interactive physics lab with 10 premium simulations — built for Classes 6–12, teachers, and smart classrooms.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5074920"/>
            <a:ext cx="4846320" cy="868680"/>
          </a:xfrm>
          <a:prstGeom prst="roundRect">
            <a:avLst>
              <a:gd name="adj" fmla="val 14737"/>
            </a:avLst>
          </a:prstGeom>
          <a:solidFill>
            <a:srgbClr val="1976D2">
              <a:alpha val="22000"/>
            </a:srgbClr>
          </a:solidFill>
          <a:ln w="12700">
            <a:solidFill>
              <a:srgbClr val="3E6FBF"/>
            </a:solidFill>
            <a:prstDash val="solid"/>
          </a:ln>
        </p:spPr>
      </p:sp>
      <p:pic>
        <p:nvPicPr>
          <p:cNvPr id="11" name="Image 1" descr="/home/claude/vpl/images/develop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212080"/>
            <a:ext cx="594360" cy="59436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5166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Mateen Yousuf</a:t>
            </a:r>
            <a:endParaRPr lang="en-US" sz="900" dirty="0"/>
          </a:p>
          <a:p>
            <a:pPr indent="0" marL="0">
              <a:buNone/>
            </a:pPr>
            <a:r>
              <a:rPr lang="en-US" sz="1050" dirty="0">
                <a:solidFill>
                  <a:srgbClr val="D7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School Education Department, Kashmir</a:t>
            </a:r>
            <a:endParaRPr lang="en-US" sz="900" dirty="0"/>
          </a:p>
        </p:txBody>
      </p:sp>
      <p:pic>
        <p:nvPicPr>
          <p:cNvPr id="13" name="Image 2" descr="/home/claude/shots/01_sp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4434840" cy="27706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14" name="Text 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Virtual Physics Laboratory?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 is a 100% offline Progressive Web App (PWA) that turns physics from a memorized subject into a hands-on experience. Instead of watching an animation, students move sliders, change real variables, and immediately see the cause-and-effect result — exactly the way a real laboratory works.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28803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9923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39112" y="28803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299923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39112" y="36118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75304" y="28803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99923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75304" y="36118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per Sim: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Learn·Simulate·Data·Quiz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11496" y="2880360"/>
            <a:ext cx="1417320" cy="1417320"/>
          </a:xfrm>
          <a:prstGeom prst="roundRect">
            <a:avLst>
              <a:gd name="adj" fmla="val 9032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299923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11496" y="36118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Free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school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6634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Classes 6–12, teachers, DIETs, B.Ed colleges, science exhibitions and smart classrooms — runs smoothly even on low-end Android phones.</a:t>
            </a:r>
            <a:endParaRPr lang="en-US" sz="1250" dirty="0"/>
          </a:p>
        </p:txBody>
      </p:sp>
      <p:pic>
        <p:nvPicPr>
          <p:cNvPr id="17" name="Image 0" descr="/home/claude/shots/02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51560"/>
            <a:ext cx="4846320" cy="30266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6903720" y="42245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Dashboard — progress tracker, favorites, and all 10 labs one tap away.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physics classroom needs, in one lightweight app.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56232"/>
            <a:ext cx="621792" cy="621792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618" y="201789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 PWA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an app and works with zero internet connection, forever.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856232"/>
            <a:ext cx="621792" cy="621792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ppt_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378" y="201789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Real Simulations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physics engines you experiment with — not pre-baked animations.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2440" y="160020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856232"/>
            <a:ext cx="621792" cy="621792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ppt_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138" y="201789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Graphs &amp; Data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2926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Auto-updating velocity/energy/force graphs plus exportable observation tables.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0690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" y="4325112"/>
            <a:ext cx="621792" cy="621792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ppt_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8" y="448677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Badges &amp; Quizzes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394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 ends in a 5-question quiz with instant feedback and XP rewards.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325112"/>
            <a:ext cx="621792" cy="621792"/>
          </a:xfrm>
          <a:prstGeom prst="ellipse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ppt_icons/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378" y="4486778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&amp; Formulas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394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28-term glossary, chapter-wise formula handbook, and an SI unit converter.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92440" y="406908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48472" y="4325112"/>
            <a:ext cx="621792" cy="621792"/>
          </a:xfrm>
          <a:prstGeom prst="ellipse">
            <a:avLst/>
          </a:prstGeom>
          <a:solidFill>
            <a:srgbClr val="5B647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ppt_icons/acce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138" y="4486778"/>
            <a:ext cx="298460" cy="298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by Design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394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reduced motion, high contrast, large touch targets, keyboard support.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master template for the entire Virtual Simulations series.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3504" y="1819656"/>
            <a:ext cx="566928" cy="566928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_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05" y="1967057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Classes 6–12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20848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exploration at home or in the classroom.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18504" y="1819656"/>
            <a:ext cx="566928" cy="566928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ppt_icons/tea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905" y="196705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40880" y="20848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smart-board demonstrations with Teacher Mode.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" y="3282696"/>
            <a:ext cx="566928" cy="566928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ppt_icons/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" y="343009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DIETs &amp; B.Ed Colleges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25880" y="354787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pedagogy tool for training programmes.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318504" y="3282696"/>
            <a:ext cx="566928" cy="566928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home/claude/ppt_icons/mapmark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905" y="343009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Exhibitions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040880" y="354787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— perfect for venues with no Wi-Fi.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3504" y="4745736"/>
            <a:ext cx="566928" cy="566928"/>
          </a:xfrm>
          <a:prstGeom prst="ellipse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/home/claude/ppt_icons/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05" y="4893137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25880" y="501091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low-end Android phones, tablets &amp; desktops.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318504" y="4745736"/>
            <a:ext cx="566928" cy="566928"/>
          </a:xfrm>
          <a:prstGeom prst="ellipse">
            <a:avLst/>
          </a:prstGeom>
          <a:solidFill>
            <a:srgbClr val="5B647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/home/claude/ppt_icons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905" y="4893137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Self-Learners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040880" y="501091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XP, badges and quizzes keep learners motivated.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02920" y="6172200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0D47A1"/>
          </a:solidFill>
          <a:ln/>
        </p:spPr>
      </p:sp>
      <p:sp>
        <p:nvSpPr>
          <p:cNvPr id="29" name="Text 21"/>
          <p:cNvSpPr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template for the full Virtual Simulations series — Science &amp; Social Science subjects to follow.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splash screen to your first experiment in four steps.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453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9280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Virtual Physics Laboratory — no login, no account, no internet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502920" cy="50292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596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“Enter the Lab”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4436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animated splash screen introduces the app and its creator, Dr. Mateen Yousuf.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6484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9592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by favorites, or scroll all 10 simulations with live progress bars.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502920" cy="50292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7000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&amp; Experiment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04748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simulation, move the sliders, and watch real physics unfold instantly.</a:t>
            </a:r>
            <a:endParaRPr lang="en-US" sz="1150" dirty="0"/>
          </a:p>
        </p:txBody>
      </p:sp>
      <p:pic>
        <p:nvPicPr>
          <p:cNvPr id="20" name="Image 0" descr="/home/claude/shots/01_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234440"/>
            <a:ext cx="2880360" cy="180136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pic>
        <p:nvPicPr>
          <p:cNvPr id="21" name="Image 1" descr="/home/claude/shots/02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234440"/>
            <a:ext cx="2880360" cy="180136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22" name="Text 18"/>
          <p:cNvSpPr/>
          <p:nvPr/>
        </p:nvSpPr>
        <p:spPr>
          <a:xfrm>
            <a:off x="6080760" y="3108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&amp; Credit Screen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098280" y="3108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000" dirty="0"/>
          </a:p>
        </p:txBody>
      </p:sp>
      <p:pic>
        <p:nvPicPr>
          <p:cNvPr id="24" name="Image 2" descr="/home/claude/shots/04_motion_simu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657600"/>
            <a:ext cx="5897880" cy="276148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25" name="Text 20"/>
          <p:cNvSpPr/>
          <p:nvPr/>
        </p:nvSpPr>
        <p:spPr>
          <a:xfrm>
            <a:off x="6080760" y="644652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Simulation — sliders on the right, live canvas on the left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Simulation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10 labs follows the exact same 4-tab structure.</a:t>
            </a:r>
            <a:endParaRPr lang="en-US" sz="1350" dirty="0"/>
          </a:p>
        </p:txBody>
      </p:sp>
      <p:pic>
        <p:nvPicPr>
          <p:cNvPr id="4" name="Image 0" descr="/home/claude/shots/06_motion_le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6126480" cy="38313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858000" y="1508760"/>
            <a:ext cx="82296" cy="914400"/>
          </a:xfrm>
          <a:prstGeom prst="roundRect">
            <a:avLst>
              <a:gd name="adj" fmla="val 22222"/>
            </a:avLst>
          </a:prstGeom>
          <a:solidFill>
            <a:srgbClr val="26C6DA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Learn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176479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learning objectives, theory with formulas, real-life applications, common mistakes, and an interesting fact.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2542032"/>
            <a:ext cx="82296" cy="914400"/>
          </a:xfrm>
          <a:prstGeom prst="roundRect">
            <a:avLst>
              <a:gd name="adj" fmla="val 22222"/>
            </a:avLst>
          </a:prstGeom>
          <a:solidFill>
            <a:srgbClr val="1976D2"/>
          </a:solidFill>
          <a:ln/>
        </p:spPr>
      </p:sp>
      <p:sp>
        <p:nvSpPr>
          <p:cNvPr id="9" name="Text 6"/>
          <p:cNvSpPr/>
          <p:nvPr/>
        </p:nvSpPr>
        <p:spPr>
          <a:xfrm>
            <a:off x="7086600" y="24963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Simulate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0" y="27980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canvas — drag sliders to change variables, then Play / Pause / Reset / Step / Randomize. Student, Teacher &amp; Challenge modes included.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3575304"/>
            <a:ext cx="82296" cy="914400"/>
          </a:xfrm>
          <a:prstGeom prst="roundRect">
            <a:avLst>
              <a:gd name="adj" fmla="val 22222"/>
            </a:avLst>
          </a:prstGeom>
          <a:solidFill>
            <a:srgbClr val="43A047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35295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383133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Auto-updating graphs (velocity-time, energy-time, etc.) plus an observation table you can export as CSV.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4608576"/>
            <a:ext cx="82296" cy="914400"/>
          </a:xfrm>
          <a:prstGeom prst="roundRect">
            <a:avLst>
              <a:gd name="adj" fmla="val 22222"/>
            </a:avLst>
          </a:prstGeom>
          <a:solidFill>
            <a:srgbClr val="FFB300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45628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Quiz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486460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adaptive questions per simulation with instant right/wrong feedback, explanations, a final score, and XP rewards.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Simulator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1100" dirty="0"/>
          </a:p>
        </p:txBody>
      </p:sp>
      <p:pic>
        <p:nvPicPr>
          <p:cNvPr id="7" name="Image 0" descr="/home/claude/shots/04_motion_simu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6126480" cy="32552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086600" y="2020824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9" name="Text 6"/>
          <p:cNvSpPr/>
          <p:nvPr/>
        </p:nvSpPr>
        <p:spPr>
          <a:xfrm>
            <a:off x="734263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Explore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4263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initial velocity (u) and acceleration (a); watch the ball move along a real track with a motion trail.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86600" y="2734056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2" name="Text 9"/>
          <p:cNvSpPr/>
          <p:nvPr/>
        </p:nvSpPr>
        <p:spPr>
          <a:xfrm>
            <a:off x="734263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Vectors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4263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arrow shows velocity, amber arrow shows acceleration — both scale live as sliders move.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86600" y="3447288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5" name="Text 12"/>
          <p:cNvSpPr/>
          <p:nvPr/>
        </p:nvSpPr>
        <p:spPr>
          <a:xfrm>
            <a:off x="734263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4263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 keeps it simple; Teacher mode reveals extra force readouts; Challenge mode sets a target displacement to hit.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8660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725119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u + at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ut + ½at²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v² = u² + 2as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Newton's Laws Laboratory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100" dirty="0"/>
          </a:p>
        </p:txBody>
      </p:sp>
      <p:pic>
        <p:nvPicPr>
          <p:cNvPr id="7" name="Image 0" descr="/home/claude/shots/08_newton_sec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920240"/>
            <a:ext cx="6126480" cy="329184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Laws, One Crate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First, Second and Third Law scenes on the same interactive crate.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Free-Body Diagram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applied force, friction, weight and normal force as live labelled arrows.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47288"/>
            <a:ext cx="128016" cy="12801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Law Demo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895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“Third Law” to watch two blocks show equal-and-opposite action/reaction pairs.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F_net = F_applied − F_friction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F_net / m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Laboratory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100" dirty="0"/>
          </a:p>
        </p:txBody>
      </p:sp>
      <p:pic>
        <p:nvPicPr>
          <p:cNvPr id="7" name="Image 0" descr="/home/claude/shots/09_friction_inc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6126480" cy="336499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086600" y="2020824"/>
            <a:ext cx="128016" cy="12801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9" name="Text 6"/>
          <p:cNvSpPr/>
          <p:nvPr/>
        </p:nvSpPr>
        <p:spPr>
          <a:xfrm>
            <a:off x="734263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Real Surfaces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4263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Ice, Sand, Concrete and Rubber — each with authentic static &amp; kinetic coefficients.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86600" y="2734056"/>
            <a:ext cx="128016" cy="12801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9"/>
          <p:cNvSpPr/>
          <p:nvPr/>
        </p:nvSpPr>
        <p:spPr>
          <a:xfrm>
            <a:off x="734263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or Inclined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4263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an inclined plane to see when an object stays still vs. slides under gravity.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86600" y="3447288"/>
            <a:ext cx="128016" cy="12801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5" name="Text 12"/>
          <p:cNvSpPr/>
          <p:nvPr/>
        </p:nvSpPr>
        <p:spPr>
          <a:xfrm>
            <a:off x="734263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from Friction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4263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Heat Generated readout shows energy lost to friction as the object moves.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8660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725119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μN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mg  (flat)   or   mg cosθ  (incline)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&amp; Free Fall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100" dirty="0"/>
          </a:p>
        </p:txBody>
      </p:sp>
      <p:pic>
        <p:nvPicPr>
          <p:cNvPr id="7" name="Image 0" descr="/home/claude/shots/10_gr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920240"/>
            <a:ext cx="6126480" cy="336499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Worlds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 object on Mercury, Venus, Earth, Moon, Mars or Jupiter and compare fall times.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vs. Air Resistance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air resistance on to see terminal velocity; vacuum mode shows pure free fall.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47288"/>
            <a:ext cx="128016" cy="12801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 Comparison Table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895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 tab tabulates g and fall-time-for-100m across all six worlds.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½gt²   →   t = √(2h/g)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gt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Work, Power &amp; Energy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</p:txBody>
      </p:sp>
      <p:pic>
        <p:nvPicPr>
          <p:cNvPr id="7" name="Image 0" descr="/home/claude/shots/11_energy_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6126480" cy="303580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086600" y="2020824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734263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or Drop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4263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 crate to study work, power &amp; efficiency, or drop it to watch energy conversion live.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86600" y="2734056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2" name="Text 9"/>
          <p:cNvSpPr/>
          <p:nvPr/>
        </p:nvSpPr>
        <p:spPr>
          <a:xfrm>
            <a:off x="734263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Energy Bars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4263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animated bars show Potential and Kinetic Energy trading places in real time.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86600" y="3447288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2"/>
          <p:cNvSpPr/>
          <p:nvPr/>
        </p:nvSpPr>
        <p:spPr>
          <a:xfrm>
            <a:off x="734263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Conservation Proof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4263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readout confirms PE + KE stays constant throughout the fall.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8660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725119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F·d      P = W/t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 = ½mv²      PE = mgh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&amp; Buoyancy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</a:t>
            </a:r>
            <a:endParaRPr lang="en-US" sz="1100" dirty="0"/>
          </a:p>
        </p:txBody>
      </p:sp>
      <p:pic>
        <p:nvPicPr>
          <p:cNvPr id="7" name="Image 0" descr="/home/claude/shots/13_pressure_flo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920240"/>
            <a:ext cx="6126480" cy="3474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Fluids × 7 Materials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Wood, Ice, Cork, Aluminum, Iron, Styrofoam or Gold into Water, Oil, Mercury or Air.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Floats or Sinks?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drop shows the object settling — fully submerged, partly floating, or sinking.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47288"/>
            <a:ext cx="128016" cy="128016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Submerged Fraction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895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% of a floating object sits below the surface, calculated live.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F_b = ρ_fluid × V × 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Submerged % = ρ_object / ρ_fluid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Transfer Laboratory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</a:t>
            </a:r>
            <a:endParaRPr lang="en-US" sz="1100" dirty="0"/>
          </a:p>
        </p:txBody>
      </p:sp>
      <p:pic>
        <p:nvPicPr>
          <p:cNvPr id="7" name="Image 0" descr="/home/claude/shots/14_heat_rad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6126480" cy="29992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086600" y="2020824"/>
            <a:ext cx="128016" cy="12801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9" name="Text 6"/>
          <p:cNvSpPr/>
          <p:nvPr/>
        </p:nvSpPr>
        <p:spPr>
          <a:xfrm>
            <a:off x="734263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Modes in One Lab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4263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Conduction, Convection and Radiation — each with its own animation.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86600" y="2734056"/>
            <a:ext cx="128016" cy="12801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9"/>
          <p:cNvSpPr/>
          <p:nvPr/>
        </p:nvSpPr>
        <p:spPr>
          <a:xfrm>
            <a:off x="734263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Real Materials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4263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thermal conductivity: Copper, Aluminum, Iron, Glass, Wood and Water.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86600" y="3447288"/>
            <a:ext cx="128016" cy="128016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5" name="Text 12"/>
          <p:cNvSpPr/>
          <p:nvPr/>
        </p:nvSpPr>
        <p:spPr>
          <a:xfrm>
            <a:off x="734263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Radiative Glow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4263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Radiation mode, the object visibly glows hotter as temperature and emissivity rise.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8660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725119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Q/t = kAΔT/d        P = eσAT⁴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Refraction Studio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100" dirty="0"/>
          </a:p>
        </p:txBody>
      </p:sp>
      <p:pic>
        <p:nvPicPr>
          <p:cNvPr id="7" name="Image 0" descr="/home/claude/shots/16_optics_l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920240"/>
            <a:ext cx="6126480" cy="305409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Optical Elements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Plane, Concave &amp; Convex Mirrors, plus Convex &amp; Concave Lenses — all in one studio.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Image Diagram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object and watch the image position, size and orientation update live.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47288"/>
            <a:ext cx="128016" cy="12801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vs. Virtual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895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Readouts clearly label each image as Real/Virtual and Upright/Inverted.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Mirror: 1/v + 1/u = 1/f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Lens: 1/v − 1/u = 1/f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Circuit Builder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pic>
        <p:nvPicPr>
          <p:cNvPr id="7" name="Image 0" descr="/home/claude/shots/17_circuit_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6400800" cy="373075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360920" y="2020824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7616952" y="1892808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or Parallel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16952" y="2167128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either configuration with 3 adjustable resistors and a variable battery.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60920" y="2734056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2" name="Text 9"/>
          <p:cNvSpPr/>
          <p:nvPr/>
        </p:nvSpPr>
        <p:spPr>
          <a:xfrm>
            <a:off x="7616952" y="2606040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Current Flow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616952" y="2880360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dashes travel the wire loop at a speed proportional to actual current.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60920" y="3447288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16952" y="3319272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&amp; Short Circuit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616952" y="3593592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switch to break the circuit, or trigger a short circuit to see current spike.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60920" y="4151376"/>
            <a:ext cx="432511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7525512" y="4151376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Series: R = R1+R2+R3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Parallel: 1/R = 1/R1+1/R2+1/R3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IR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Magnetism &amp; Electromagnetism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pic>
        <p:nvPicPr>
          <p:cNvPr id="7" name="Image 0" descr="/home/claude/shots/18_magnetism_barmagn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920240"/>
            <a:ext cx="6126480" cy="30266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189280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Electromagnet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" y="2167128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current, coil turns, and Air vs. Iron core; watch a compass needle respond live.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26060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Magnet Interactions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" y="288036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like or unlike poles together and see attraction or repulsion animate in real time.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47288"/>
            <a:ext cx="128016" cy="128016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" y="33192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Line Visualization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8952" y="3593592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Field-line density on screen grows visibly stronger as current or turns increase.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212121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4151376"/>
            <a:ext cx="4270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μ₀μᵣnI / 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poles repel · Unlike poles attract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Learning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 that works fully offline, always one tap away.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8000"/>
              </a:srgbClr>
            </a:outerShdw>
          </a:effectLst>
        </p:spPr>
      </p:sp>
      <p:pic>
        <p:nvPicPr>
          <p:cNvPr id="5" name="Image 0" descr="/home/claude/shots/21_gloss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3282696" cy="2331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ppt_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3708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42702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67512" y="484632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searchable physics terms, from Acceleration to Electromagnetic Induction.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8000"/>
              </a:srgbClr>
            </a:outerShdw>
          </a:effectLst>
        </p:spPr>
      </p:sp>
      <p:pic>
        <p:nvPicPr>
          <p:cNvPr id="11" name="Image 2" descr="/home/claude/shots/22_formul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64792"/>
            <a:ext cx="3282696" cy="2331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12" name="Shape 7"/>
          <p:cNvSpPr/>
          <p:nvPr/>
        </p:nvSpPr>
        <p:spPr>
          <a:xfrm>
            <a:off x="4572000" y="4251960"/>
            <a:ext cx="457200" cy="457200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/home/claude/ppt_icons/ru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437083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66360" y="42702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Handbook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462272" y="484632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from all 10 chapters, organized with variables &amp; SI units.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092440" y="16002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5F7FA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25400" dir="5400000">
              <a:srgbClr val="0D2A5C">
                <a:alpha val="8000"/>
              </a:srgbClr>
            </a:outerShdw>
          </a:effectLst>
        </p:spPr>
      </p:sp>
      <p:pic>
        <p:nvPicPr>
          <p:cNvPr id="17" name="Image 4" descr="/home/claude/shots/23_uni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1764792"/>
            <a:ext cx="3282696" cy="2331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18" name="Shape 11"/>
          <p:cNvSpPr/>
          <p:nvPr/>
        </p:nvSpPr>
        <p:spPr>
          <a:xfrm>
            <a:off x="8366760" y="4251960"/>
            <a:ext cx="457200" cy="457200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5" descr="/home/claude/ppt_icons/co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3708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961120" y="42702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Unit Converter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257032" y="4846320"/>
            <a:ext cx="32826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converts Length, Mass, Force, Pressure, Energy, Temperature &amp; more.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Quizzes, XP &amp; Achievements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built in — every experiment feeds a bigger game.</a:t>
            </a:r>
            <a:endParaRPr lang="en-US" sz="1350" dirty="0"/>
          </a:p>
        </p:txBody>
      </p:sp>
      <p:pic>
        <p:nvPicPr>
          <p:cNvPr id="4" name="Image 0" descr="/home/claude/shots/20_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577840" cy="235000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pic>
        <p:nvPicPr>
          <p:cNvPr id="5" name="Image 1" descr="/home/claude/shots/25_achieve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60520"/>
            <a:ext cx="5577840" cy="22860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629400" y="1691640"/>
            <a:ext cx="640080" cy="64008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2" descr="/home/claude/ppt_icons/gamep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1" y="1858061"/>
            <a:ext cx="307238" cy="3072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5236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Feedback Quizzes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52360" y="1993392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ends with 5 adaptive questions — correct answers glow green, wrong ones show the right choice plus a short explanation.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629400" y="3227832"/>
            <a:ext cx="640080" cy="640080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3" descr="/home/claude/ppt_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3394253"/>
            <a:ext cx="307238" cy="3072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52360" y="31821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&amp; Levels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452360" y="352958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70%+ on a quiz for a big XP bonus; every action nudges you toward the next “Level N Physicist” rank.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629400" y="4764024"/>
            <a:ext cx="640080" cy="640080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4" descr="/home/claude/ppt_icons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4930445"/>
            <a:ext cx="307238" cy="3072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52360" y="47183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Unlockable Badges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7452360" y="506577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“First Experiment” to “Grand Scholar (500 XP)” — badges track real engagement, not just clicks.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Settings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for every learner, on every device.</a:t>
            </a:r>
            <a:endParaRPr lang="en-US" sz="1350" dirty="0"/>
          </a:p>
        </p:txBody>
      </p:sp>
      <p:pic>
        <p:nvPicPr>
          <p:cNvPr id="4" name="Image 0" descr="/home/claude/shots/26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554480"/>
            <a:ext cx="5212080" cy="455371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85216" y="1655064"/>
            <a:ext cx="566928" cy="566928"/>
          </a:xfrm>
          <a:prstGeom prst="ellipse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ppt_icons/m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1802465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&amp; Light Mode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25880" y="195681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theme switch, easy on the eyes for evening study or bright classrooms.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5216" y="2523744"/>
            <a:ext cx="566928" cy="566928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/home/claude/ppt_icons/volu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2671145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Sound Toggle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325880" y="28254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UI sounds for feedback — switch off anytime for silent classrooms.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85216" y="3392424"/>
            <a:ext cx="566928" cy="566928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/home/claude/ppt_icons/acc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3539825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Motion Mode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325880" y="36941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animation for comfort and vestibular accessibility.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85216" y="4261104"/>
            <a:ext cx="566928" cy="566928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4" descr="/home/claude/ppt_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17" y="440850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251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 Mode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325880" y="45628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contrast for low-vision learners without changing layout.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85216" y="5129784"/>
            <a:ext cx="566928" cy="566928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5" descr="/home/claude/ppt_icons/downlo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17" y="5277185"/>
            <a:ext cx="272125" cy="2721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5120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&amp; Screen-Reader Support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1325880" y="54315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is reachable and labeled for assistive technology.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Offline-First, From the Ground 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servers. No accounts. No data plan required — ever.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976D2">
              <a:alpha val="20000"/>
            </a:srgbClr>
          </a:solidFill>
          <a:ln w="12700">
            <a:solidFill>
              <a:srgbClr val="3E6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71700"/>
            <a:ext cx="685800" cy="685800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_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4747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on Android, iOS or Desktop — opens like a native 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976D2">
              <a:alpha val="20000"/>
            </a:srgbClr>
          </a:solidFill>
          <a:ln w="12700">
            <a:solidFill>
              <a:srgbClr val="3E6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171700"/>
            <a:ext cx="685800" cy="685800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ppt_icons/s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Cache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34747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page, script, and image is cached on first load for full offline use.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19202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976D2">
              <a:alpha val="20000"/>
            </a:srgbClr>
          </a:solidFill>
          <a:ln w="12700">
            <a:solidFill>
              <a:srgbClr val="3E6F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69480" y="2171700"/>
            <a:ext cx="685800" cy="685800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ppt_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2350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Low-End Device Ready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34747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HTML5, CSS3 &amp; vanilla JavaScript — no frameworks, minimal memory footprint.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192024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976D2">
              <a:alpha val="20000"/>
            </a:srgbClr>
          </a:solidFill>
          <a:ln w="12700">
            <a:solidFill>
              <a:srgbClr val="3E6FB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49840" y="2171700"/>
            <a:ext cx="685800" cy="685800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ppt_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148" y="2350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Progress Storage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26880" y="34747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favorites, quiz scores and notes are all saved locally in the browser.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02920" y="50749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Technology: HTML5  ·  CSS3  ·  Vanilla JavaScript  ·  Web Storage API  ·  Canvas API  ·  Service Workers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Foundations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maps back to how students actually learn science.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85216" y="1655064"/>
            <a:ext cx="566928" cy="566928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_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1802465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 2020 Alignment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71600" y="195681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experiential, competency-based learning over rote memorization.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" y="2496312"/>
            <a:ext cx="566928" cy="566928"/>
          </a:xfrm>
          <a:prstGeom prst="ellipse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ppt_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64371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4871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Competency-Based Learning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71600" y="279806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 targets a measurable outcome: prediction, observation, reasoning.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85216" y="3337560"/>
            <a:ext cx="566928" cy="566928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ppt_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4849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2841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Inquiry-Based Learning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71600" y="363931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form a hypothesis, test it by changing variables, and draw conclusions from real data.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5216" y="4178808"/>
            <a:ext cx="566928" cy="566928"/>
          </a:xfrm>
          <a:prstGeom prst="ellipse">
            <a:avLst/>
          </a:prstGeom>
          <a:solidFill>
            <a:srgbClr val="FFB3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home/claude/ppt_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4326209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1696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Constructivist Pedagogy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71600" y="4480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built actively through exploration, not delivered passively.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85216" y="5020056"/>
            <a:ext cx="566928" cy="566928"/>
          </a:xfrm>
          <a:prstGeom prst="ellipse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/home/claude/ppt_icons/light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17" y="5167457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50109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Temper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71600" y="53218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Cultivates curiosity and evidence-based reasoning as a lifelong habit.</a:t>
            </a:r>
            <a:endParaRPr lang="en-US" sz="1100" dirty="0"/>
          </a:p>
        </p:txBody>
      </p:sp>
      <p:pic>
        <p:nvPicPr>
          <p:cNvPr id="24" name="Image 5" descr="/home/claude/shots/27_abou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600200"/>
            <a:ext cx="3977640" cy="397764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D2A5C">
                <a:alpha val="28000"/>
              </a:srgbClr>
            </a:outerShdw>
          </a:effectLst>
        </p:spPr>
      </p:pic>
      <p:sp>
        <p:nvSpPr>
          <p:cNvPr id="25" name="Text 1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976D2">
              <a:alpha val="28000"/>
            </a:srgbClr>
          </a:solidFill>
          <a:ln/>
        </p:spPr>
      </p:sp>
      <p:pic>
        <p:nvPicPr>
          <p:cNvPr id="3" name="Image 0" descr="/home/claude/vpl/images/develop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2331720" cy="2331720"/>
          </a:xfrm>
          <a:prstGeom prst="ellipse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33375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337560" y="1874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Mateen Yousuf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33756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School Education Department, Kashmir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337560" y="2971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the Virtual Physics Laboratory — a free, offline-first simulation platform built to bring inquiry-based, experiential science learning to every classroom, regardless of internet access.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37560" y="416052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1976D2">
              <a:alpha val="22000"/>
            </a:srgbClr>
          </a:solidFill>
          <a:ln w="12700">
            <a:solidFill>
              <a:srgbClr val="3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4315968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“Physics is best understood by doing, not memorizing. This app was built so that any student, in any school, on any low-end device, can explore genuine cause-and-effect physics experiments — offline, for free, forever.”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6C6D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1325880"/>
            <a:ext cx="1005840" cy="100584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pt_icons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58739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Explore. Experiment. Understand.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simulations. Zero internet required. Infinite curiosity.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6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8" name="Text 5"/>
          <p:cNvSpPr/>
          <p:nvPr/>
        </p:nvSpPr>
        <p:spPr>
          <a:xfrm>
            <a:off x="426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69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10" name="Text 7"/>
          <p:cNvSpPr/>
          <p:nvPr/>
        </p:nvSpPr>
        <p:spPr>
          <a:xfrm>
            <a:off x="1569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Laws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12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12" name="Text 9"/>
          <p:cNvSpPr/>
          <p:nvPr/>
        </p:nvSpPr>
        <p:spPr>
          <a:xfrm>
            <a:off x="2712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55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14" name="Text 11"/>
          <p:cNvSpPr/>
          <p:nvPr/>
        </p:nvSpPr>
        <p:spPr>
          <a:xfrm>
            <a:off x="3855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98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16" name="Text 13"/>
          <p:cNvSpPr/>
          <p:nvPr/>
        </p:nvSpPr>
        <p:spPr>
          <a:xfrm>
            <a:off x="4998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41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18" name="Text 15"/>
          <p:cNvSpPr/>
          <p:nvPr/>
        </p:nvSpPr>
        <p:spPr>
          <a:xfrm>
            <a:off x="6141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84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20" name="Text 17"/>
          <p:cNvSpPr/>
          <p:nvPr/>
        </p:nvSpPr>
        <p:spPr>
          <a:xfrm>
            <a:off x="7284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27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22" name="Text 19"/>
          <p:cNvSpPr/>
          <p:nvPr/>
        </p:nvSpPr>
        <p:spPr>
          <a:xfrm>
            <a:off x="8427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70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24" name="Text 21"/>
          <p:cNvSpPr/>
          <p:nvPr/>
        </p:nvSpPr>
        <p:spPr>
          <a:xfrm>
            <a:off x="9570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713568" y="4389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/>
        </p:spPr>
      </p:sp>
      <p:sp>
        <p:nvSpPr>
          <p:cNvPr id="26" name="Text 23"/>
          <p:cNvSpPr/>
          <p:nvPr/>
        </p:nvSpPr>
        <p:spPr>
          <a:xfrm>
            <a:off x="10713568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Magnetism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  ·  Created by Dr. Mateen Yousuf  ·  School Education Department, Kashmir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Physics Laboratory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2026-08-08T00:27:12Z</dcterms:created>
  <dcterms:modified xsi:type="dcterms:W3CDTF">2026-08-08T00:27:12Z</dcterms:modified>
</cp:coreProperties>
</file>